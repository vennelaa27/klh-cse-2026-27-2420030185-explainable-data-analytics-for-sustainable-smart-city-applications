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5" r:id="rId5"/>
    <p:sldId id="266" r:id="rId6"/>
    <p:sldId id="267" r:id="rId7"/>
    <p:sldId id="260" r:id="rId8"/>
    <p:sldId id="261" r:id="rId9"/>
    <p:sldId id="262" r:id="rId10"/>
    <p:sldId id="263"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E4B5-CD8B-EF3F-87B9-9E07794307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D4BE53-8202-7D6E-5DFD-BEF8B6DF20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8DAC7D-F18F-C250-9626-82EC2D05FABC}"/>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5" name="Footer Placeholder 4">
            <a:extLst>
              <a:ext uri="{FF2B5EF4-FFF2-40B4-BE49-F238E27FC236}">
                <a16:creationId xmlns:a16="http://schemas.microsoft.com/office/drawing/2014/main" id="{95013065-B807-2C6A-6D9D-D42509E65F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75743-8A4A-000A-033F-2EC5ECF0E1F5}"/>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665395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6027-6B63-E383-E455-A023C80980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8B0FE8-2F88-FCA1-7741-E8CA810643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C7127-9F08-F216-55D4-BF3456592925}"/>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5" name="Footer Placeholder 4">
            <a:extLst>
              <a:ext uri="{FF2B5EF4-FFF2-40B4-BE49-F238E27FC236}">
                <a16:creationId xmlns:a16="http://schemas.microsoft.com/office/drawing/2014/main" id="{9EFB53B2-A1E5-8FD9-60B2-1B6828F5C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FCF5F-074A-5387-494C-0656B49883B3}"/>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423331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49608-73FD-B1D4-6D56-F13923BA2D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1A5D2E-FAD0-3763-ED0C-1C39BC114F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CA631E-0F8C-0A07-0EAF-9AA50FE62D1D}"/>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5" name="Footer Placeholder 4">
            <a:extLst>
              <a:ext uri="{FF2B5EF4-FFF2-40B4-BE49-F238E27FC236}">
                <a16:creationId xmlns:a16="http://schemas.microsoft.com/office/drawing/2014/main" id="{5DD77AF7-E5E2-74A9-AC3C-06E02D93F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387EE-2919-4990-5C72-2FFF3773941B}"/>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829381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AC41-C87E-3EDD-A12B-0E331DD5A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439600-21F9-7B04-1FC0-F2C419B71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498C5-C7F2-1D14-1614-483686532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F56110-9D89-0064-4F6C-CFB3070FCA0E}"/>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6" name="Footer Placeholder 5">
            <a:extLst>
              <a:ext uri="{FF2B5EF4-FFF2-40B4-BE49-F238E27FC236}">
                <a16:creationId xmlns:a16="http://schemas.microsoft.com/office/drawing/2014/main" id="{E7E1EEF0-6514-80EA-BCEE-2A5ABEAF84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4165AA-5373-C96D-4753-6149A74400E9}"/>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520777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C936-5A5C-E3AE-A6DC-10F2749811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C258AE-7590-BFED-E439-1D37823E73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1E5CE-22AA-171E-329C-30B16CCCE2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E9B4DE-0A21-8FF2-8F3F-3DD1B54FA6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89983-36A0-8874-E6C5-A7CEA783EB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D1AFBB-641A-4DD3-1C62-160DB0A14C78}"/>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8" name="Footer Placeholder 7">
            <a:extLst>
              <a:ext uri="{FF2B5EF4-FFF2-40B4-BE49-F238E27FC236}">
                <a16:creationId xmlns:a16="http://schemas.microsoft.com/office/drawing/2014/main" id="{E73B952C-FBBF-AC7A-3B14-CE42C7BFD3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B7282A-1D4A-BB88-2D83-0CA63B26054E}"/>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051311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2DD9-8EA4-C414-174B-CBF098177D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9D466-85AE-33F6-582C-D63DF8B3BA4C}"/>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4" name="Footer Placeholder 3">
            <a:extLst>
              <a:ext uri="{FF2B5EF4-FFF2-40B4-BE49-F238E27FC236}">
                <a16:creationId xmlns:a16="http://schemas.microsoft.com/office/drawing/2014/main" id="{4C4766C5-B76B-D2F1-7C8E-F47E8889E1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30D75E-10FA-E00E-E832-0DF933174CCA}"/>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46416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67B0B0-E282-D553-8A96-402609ECE0BC}"/>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3" name="Footer Placeholder 2">
            <a:extLst>
              <a:ext uri="{FF2B5EF4-FFF2-40B4-BE49-F238E27FC236}">
                <a16:creationId xmlns:a16="http://schemas.microsoft.com/office/drawing/2014/main" id="{F829AC39-E480-1137-D2DD-2842FB8D55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FA3AF5-2E60-8CC2-71B7-6B801BDE7223}"/>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2796206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5286-8205-0B0B-5907-535B43D42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E2B927-7EC2-A5E5-F46F-3CDD166838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8B1545-A905-7E68-704F-C953C0DC6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1A4F6-902E-ED30-9AC6-17D0FCCF13A4}"/>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6" name="Footer Placeholder 5">
            <a:extLst>
              <a:ext uri="{FF2B5EF4-FFF2-40B4-BE49-F238E27FC236}">
                <a16:creationId xmlns:a16="http://schemas.microsoft.com/office/drawing/2014/main" id="{E8822E3A-D9BB-C359-6201-A38AE0668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06F2F3-630A-1EA0-081B-507D2B067D79}"/>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362780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89A1A-846D-6AD4-729A-834FBD9B6A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A251AA-8D83-628A-B898-8EB5C59BCA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89CB93-3294-9BAA-2925-E92C4C86F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BAB76C-934B-DA75-58F8-93AFF92D55BB}"/>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6" name="Footer Placeholder 5">
            <a:extLst>
              <a:ext uri="{FF2B5EF4-FFF2-40B4-BE49-F238E27FC236}">
                <a16:creationId xmlns:a16="http://schemas.microsoft.com/office/drawing/2014/main" id="{E4B80B7B-AD4D-2C35-BC45-F793D14945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D23872-CE60-D6A2-A9BC-47C5CA339C1D}"/>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1819391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57BE-E13B-4092-2B1D-A0DAACBE63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69C8D7-1ED3-363E-16FF-13ADCEB4F8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B9114-F9A9-7AED-64C6-443B35522956}"/>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5" name="Footer Placeholder 4">
            <a:extLst>
              <a:ext uri="{FF2B5EF4-FFF2-40B4-BE49-F238E27FC236}">
                <a16:creationId xmlns:a16="http://schemas.microsoft.com/office/drawing/2014/main" id="{EC25B07D-B5A8-B9B1-A716-C5FA524F8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A67E0-744F-5868-FCF8-F364F26D0AAA}"/>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32249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DF8A8C-C7DA-B1C6-DF2E-E81624D5E7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81F219-57F3-1CA0-EBAB-8722B5D5F6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8F10B-1EFD-A187-2C5C-3B16DF62F1ED}"/>
              </a:ext>
            </a:extLst>
          </p:cNvPr>
          <p:cNvSpPr>
            <a:spLocks noGrp="1"/>
          </p:cNvSpPr>
          <p:nvPr>
            <p:ph type="dt" sz="half" idx="10"/>
          </p:nvPr>
        </p:nvSpPr>
        <p:spPr/>
        <p:txBody>
          <a:bodyPr/>
          <a:lstStyle/>
          <a:p>
            <a:fld id="{F4CEB875-5D6A-4EBD-866C-E395B6DAA0C1}" type="datetimeFigureOut">
              <a:rPr lang="en-US" smtClean="0"/>
              <a:t>9/9/2026</a:t>
            </a:fld>
            <a:endParaRPr lang="en-US"/>
          </a:p>
        </p:txBody>
      </p:sp>
      <p:sp>
        <p:nvSpPr>
          <p:cNvPr id="5" name="Footer Placeholder 4">
            <a:extLst>
              <a:ext uri="{FF2B5EF4-FFF2-40B4-BE49-F238E27FC236}">
                <a16:creationId xmlns:a16="http://schemas.microsoft.com/office/drawing/2014/main" id="{0F3273EE-7191-1784-0549-E521FA8DA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29943-5FCB-45F5-55A7-C076FEECD5EF}"/>
              </a:ext>
            </a:extLst>
          </p:cNvPr>
          <p:cNvSpPr>
            <a:spLocks noGrp="1"/>
          </p:cNvSpPr>
          <p:nvPr>
            <p:ph type="sldNum" sz="quarter" idx="12"/>
          </p:nvPr>
        </p:nvSpPr>
        <p:spPr/>
        <p:txBody>
          <a:bodyPr/>
          <a:lstStyle/>
          <a:p>
            <a:fld id="{D9C326D6-D79B-4A02-A8F7-D955A5FE82B1}" type="slidenum">
              <a:rPr lang="en-US" smtClean="0"/>
              <a:t>‹#›</a:t>
            </a:fld>
            <a:endParaRPr lang="en-US"/>
          </a:p>
        </p:txBody>
      </p:sp>
    </p:spTree>
    <p:extLst>
      <p:ext uri="{BB962C8B-B14F-4D97-AF65-F5344CB8AC3E}">
        <p14:creationId xmlns:p14="http://schemas.microsoft.com/office/powerpoint/2010/main" val="1891312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F1E147-731C-D43C-0C3E-B0BF6D4410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10B5C4-B89E-9E31-4B0C-7350588764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F391A-B9F3-C041-04A5-36C1633A6D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CEB875-5D6A-4EBD-866C-E395B6DAA0C1}" type="datetimeFigureOut">
              <a:rPr lang="en-US" smtClean="0"/>
              <a:t>9/9/2026</a:t>
            </a:fld>
            <a:endParaRPr lang="en-US"/>
          </a:p>
        </p:txBody>
      </p:sp>
      <p:sp>
        <p:nvSpPr>
          <p:cNvPr id="5" name="Footer Placeholder 4">
            <a:extLst>
              <a:ext uri="{FF2B5EF4-FFF2-40B4-BE49-F238E27FC236}">
                <a16:creationId xmlns:a16="http://schemas.microsoft.com/office/drawing/2014/main" id="{E20C5057-AB59-4FC4-6A81-34FBDB8F63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0151C4-5963-BE7F-0BA2-6885BAE698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326D6-D79B-4A02-A8F7-D955A5FE82B1}" type="slidenum">
              <a:rPr lang="en-US" smtClean="0"/>
              <a:t>‹#›</a:t>
            </a:fld>
            <a:endParaRPr lang="en-US"/>
          </a:p>
        </p:txBody>
      </p:sp>
    </p:spTree>
    <p:extLst>
      <p:ext uri="{BB962C8B-B14F-4D97-AF65-F5344CB8AC3E}">
        <p14:creationId xmlns:p14="http://schemas.microsoft.com/office/powerpoint/2010/main" val="829938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link.springer.com/article/10.1007/s42452-025-07845-x" TargetMode="External"/><Relationship Id="rId2" Type="http://schemas.openxmlformats.org/officeDocument/2006/relationships/hyperlink" Target="https://link.springer.com/article/10.1007/s00477-026-03168-4" TargetMode="Externa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hyperlink" Target="https://link.springer.com/article/10.1007/s43926-025-00115-7" TargetMode="External"/><Relationship Id="rId4" Type="http://schemas.openxmlformats.org/officeDocument/2006/relationships/hyperlink" Target="https://link.springer.com/article/10.1007/s44292-025-00052-8"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link.springer.com/article/10.1007/s12145-025-01941-7" TargetMode="External"/><Relationship Id="rId2" Type="http://schemas.openxmlformats.org/officeDocument/2006/relationships/hyperlink" Target="https://link.springer.com/article/10.1007/s11270-025-08122-8" TargetMode="Externa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hyperlink" Target="https://link.springer.com/article/10.1007/s00521-024-10850-7" TargetMode="External"/><Relationship Id="rId4" Type="http://schemas.openxmlformats.org/officeDocument/2006/relationships/hyperlink" Target="https://link.springer.com/article/10.1007/s43621-025-02059-y"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abstract/document/11410867" TargetMode="External"/><Relationship Id="rId2" Type="http://schemas.openxmlformats.org/officeDocument/2006/relationships/hyperlink" Target="https://link.springer.com/article/10.1186/s43067-025-00242-9" TargetMode="Externa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AFAE-9B10-A8D5-0FAC-D7027738C99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D6A08E0-7EB3-FBBB-9952-35FCC17F8AB1}"/>
              </a:ext>
            </a:extLst>
          </p:cNvPr>
          <p:cNvSpPr>
            <a:spLocks noGrp="1"/>
          </p:cNvSpPr>
          <p:nvPr>
            <p:ph type="subTitle" idx="1"/>
          </p:nvPr>
        </p:nvSpPr>
        <p:spPr>
          <a:xfrm>
            <a:off x="1828799" y="1585520"/>
            <a:ext cx="8864367" cy="2382473"/>
          </a:xfrm>
        </p:spPr>
        <p:txBody>
          <a:bodyPr>
            <a:normAutofit/>
          </a:bodyPr>
          <a:lstStyle/>
          <a:p>
            <a:r>
              <a:rPr lang="en-US" sz="4800" dirty="0">
                <a:latin typeface="Times New Roman" panose="02020603050405020304" pitchFamily="18" charset="0"/>
                <a:cs typeface="Times New Roman" panose="02020603050405020304" pitchFamily="18" charset="0"/>
              </a:rPr>
              <a:t>Explainable AI-Driven Multimodal Analytics for Sustainable Smart City Decision Intelligence</a:t>
            </a:r>
          </a:p>
          <a:p>
            <a:endParaRPr lang="en-US" sz="4800" dirty="0"/>
          </a:p>
        </p:txBody>
      </p:sp>
      <p:pic>
        <p:nvPicPr>
          <p:cNvPr id="5" name="Picture 4">
            <a:extLst>
              <a:ext uri="{FF2B5EF4-FFF2-40B4-BE49-F238E27FC236}">
                <a16:creationId xmlns:a16="http://schemas.microsoft.com/office/drawing/2014/main" id="{321B373A-F9A4-E111-9616-C185FCB93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7" y="111154"/>
            <a:ext cx="2499986" cy="1253047"/>
          </a:xfrm>
          <a:prstGeom prst="rect">
            <a:avLst/>
          </a:prstGeom>
          <a:noFill/>
          <a:ln>
            <a:noFill/>
          </a:ln>
        </p:spPr>
      </p:pic>
      <p:sp>
        <p:nvSpPr>
          <p:cNvPr id="2" name="TextBox 1">
            <a:extLst>
              <a:ext uri="{FF2B5EF4-FFF2-40B4-BE49-F238E27FC236}">
                <a16:creationId xmlns:a16="http://schemas.microsoft.com/office/drawing/2014/main" id="{0978E6BE-51CC-4136-99F1-E2B860927C3B}"/>
              </a:ext>
            </a:extLst>
          </p:cNvPr>
          <p:cNvSpPr txBox="1"/>
          <p:nvPr/>
        </p:nvSpPr>
        <p:spPr>
          <a:xfrm>
            <a:off x="875071" y="4473679"/>
            <a:ext cx="4621162"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Batch No: 04</a:t>
            </a:r>
          </a:p>
          <a:p>
            <a:r>
              <a:rPr lang="en-US" b="1" dirty="0">
                <a:latin typeface="Times New Roman" panose="02020603050405020304" pitchFamily="18" charset="0"/>
                <a:cs typeface="Times New Roman" panose="02020603050405020304" pitchFamily="18" charset="0"/>
              </a:rPr>
              <a:t>Team Members: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Pathi Sharmila-2420030042</a:t>
            </a:r>
          </a:p>
          <a:p>
            <a:r>
              <a:rPr lang="en-US" dirty="0">
                <a:latin typeface="Times New Roman" panose="02020603050405020304" pitchFamily="18" charset="0"/>
                <a:cs typeface="Times New Roman" panose="02020603050405020304" pitchFamily="18" charset="0"/>
              </a:rPr>
              <a:t>Lakshman Angara-2420030067</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Ivaturi Vennela-2420030185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Vishnu Priya Kodali-2420030630</a:t>
            </a:r>
          </a:p>
        </p:txBody>
      </p:sp>
    </p:spTree>
    <p:extLst>
      <p:ext uri="{BB962C8B-B14F-4D97-AF65-F5344CB8AC3E}">
        <p14:creationId xmlns:p14="http://schemas.microsoft.com/office/powerpoint/2010/main" val="2376019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9317-469B-7A7F-3351-568C811213B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2DDC9ED-64EF-E612-0B25-F736B5D8B9A0}"/>
              </a:ext>
            </a:extLst>
          </p:cNvPr>
          <p:cNvSpPr>
            <a:spLocks noGrp="1"/>
          </p:cNvSpPr>
          <p:nvPr>
            <p:ph type="subTitle" idx="1"/>
          </p:nvPr>
        </p:nvSpPr>
        <p:spPr>
          <a:xfrm>
            <a:off x="1523999" y="1770510"/>
            <a:ext cx="9188741" cy="3487290"/>
          </a:xfrm>
        </p:spPr>
        <p:txBody>
          <a:bodyPr>
            <a:normAutofit/>
          </a:bodyPr>
          <a:lstStyle/>
          <a:p>
            <a:pPr algn="just"/>
            <a:r>
              <a:rPr lang="en-US" sz="2200" dirty="0">
                <a:latin typeface="Times New Roman" panose="02020603050405020304" pitchFamily="18" charset="0"/>
                <a:cs typeface="Times New Roman" panose="02020603050405020304" pitchFamily="18" charset="0"/>
              </a:rPr>
              <a:t>Rapid urbanization has created interconnected challenges such as increasing air pollution, changing weather conditions, and rising energy consumption. Existing analytical solutions often study these domains independently, making it difficult to understand their relationships and provide comprehensive insights for sustainable urban planning. Furthermore, machine learning models may provide predictions without clearly explaining the factors influencing their results. Therefore, there is a need for an integrated and explainable data analytics framework that can analyze environmental, weather, and energy-related data, generate reliable predictions, and provide understandable insights to support sustainable smart city decision-making.</a:t>
            </a:r>
          </a:p>
          <a:p>
            <a:endParaRPr lang="en-US" dirty="0"/>
          </a:p>
        </p:txBody>
      </p:sp>
      <p:sp>
        <p:nvSpPr>
          <p:cNvPr id="8" name="TextBox 7">
            <a:extLst>
              <a:ext uri="{FF2B5EF4-FFF2-40B4-BE49-F238E27FC236}">
                <a16:creationId xmlns:a16="http://schemas.microsoft.com/office/drawing/2014/main" id="{7E90662C-162E-89F4-0550-A4D9554B475F}"/>
              </a:ext>
            </a:extLst>
          </p:cNvPr>
          <p:cNvSpPr txBox="1"/>
          <p:nvPr/>
        </p:nvSpPr>
        <p:spPr>
          <a:xfrm>
            <a:off x="1770077" y="1097280"/>
            <a:ext cx="8623603"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FFFBA5-CEF0-C234-8DC7-30AA680F90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425516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3F5F-EC0E-7CB3-40C6-A99504FBF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B4754-F156-2FE5-AF7A-8A9B5755D6BB}"/>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5204F454-765D-3CF1-5CC9-4E7D3FC69138}"/>
              </a:ext>
            </a:extLst>
          </p:cNvPr>
          <p:cNvSpPr>
            <a:spLocks noGrp="1"/>
          </p:cNvSpPr>
          <p:nvPr>
            <p:ph type="subTitle" idx="1"/>
          </p:nvPr>
        </p:nvSpPr>
        <p:spPr>
          <a:xfrm>
            <a:off x="1524000" y="2097248"/>
            <a:ext cx="9144000" cy="3160552"/>
          </a:xfrm>
        </p:spPr>
        <p:txBody>
          <a:bodyPr>
            <a:normAutofit/>
          </a:bodyPr>
          <a:lstStyle/>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develop</a:t>
            </a:r>
            <a:r>
              <a:rPr lang="en-US" sz="2000" dirty="0">
                <a:latin typeface="Times New Roman" panose="02020603050405020304" pitchFamily="18" charset="0"/>
                <a:cs typeface="Times New Roman" panose="02020603050405020304" pitchFamily="18" charset="0"/>
              </a:rPr>
              <a:t> an interactive analytics platform for analyzing air quality, weather, and energy consumption data to support sustainable smart-city decision-making. </a:t>
            </a:r>
          </a:p>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integrate</a:t>
            </a:r>
            <a:r>
              <a:rPr lang="en-US" sz="2000" dirty="0">
                <a:latin typeface="Times New Roman" panose="02020603050405020304" pitchFamily="18" charset="0"/>
                <a:cs typeface="Times New Roman" panose="02020603050405020304" pitchFamily="18" charset="0"/>
              </a:rPr>
              <a:t> air quality, weather, and energy consumption datasets to identify cross-domain relationships and meaningful patterns. </a:t>
            </a:r>
          </a:p>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enhance</a:t>
            </a:r>
            <a:r>
              <a:rPr lang="en-US" sz="2000" dirty="0">
                <a:latin typeface="Times New Roman" panose="02020603050405020304" pitchFamily="18" charset="0"/>
                <a:cs typeface="Times New Roman" panose="02020603050405020304" pitchFamily="18" charset="0"/>
              </a:rPr>
              <a:t> predictive analytics by incorporating Explainable AI (SHAP) to identify and interpret the key factors influencing environmental and energy predictions. </a:t>
            </a:r>
          </a:p>
          <a:p>
            <a:pPr marL="342900" lvl="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evaluate</a:t>
            </a:r>
            <a:r>
              <a:rPr lang="en-US" sz="2000" dirty="0">
                <a:latin typeface="Times New Roman" panose="02020603050405020304" pitchFamily="18" charset="0"/>
                <a:cs typeface="Times New Roman" panose="02020603050405020304" pitchFamily="18" charset="0"/>
              </a:rPr>
              <a:t> and compare machine-learning models for environmental and energy prediction using appropriate performance metrics and identify the most effective models.</a:t>
            </a:r>
          </a:p>
        </p:txBody>
      </p:sp>
      <p:sp>
        <p:nvSpPr>
          <p:cNvPr id="4" name="TextBox 3">
            <a:extLst>
              <a:ext uri="{FF2B5EF4-FFF2-40B4-BE49-F238E27FC236}">
                <a16:creationId xmlns:a16="http://schemas.microsoft.com/office/drawing/2014/main" id="{84DA35B9-FC1E-4F8E-6302-E767BBCDF86A}"/>
              </a:ext>
            </a:extLst>
          </p:cNvPr>
          <p:cNvSpPr txBox="1"/>
          <p:nvPr/>
        </p:nvSpPr>
        <p:spPr>
          <a:xfrm>
            <a:off x="1753299" y="1122363"/>
            <a:ext cx="823652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Objectives</a:t>
            </a:r>
          </a:p>
          <a:p>
            <a:endParaRPr lang="en-US" dirty="0"/>
          </a:p>
        </p:txBody>
      </p:sp>
      <p:pic>
        <p:nvPicPr>
          <p:cNvPr id="6" name="Picture 5">
            <a:extLst>
              <a:ext uri="{FF2B5EF4-FFF2-40B4-BE49-F238E27FC236}">
                <a16:creationId xmlns:a16="http://schemas.microsoft.com/office/drawing/2014/main" id="{72CFD634-F1E5-191F-33A1-7FBC9AE82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761" y="238648"/>
            <a:ext cx="2499986" cy="1253047"/>
          </a:xfrm>
          <a:prstGeom prst="rect">
            <a:avLst/>
          </a:prstGeom>
          <a:noFill/>
          <a:ln>
            <a:noFill/>
          </a:ln>
        </p:spPr>
      </p:pic>
    </p:spTree>
    <p:extLst>
      <p:ext uri="{BB962C8B-B14F-4D97-AF65-F5344CB8AC3E}">
        <p14:creationId xmlns:p14="http://schemas.microsoft.com/office/powerpoint/2010/main" val="3514941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AE12-5E97-FBAC-EB8E-37C1F4430DE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B0074A4-18B7-A34D-F115-DDF54EDFAE54}"/>
              </a:ext>
            </a:extLst>
          </p:cNvPr>
          <p:cNvSpPr>
            <a:spLocks noGrp="1"/>
          </p:cNvSpPr>
          <p:nvPr>
            <p:ph type="subTitle" idx="1"/>
          </p:nvPr>
        </p:nvSpPr>
        <p:spPr>
          <a:xfrm>
            <a:off x="1193075" y="1770510"/>
            <a:ext cx="9519666" cy="4630290"/>
          </a:xfrm>
        </p:spPr>
        <p:txBody>
          <a:bodyPr>
            <a:normAutofit lnSpcReduction="10000"/>
          </a:bodyPr>
          <a:lstStyle/>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Interpretable Machine Learning Framework for Air Quality Prediction in Istanbul using SHAP (2026)</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Develops ML models for predicting major air pollutants and uses SHAP to identify how meteorological and pollutant variables influence predictions.</a:t>
            </a:r>
          </a:p>
          <a:p>
            <a:pPr algn="just"/>
            <a:r>
              <a:rPr lang="en-US" sz="1500" u="sng" dirty="0">
                <a:latin typeface="Times New Roman" panose="02020603050405020304" pitchFamily="18" charset="0"/>
                <a:cs typeface="Times New Roman" panose="02020603050405020304" pitchFamily="18" charset="0"/>
                <a:hlinkClick r:id="rId2"/>
              </a:rPr>
              <a:t>https://link.springer.com/article/10.1007/s00477-026-03168-4</a:t>
            </a:r>
            <a:endParaRPr lang="en-US" sz="15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Deep Learning-Based AQI Forecasting: A CNN-LSTM Model with Visual insights from  SHAP-LIME and  PDP (2025)</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Uses a CNN-LSTM model for AQI forecasting and applies SHAP, LIME, and PDP to explain the factors affecting predictions. </a:t>
            </a:r>
          </a:p>
          <a:p>
            <a:pPr algn="just"/>
            <a:r>
              <a:rPr lang="en-US" sz="1500" u="sng" dirty="0">
                <a:latin typeface="Times New Roman" panose="02020603050405020304" pitchFamily="18" charset="0"/>
                <a:cs typeface="Times New Roman" panose="02020603050405020304" pitchFamily="18" charset="0"/>
                <a:hlinkClick r:id="rId3"/>
              </a:rPr>
              <a:t>https://link.springer.com/article/10.1007/s42452-025-07845-x</a:t>
            </a:r>
            <a:endParaRPr lang="en-US" sz="15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Scalable AI-Driven Air Quality Forecasting and Classification for Public Health Applications (2025)</a:t>
            </a:r>
            <a:endParaRPr lang="en-US" sz="1500" dirty="0">
              <a:latin typeface="Times New Roman" panose="02020603050405020304" pitchFamily="18" charset="0"/>
              <a:cs typeface="Times New Roman" panose="02020603050405020304" pitchFamily="18" charset="0"/>
            </a:endParaRPr>
          </a:p>
          <a:p>
            <a:pPr algn="just"/>
            <a:r>
              <a:rPr lang="en-US" sz="1500" dirty="0">
                <a:latin typeface="Times New Roman" panose="02020603050405020304" pitchFamily="18" charset="0"/>
                <a:cs typeface="Times New Roman" panose="02020603050405020304" pitchFamily="18" charset="0"/>
              </a:rPr>
              <a:t>Combines ML/DL models with meteorological data for air-quality forecasting and uses SHAP and LIME to provide interpretable results.</a:t>
            </a:r>
          </a:p>
          <a:p>
            <a:pPr algn="just"/>
            <a:r>
              <a:rPr lang="en-US" sz="1500" u="sng" dirty="0">
                <a:latin typeface="Times New Roman" panose="02020603050405020304" pitchFamily="18" charset="0"/>
                <a:cs typeface="Times New Roman" panose="02020603050405020304" pitchFamily="18" charset="0"/>
                <a:hlinkClick r:id="rId4"/>
              </a:rPr>
              <a:t>https://link.springer.com/article/10.1007/s44292-025-00052-8</a:t>
            </a:r>
          </a:p>
          <a:p>
            <a:pPr marL="285750" lvl="0" indent="-285750" algn="jus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1500" b="1" dirty="0">
                <a:latin typeface="Times New Roman" panose="02020603050405020304" pitchFamily="18" charset="0"/>
                <a:cs typeface="Times New Roman" panose="02020603050405020304" pitchFamily="18" charset="0"/>
              </a:rPr>
              <a:t>Machine Learning Model for Predicting Long-Term Energy Consumption in Buildings (2025)</a:t>
            </a:r>
          </a:p>
          <a:p>
            <a:pPr algn="just"/>
            <a:r>
              <a:rPr lang="en-US" sz="1500" dirty="0">
                <a:latin typeface="Times New Roman" panose="02020603050405020304" pitchFamily="18" charset="0"/>
                <a:cs typeface="Times New Roman" panose="02020603050405020304" pitchFamily="18" charset="0"/>
              </a:rPr>
              <a:t>Compares XGBoost, SVR, and LSTM models for predicting long-term building energy consumption and evaluates their forecasting performance. </a:t>
            </a:r>
          </a:p>
          <a:p>
            <a:pPr algn="just"/>
            <a:r>
              <a:rPr lang="en-US" sz="1500" u="sng" dirty="0">
                <a:latin typeface="Times New Roman" panose="02020603050405020304" pitchFamily="18" charset="0"/>
                <a:cs typeface="Times New Roman" panose="02020603050405020304" pitchFamily="18" charset="0"/>
                <a:hlinkClick r:id="rId5"/>
              </a:rPr>
              <a:t>https://link.springer.com/article/10.1007/s43926-025-00115-7</a:t>
            </a:r>
            <a:endParaRPr lang="en-US" sz="1500" dirty="0">
              <a:latin typeface="Times New Roman" panose="02020603050405020304" pitchFamily="18" charset="0"/>
              <a:cs typeface="Times New Roman" panose="02020603050405020304" pitchFamily="18" charset="0"/>
            </a:endParaRPr>
          </a:p>
          <a:p>
            <a:pPr algn="just"/>
            <a:endParaRPr lang="en-US" sz="1500" dirty="0">
              <a:latin typeface="Times New Roman" panose="02020603050405020304" pitchFamily="18" charset="0"/>
              <a:cs typeface="Times New Roman" panose="02020603050405020304" pitchFamily="18" charset="0"/>
            </a:endParaRPr>
          </a:p>
          <a:p>
            <a:pPr algn="just"/>
            <a:endParaRPr lang="en-US" sz="1500"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5C4B3B6-BE02-91AF-051C-A083A4AC8598}"/>
              </a:ext>
            </a:extLst>
          </p:cNvPr>
          <p:cNvSpPr txBox="1"/>
          <p:nvPr/>
        </p:nvSpPr>
        <p:spPr>
          <a:xfrm>
            <a:off x="1770077" y="1097280"/>
            <a:ext cx="862360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1B5DF0AA-59B8-998F-F67A-00A9A7F31A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269754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D0F43-625B-FCEE-008B-C99593BBF5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055EA25-B83D-E707-23FB-CE91606EE89E}"/>
              </a:ext>
            </a:extLst>
          </p:cNvPr>
          <p:cNvSpPr>
            <a:spLocks noGrp="1"/>
          </p:cNvSpPr>
          <p:nvPr>
            <p:ph type="subTitle" idx="1"/>
          </p:nvPr>
        </p:nvSpPr>
        <p:spPr>
          <a:xfrm>
            <a:off x="1193075" y="1770510"/>
            <a:ext cx="9519666" cy="4630290"/>
          </a:xfrm>
        </p:spPr>
        <p:txBody>
          <a:bodyPr>
            <a:normAutofit fontScale="70000" lnSpcReduction="20000"/>
          </a:bodyPr>
          <a:lstStyle/>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Air Quality Forecasting Using Machine Learning: Comparative Analysis and Ensemble Strategies for Enhanced Prediction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Compares multiple machine-learning models, including XGBoost, Random Forest, CatBoost, and LightGBM, for improved air-quality prediction. </a:t>
            </a:r>
          </a:p>
          <a:p>
            <a:pPr algn="just"/>
            <a:r>
              <a:rPr lang="en-US" sz="2100" u="sng" dirty="0">
                <a:latin typeface="Times New Roman" panose="02020603050405020304" pitchFamily="18" charset="0"/>
                <a:cs typeface="Times New Roman" panose="02020603050405020304" pitchFamily="18" charset="0"/>
                <a:hlinkClick r:id="rId2"/>
              </a:rPr>
              <a:t>https://link.springer.com/article/10.1007/s11270-025-08122-8</a:t>
            </a:r>
            <a:endParaRPr lang="en-US" sz="21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Comprehensive Evaluation of Machine Learning Models for Real-World Air Quality Prediction and Health Risk Assessment by AirQ+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Evaluates different ML models for particulate-matter prediction using pollutant and meteorological variables, with applications to health-risk assessment. </a:t>
            </a:r>
          </a:p>
          <a:p>
            <a:pPr algn="just"/>
            <a:r>
              <a:rPr lang="en-US" sz="2100" u="sng" dirty="0">
                <a:latin typeface="Times New Roman" panose="02020603050405020304" pitchFamily="18" charset="0"/>
                <a:cs typeface="Times New Roman" panose="02020603050405020304" pitchFamily="18" charset="0"/>
                <a:hlinkClick r:id="rId3"/>
              </a:rPr>
              <a:t>https://link.springer.com/article/10.1007/s12145-025-01941-7</a:t>
            </a:r>
            <a:endParaRPr lang="en-US" sz="21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Smart Cities, Hot Cities: ML-Based Forecasting of Urban Heat Patterns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Applies machine learning to forecast urban temperature patterns and uses SHAP to explain the influence of climatic and temporal factors. </a:t>
            </a:r>
          </a:p>
          <a:p>
            <a:pPr algn="just"/>
            <a:r>
              <a:rPr lang="en-US" sz="2100" u="sng" dirty="0">
                <a:latin typeface="Times New Roman" panose="02020603050405020304" pitchFamily="18" charset="0"/>
                <a:cs typeface="Times New Roman" panose="02020603050405020304" pitchFamily="18" charset="0"/>
                <a:hlinkClick r:id="rId4"/>
              </a:rPr>
              <a:t>https://link.springer.com/article/10.1007/s43621-025-02059-y</a:t>
            </a:r>
            <a:endParaRPr lang="en-US" sz="21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Explainable Energy Consumption and Speed Prediction in Sustainable Cities Using Deep Learning (2025)</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Uses deep-learning techniques to predict energy consumption and incorporates Explainable AI to interpret the model's predictions. </a:t>
            </a:r>
          </a:p>
          <a:p>
            <a:pPr algn="just"/>
            <a:r>
              <a:rPr lang="en-US" sz="2100" u="sng" dirty="0">
                <a:latin typeface="Times New Roman" panose="02020603050405020304" pitchFamily="18" charset="0"/>
                <a:cs typeface="Times New Roman" panose="02020603050405020304" pitchFamily="18" charset="0"/>
                <a:hlinkClick r:id="rId5"/>
              </a:rPr>
              <a:t>https://link.springer.com/article/10.1007/s00521-024-10850-7</a:t>
            </a:r>
            <a:endParaRPr lang="en-US" sz="2100" u="sng"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a:p>
            <a:pPr algn="l"/>
            <a:endParaRPr lang="en-US" dirty="0"/>
          </a:p>
        </p:txBody>
      </p:sp>
      <p:sp>
        <p:nvSpPr>
          <p:cNvPr id="8" name="TextBox 7">
            <a:extLst>
              <a:ext uri="{FF2B5EF4-FFF2-40B4-BE49-F238E27FC236}">
                <a16:creationId xmlns:a16="http://schemas.microsoft.com/office/drawing/2014/main" id="{44D0F73B-5DAD-18B4-50B5-6B1DB4305910}"/>
              </a:ext>
            </a:extLst>
          </p:cNvPr>
          <p:cNvSpPr txBox="1"/>
          <p:nvPr/>
        </p:nvSpPr>
        <p:spPr>
          <a:xfrm>
            <a:off x="1770077" y="1097280"/>
            <a:ext cx="862360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414FA273-4AD1-2E34-2FE5-B865645F3D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3458623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62F0-38D8-0AED-D636-7559B2BE2DF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B0B93A7-4AAA-2A1F-3F0C-4BB582B18366}"/>
              </a:ext>
            </a:extLst>
          </p:cNvPr>
          <p:cNvSpPr>
            <a:spLocks noGrp="1"/>
          </p:cNvSpPr>
          <p:nvPr>
            <p:ph type="subTitle" idx="1"/>
          </p:nvPr>
        </p:nvSpPr>
        <p:spPr>
          <a:xfrm>
            <a:off x="1193075" y="1770510"/>
            <a:ext cx="9519666" cy="4630290"/>
          </a:xfrm>
        </p:spPr>
        <p:txBody>
          <a:bodyPr>
            <a:normAutofit/>
          </a:bodyPr>
          <a:lstStyle/>
          <a:p>
            <a:pPr marL="285750" lvl="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 Machine Learning-Powered Energy Consumption Prediction System with API (2025)</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Develops an ML-based energy prediction system with an API, demonstrating how predictive models can be integrated into practical applications. </a:t>
            </a:r>
          </a:p>
          <a:p>
            <a:pPr algn="just"/>
            <a:r>
              <a:rPr lang="en-US" sz="1800" u="sng" dirty="0">
                <a:latin typeface="Times New Roman" panose="02020603050405020304" pitchFamily="18" charset="0"/>
                <a:cs typeface="Times New Roman" panose="02020603050405020304" pitchFamily="18" charset="0"/>
                <a:hlinkClick r:id="rId2"/>
              </a:rPr>
              <a:t>https://link.springer.com/article/10.1186/s43067-025-00242-9</a:t>
            </a:r>
            <a:endParaRPr lang="en-US" sz="18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 State-of-the-Art and Emerging Trends in Deep Learning for Air Quality Forecasting and Health Impact Modeling (2025)</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Reviews recent deep-learning approaches for air-quality forecasting and examines emerging technologies for environmental and health-impact monitoring.</a:t>
            </a:r>
          </a:p>
          <a:p>
            <a:pPr algn="just"/>
            <a:r>
              <a:rPr lang="en-US" sz="1800" u="sng" dirty="0">
                <a:latin typeface="Times New Roman" panose="02020603050405020304" pitchFamily="18" charset="0"/>
                <a:cs typeface="Times New Roman" panose="02020603050405020304" pitchFamily="18" charset="0"/>
                <a:hlinkClick r:id="rId3"/>
              </a:rPr>
              <a:t>https://ieeexplore.ieee.org/abstract/document/11410867</a:t>
            </a:r>
            <a:endParaRPr lang="en-US" sz="1800"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a:p>
            <a:pPr algn="l"/>
            <a:endParaRPr lang="en-US" dirty="0"/>
          </a:p>
        </p:txBody>
      </p:sp>
      <p:sp>
        <p:nvSpPr>
          <p:cNvPr id="8" name="TextBox 7">
            <a:extLst>
              <a:ext uri="{FF2B5EF4-FFF2-40B4-BE49-F238E27FC236}">
                <a16:creationId xmlns:a16="http://schemas.microsoft.com/office/drawing/2014/main" id="{A4CDAC96-215C-8DB3-3719-90D242276872}"/>
              </a:ext>
            </a:extLst>
          </p:cNvPr>
          <p:cNvSpPr txBox="1"/>
          <p:nvPr/>
        </p:nvSpPr>
        <p:spPr>
          <a:xfrm>
            <a:off x="1770077" y="1097280"/>
            <a:ext cx="862360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E6FE8D7F-9F02-1261-D310-347136AFCE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427" y="85987"/>
            <a:ext cx="2499986" cy="1253047"/>
          </a:xfrm>
          <a:prstGeom prst="rect">
            <a:avLst/>
          </a:prstGeom>
          <a:noFill/>
          <a:ln>
            <a:noFill/>
          </a:ln>
        </p:spPr>
      </p:pic>
    </p:spTree>
    <p:extLst>
      <p:ext uri="{BB962C8B-B14F-4D97-AF65-F5344CB8AC3E}">
        <p14:creationId xmlns:p14="http://schemas.microsoft.com/office/powerpoint/2010/main" val="83351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0977B-485B-B58F-AEFC-8052FA45E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61018-3152-1A54-5F21-799AB9E66677}"/>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6397B608-763A-9386-ACC0-0D7F301F0CEA}"/>
              </a:ext>
            </a:extLst>
          </p:cNvPr>
          <p:cNvSpPr>
            <a:spLocks noGrp="1"/>
          </p:cNvSpPr>
          <p:nvPr>
            <p:ph type="subTitle" idx="1"/>
          </p:nvPr>
        </p:nvSpPr>
        <p:spPr>
          <a:xfrm>
            <a:off x="1524000" y="1861027"/>
            <a:ext cx="9144000" cy="3396773"/>
          </a:xfrm>
        </p:spPr>
        <p:txBody>
          <a:bodyPr>
            <a:normAutofit fontScale="25000" lnSpcReduction="20000"/>
          </a:bodyPr>
          <a:lstStyle/>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Multi-Domain Integration: </a:t>
            </a:r>
            <a:r>
              <a:rPr lang="en-US" sz="7200" dirty="0">
                <a:latin typeface="Times New Roman" panose="02020603050405020304" pitchFamily="18" charset="0"/>
                <a:cs typeface="Times New Roman" panose="02020603050405020304" pitchFamily="18" charset="0"/>
              </a:rPr>
              <a:t>Existing studies mainly focus on individual domains such as air quality, weather/climate, or energy consumption rather than analyzing them together. </a:t>
            </a:r>
          </a:p>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Cross-Domain Insights: </a:t>
            </a:r>
            <a:r>
              <a:rPr lang="en-US" sz="7200" dirty="0">
                <a:latin typeface="Times New Roman" panose="02020603050405020304" pitchFamily="18" charset="0"/>
                <a:cs typeface="Times New Roman" panose="02020603050405020304" pitchFamily="18" charset="0"/>
              </a:rPr>
              <a:t>Relationships between environmental conditions, weather factors, and energy consumption are not sufficiently explored within a unified analytical framework. </a:t>
            </a:r>
          </a:p>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Explainability Across Domains:</a:t>
            </a:r>
            <a:r>
              <a:rPr lang="en-US" sz="7200" dirty="0">
                <a:latin typeface="Times New Roman" panose="02020603050405020304" pitchFamily="18" charset="0"/>
                <a:cs typeface="Times New Roman" panose="02020603050405020304" pitchFamily="18" charset="0"/>
              </a:rPr>
              <a:t> Although SHAP and other XAI techniques are used in individual prediction tasks, their use across an integrated multi-domain framework is less explored. </a:t>
            </a:r>
          </a:p>
          <a:p>
            <a:pPr marL="342900" indent="-342900" algn="just">
              <a:lnSpc>
                <a:spcPct val="110000"/>
              </a:lnSpc>
              <a:buFont typeface="Arial" panose="020B0604020202020204" pitchFamily="34" charset="0"/>
              <a:buChar char="•"/>
            </a:pPr>
            <a:r>
              <a:rPr lang="en-US" sz="7200" b="1" dirty="0">
                <a:latin typeface="Times New Roman" panose="02020603050405020304" pitchFamily="18" charset="0"/>
                <a:cs typeface="Times New Roman" panose="02020603050405020304" pitchFamily="18" charset="0"/>
              </a:rPr>
              <a:t>Limited Unified Decision Support: </a:t>
            </a:r>
            <a:r>
              <a:rPr lang="en-US" sz="7200" dirty="0">
                <a:latin typeface="Times New Roman" panose="02020603050405020304" pitchFamily="18" charset="0"/>
                <a:cs typeface="Times New Roman" panose="02020603050405020304" pitchFamily="18" charset="0"/>
              </a:rPr>
              <a:t>Existing solutions often provide predictions or domain-specific dashboards, but there is scope for a single platform combining prediction, explanation, comparison, and visualization for sustainable smart-city decision-making.</a:t>
            </a:r>
          </a:p>
          <a:p>
            <a:endParaRPr lang="en-US" dirty="0"/>
          </a:p>
        </p:txBody>
      </p:sp>
      <p:sp>
        <p:nvSpPr>
          <p:cNvPr id="4" name="TextBox 3">
            <a:extLst>
              <a:ext uri="{FF2B5EF4-FFF2-40B4-BE49-F238E27FC236}">
                <a16:creationId xmlns:a16="http://schemas.microsoft.com/office/drawing/2014/main" id="{9F76A59C-8828-71BF-B9F4-B278870C77BB}"/>
              </a:ext>
            </a:extLst>
          </p:cNvPr>
          <p:cNvSpPr txBox="1"/>
          <p:nvPr/>
        </p:nvSpPr>
        <p:spPr>
          <a:xfrm>
            <a:off x="1699958" y="1122362"/>
            <a:ext cx="829748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Research Gap Identification</a:t>
            </a:r>
          </a:p>
          <a:p>
            <a:endParaRPr lang="en-US" dirty="0"/>
          </a:p>
        </p:txBody>
      </p:sp>
      <p:pic>
        <p:nvPicPr>
          <p:cNvPr id="6" name="Picture 5">
            <a:extLst>
              <a:ext uri="{FF2B5EF4-FFF2-40B4-BE49-F238E27FC236}">
                <a16:creationId xmlns:a16="http://schemas.microsoft.com/office/drawing/2014/main" id="{4A7537EF-82F1-D824-7744-B380AE0C4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60" y="238647"/>
            <a:ext cx="2499986" cy="1253047"/>
          </a:xfrm>
          <a:prstGeom prst="rect">
            <a:avLst/>
          </a:prstGeom>
          <a:noFill/>
          <a:ln>
            <a:noFill/>
          </a:ln>
        </p:spPr>
      </p:pic>
    </p:spTree>
    <p:extLst>
      <p:ext uri="{BB962C8B-B14F-4D97-AF65-F5344CB8AC3E}">
        <p14:creationId xmlns:p14="http://schemas.microsoft.com/office/powerpoint/2010/main" val="218256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FA2F-2AE0-506F-5367-2B175F33E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8C2BA-C897-FF78-651F-1ED9C80537AE}"/>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472FD376-20CD-BB3B-89CB-6BE99D939772}"/>
              </a:ext>
            </a:extLst>
          </p:cNvPr>
          <p:cNvSpPr>
            <a:spLocks noGrp="1"/>
          </p:cNvSpPr>
          <p:nvPr>
            <p:ph type="subTitle" idx="1"/>
          </p:nvPr>
        </p:nvSpPr>
        <p:spPr>
          <a:xfrm>
            <a:off x="1524000" y="1861027"/>
            <a:ext cx="9144000" cy="3396773"/>
          </a:xfrm>
        </p:spPr>
        <p:txBody>
          <a:bodyPr>
            <a:normAutofit fontScale="77500" lnSpcReduction="20000"/>
          </a:bodyPr>
          <a:lstStyle/>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Multi-domain Analytics: </a:t>
            </a:r>
            <a:r>
              <a:rPr lang="en-US" sz="2300" dirty="0">
                <a:latin typeface="Times New Roman" panose="02020603050405020304" pitchFamily="18" charset="0"/>
                <a:cs typeface="Times New Roman" panose="02020603050405020304" pitchFamily="18" charset="0"/>
              </a:rPr>
              <a:t>Integrates Air Quality, Weather, and Energy Consumption data to study interconnected urban patterns rather than analyzing each domain independently.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Comparative Machine Learning: </a:t>
            </a:r>
            <a:r>
              <a:rPr lang="en-US" sz="2300" dirty="0">
                <a:latin typeface="Times New Roman" panose="02020603050405020304" pitchFamily="18" charset="0"/>
                <a:cs typeface="Times New Roman" panose="02020603050405020304" pitchFamily="18" charset="0"/>
              </a:rPr>
              <a:t>Develops and compares multiple regression models to identify suitable predictive approaches for environmental and energy-related analysis.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Explainable Predictions: </a:t>
            </a:r>
            <a:r>
              <a:rPr lang="en-US" sz="2300" dirty="0">
                <a:latin typeface="Times New Roman" panose="02020603050405020304" pitchFamily="18" charset="0"/>
                <a:cs typeface="Times New Roman" panose="02020603050405020304" pitchFamily="18" charset="0"/>
              </a:rPr>
              <a:t>Uses SHAP (SHapley Additive Explanations) to identify the important factors influencing model predictions, making the results easier to interpret.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Integrated Decision Support:</a:t>
            </a:r>
            <a:r>
              <a:rPr lang="en-US" sz="2300" dirty="0">
                <a:latin typeface="Times New Roman" panose="02020603050405020304" pitchFamily="18" charset="0"/>
                <a:cs typeface="Times New Roman" panose="02020603050405020304" pitchFamily="18" charset="0"/>
              </a:rPr>
              <a:t> Combines predictions, model explanations, trends, and visual analytics within a single interactive platform to support data-driven urban decisions.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Future Extensibility</a:t>
            </a:r>
            <a:r>
              <a:rPr lang="en-US" sz="2300" dirty="0">
                <a:latin typeface="Times New Roman" panose="02020603050405020304" pitchFamily="18" charset="0"/>
                <a:cs typeface="Times New Roman" panose="02020603050405020304" pitchFamily="18" charset="0"/>
              </a:rPr>
              <a:t>: The framework can be extended with additional datasets, real-time data sources, advanced ML/DL models, and other smart-city applications in later phases. </a:t>
            </a:r>
          </a:p>
          <a:p>
            <a:endParaRPr lang="en-US" dirty="0"/>
          </a:p>
        </p:txBody>
      </p:sp>
      <p:sp>
        <p:nvSpPr>
          <p:cNvPr id="4" name="TextBox 3">
            <a:extLst>
              <a:ext uri="{FF2B5EF4-FFF2-40B4-BE49-F238E27FC236}">
                <a16:creationId xmlns:a16="http://schemas.microsoft.com/office/drawing/2014/main" id="{502729B4-A05E-D8BE-4208-B74F15BE35D2}"/>
              </a:ext>
            </a:extLst>
          </p:cNvPr>
          <p:cNvSpPr txBox="1"/>
          <p:nvPr/>
        </p:nvSpPr>
        <p:spPr>
          <a:xfrm>
            <a:off x="1699958" y="1122362"/>
            <a:ext cx="832034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Innovation</a:t>
            </a:r>
          </a:p>
          <a:p>
            <a:endParaRPr lang="en-US" dirty="0"/>
          </a:p>
        </p:txBody>
      </p:sp>
      <p:pic>
        <p:nvPicPr>
          <p:cNvPr id="6" name="Picture 5">
            <a:extLst>
              <a:ext uri="{FF2B5EF4-FFF2-40B4-BE49-F238E27FC236}">
                <a16:creationId xmlns:a16="http://schemas.microsoft.com/office/drawing/2014/main" id="{58D51218-8AE2-E077-6023-637BAFF4E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38" y="126507"/>
            <a:ext cx="2499986" cy="1253047"/>
          </a:xfrm>
          <a:prstGeom prst="rect">
            <a:avLst/>
          </a:prstGeom>
          <a:noFill/>
          <a:ln>
            <a:noFill/>
          </a:ln>
        </p:spPr>
      </p:pic>
    </p:spTree>
    <p:extLst>
      <p:ext uri="{BB962C8B-B14F-4D97-AF65-F5344CB8AC3E}">
        <p14:creationId xmlns:p14="http://schemas.microsoft.com/office/powerpoint/2010/main" val="3979104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D22F1-0F3F-F93F-1843-CA68018BD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89EA1-EE0E-D1BD-5343-C5AFE6A8C32F}"/>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26E0E844-A125-B229-6F42-CED16809BA9B}"/>
              </a:ext>
            </a:extLst>
          </p:cNvPr>
          <p:cNvSpPr>
            <a:spLocks noGrp="1"/>
          </p:cNvSpPr>
          <p:nvPr>
            <p:ph type="subTitle" idx="1"/>
          </p:nvPr>
        </p:nvSpPr>
        <p:spPr>
          <a:xfrm>
            <a:off x="1524000" y="1861027"/>
            <a:ext cx="9144000" cy="3396773"/>
          </a:xfrm>
        </p:spPr>
        <p:txBody>
          <a:bodyPr>
            <a:normAutofit fontScale="25000" lnSpcReduction="20000"/>
          </a:bodyPr>
          <a:lstStyle/>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Dataset Feasibility: </a:t>
            </a:r>
            <a:r>
              <a:rPr lang="en-US" sz="6400" dirty="0">
                <a:latin typeface="Times New Roman" panose="02020603050405020304" pitchFamily="18" charset="0"/>
                <a:cs typeface="Times New Roman" panose="02020603050405020304" pitchFamily="18" charset="0"/>
              </a:rPr>
              <a:t>The project uses publicly available Air Quality, Weather, and Energy Consumption datasets, making data collection practical and reducing the need for costly data acquisition.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Technical Feasibility: </a:t>
            </a:r>
            <a:r>
              <a:rPr lang="en-US" sz="6400" dirty="0">
                <a:latin typeface="Times New Roman" panose="02020603050405020304" pitchFamily="18" charset="0"/>
                <a:cs typeface="Times New Roman" panose="02020603050405020304" pitchFamily="18" charset="0"/>
              </a:rPr>
              <a:t>The required technologies, including Python, Pandas, NumPy, Scikit-learn, XGBoost, SHAP, and Streamlit, are well-established and suitable for implementing the proposed analytics pipeline.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Methodological Feasibility: </a:t>
            </a:r>
            <a:r>
              <a:rPr lang="en-US" sz="6400" dirty="0">
                <a:latin typeface="Times New Roman" panose="02020603050405020304" pitchFamily="18" charset="0"/>
                <a:cs typeface="Times New Roman" panose="02020603050405020304" pitchFamily="18" charset="0"/>
              </a:rPr>
              <a:t>The project uses established techniques for preprocessing, EDA, feature engineering, machine learning, model evaluation, Explainable AI, and visualization rather than requiring development of entirely new algorithms.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Implementation Feasibility:</a:t>
            </a:r>
            <a:r>
              <a:rPr lang="en-US" sz="6400" dirty="0">
                <a:latin typeface="Times New Roman" panose="02020603050405020304" pitchFamily="18" charset="0"/>
                <a:cs typeface="Times New Roman" panose="02020603050405020304" pitchFamily="18" charset="0"/>
              </a:rPr>
              <a:t> The system can be developed incrementally, allowing individual components such as data processing, prediction, explainability, and visualization to be implemented and tested separately. </a:t>
            </a:r>
          </a:p>
          <a:p>
            <a:pPr marL="342900" indent="-342900" algn="just">
              <a:lnSpc>
                <a:spcPct val="110000"/>
              </a:lnSpc>
              <a:buFont typeface="Arial" panose="020B0604020202020204" pitchFamily="34" charset="0"/>
              <a:buChar char="•"/>
            </a:pPr>
            <a:r>
              <a:rPr lang="en-US" sz="6400" b="1" dirty="0">
                <a:latin typeface="Times New Roman" panose="02020603050405020304" pitchFamily="18" charset="0"/>
                <a:cs typeface="Times New Roman" panose="02020603050405020304" pitchFamily="18" charset="0"/>
              </a:rPr>
              <a:t>Time Feasibility: </a:t>
            </a:r>
            <a:r>
              <a:rPr lang="en-US" sz="6400" dirty="0">
                <a:latin typeface="Times New Roman" panose="02020603050405020304" pitchFamily="18" charset="0"/>
                <a:cs typeface="Times New Roman" panose="02020603050405020304" pitchFamily="18" charset="0"/>
              </a:rPr>
              <a:t>The project is suitable for phase-wise development from 3-1 to 4-1, allowing sufficient time for experimentation, validation, improvements, and final integration.</a:t>
            </a:r>
          </a:p>
          <a:p>
            <a:endParaRPr lang="en-US" dirty="0"/>
          </a:p>
        </p:txBody>
      </p:sp>
      <p:sp>
        <p:nvSpPr>
          <p:cNvPr id="4" name="TextBox 3">
            <a:extLst>
              <a:ext uri="{FF2B5EF4-FFF2-40B4-BE49-F238E27FC236}">
                <a16:creationId xmlns:a16="http://schemas.microsoft.com/office/drawing/2014/main" id="{93A981E1-989A-D30D-7E5D-2CBE55EB4D6A}"/>
              </a:ext>
            </a:extLst>
          </p:cNvPr>
          <p:cNvSpPr txBox="1"/>
          <p:nvPr/>
        </p:nvSpPr>
        <p:spPr>
          <a:xfrm>
            <a:off x="1699959" y="1181100"/>
            <a:ext cx="8198421"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Feasibility</a:t>
            </a:r>
          </a:p>
          <a:p>
            <a:endParaRPr lang="en-US" dirty="0"/>
          </a:p>
        </p:txBody>
      </p:sp>
      <p:pic>
        <p:nvPicPr>
          <p:cNvPr id="6" name="Picture 5">
            <a:extLst>
              <a:ext uri="{FF2B5EF4-FFF2-40B4-BE49-F238E27FC236}">
                <a16:creationId xmlns:a16="http://schemas.microsoft.com/office/drawing/2014/main" id="{72AD913A-120D-DDC0-DE9F-1449BADD8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38" y="136321"/>
            <a:ext cx="2499986" cy="1253047"/>
          </a:xfrm>
          <a:prstGeom prst="rect">
            <a:avLst/>
          </a:prstGeom>
          <a:noFill/>
          <a:ln>
            <a:noFill/>
          </a:ln>
        </p:spPr>
      </p:pic>
    </p:spTree>
    <p:extLst>
      <p:ext uri="{BB962C8B-B14F-4D97-AF65-F5344CB8AC3E}">
        <p14:creationId xmlns:p14="http://schemas.microsoft.com/office/powerpoint/2010/main" val="101595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A1A84-00BA-61CB-DBB2-1DE201658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4AC14-0356-7BA6-90DC-5F92A8F9AAC6}"/>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BBCC167A-557B-DD26-21EC-676C5F77094D}"/>
              </a:ext>
            </a:extLst>
          </p:cNvPr>
          <p:cNvSpPr>
            <a:spLocks noGrp="1"/>
          </p:cNvSpPr>
          <p:nvPr>
            <p:ph type="subTitle" idx="1"/>
          </p:nvPr>
        </p:nvSpPr>
        <p:spPr>
          <a:xfrm>
            <a:off x="1524000" y="2080260"/>
            <a:ext cx="9144000" cy="3177540"/>
          </a:xfrm>
        </p:spPr>
        <p:txBody>
          <a:bodyPr>
            <a:normAutofit fontScale="70000" lnSpcReduction="20000"/>
          </a:bodyPr>
          <a:lstStyle/>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1 – </a:t>
            </a:r>
            <a:r>
              <a:rPr lang="en-US" sz="2300" dirty="0">
                <a:latin typeface="Times New Roman" panose="02020603050405020304" pitchFamily="18" charset="0"/>
                <a:cs typeface="Times New Roman" panose="02020603050405020304" pitchFamily="18" charset="0"/>
              </a:rPr>
              <a:t>Data Preparation: Collect and understand the three benchmark datasets, perform data cleaning, integration, missing-value handling, outlier treatment, and exploratory data analysis.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2 – </a:t>
            </a:r>
            <a:r>
              <a:rPr lang="en-US" sz="2300" dirty="0">
                <a:latin typeface="Times New Roman" panose="02020603050405020304" pitchFamily="18" charset="0"/>
                <a:cs typeface="Times New Roman" panose="02020603050405020304" pitchFamily="18" charset="0"/>
              </a:rPr>
              <a:t>Feature &amp; Predictive Analytics: Perform feature engineering and selection, develop the selected regression models, and compare their performance using appropriate evaluation metrics.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3 – </a:t>
            </a:r>
            <a:r>
              <a:rPr lang="en-US" sz="2300" dirty="0">
                <a:latin typeface="Times New Roman" panose="02020603050405020304" pitchFamily="18" charset="0"/>
                <a:cs typeface="Times New Roman" panose="02020603050405020304" pitchFamily="18" charset="0"/>
              </a:rPr>
              <a:t>Explainable AI &amp; Visualization: Apply SHAP to interpret the important factors behind model predictions and develop meaningful visualizations for environmental and energy trends.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4 – </a:t>
            </a:r>
            <a:r>
              <a:rPr lang="en-US" sz="2300" dirty="0">
                <a:latin typeface="Times New Roman" panose="02020603050405020304" pitchFamily="18" charset="0"/>
                <a:cs typeface="Times New Roman" panose="02020603050405020304" pitchFamily="18" charset="0"/>
              </a:rPr>
              <a:t>Integrated Dashboard: Combine predictions, explanations, comparative results, and visual analytics into an interactive dashboard for sustainable smart-city decision support. </a:t>
            </a:r>
          </a:p>
          <a:p>
            <a:pPr marL="342900" lvl="0" indent="-342900" algn="just">
              <a:lnSpc>
                <a:spcPct val="110000"/>
              </a:lnSpc>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Phase 5 – </a:t>
            </a:r>
            <a:r>
              <a:rPr lang="en-US" sz="2300" dirty="0">
                <a:latin typeface="Times New Roman" panose="02020603050405020304" pitchFamily="18" charset="0"/>
                <a:cs typeface="Times New Roman" panose="02020603050405020304" pitchFamily="18" charset="0"/>
              </a:rPr>
              <a:t>Validation &amp; Research Output: Validate the complete system, improve model performance where required, document the findings, prepare the final project, and develop the work into a research-paper-ready outcome.</a:t>
            </a:r>
          </a:p>
          <a:p>
            <a:endParaRPr lang="en-US" dirty="0"/>
          </a:p>
        </p:txBody>
      </p:sp>
      <p:sp>
        <p:nvSpPr>
          <p:cNvPr id="4" name="TextBox 3">
            <a:extLst>
              <a:ext uri="{FF2B5EF4-FFF2-40B4-BE49-F238E27FC236}">
                <a16:creationId xmlns:a16="http://schemas.microsoft.com/office/drawing/2014/main" id="{B8393A93-4A1F-F110-9637-B8C1C6342C2F}"/>
              </a:ext>
            </a:extLst>
          </p:cNvPr>
          <p:cNvSpPr txBox="1"/>
          <p:nvPr/>
        </p:nvSpPr>
        <p:spPr>
          <a:xfrm>
            <a:off x="1821880" y="1310639"/>
            <a:ext cx="7749959"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Project Plan</a:t>
            </a:r>
          </a:p>
        </p:txBody>
      </p:sp>
      <p:pic>
        <p:nvPicPr>
          <p:cNvPr id="6" name="Picture 5">
            <a:extLst>
              <a:ext uri="{FF2B5EF4-FFF2-40B4-BE49-F238E27FC236}">
                <a16:creationId xmlns:a16="http://schemas.microsoft.com/office/drawing/2014/main" id="{83B88715-DBB1-319B-724F-D11CA7B72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50" y="106552"/>
            <a:ext cx="2499986" cy="1253047"/>
          </a:xfrm>
          <a:prstGeom prst="rect">
            <a:avLst/>
          </a:prstGeom>
          <a:noFill/>
          <a:ln>
            <a:noFill/>
          </a:ln>
        </p:spPr>
      </p:pic>
    </p:spTree>
    <p:extLst>
      <p:ext uri="{BB962C8B-B14F-4D97-AF65-F5344CB8AC3E}">
        <p14:creationId xmlns:p14="http://schemas.microsoft.com/office/powerpoint/2010/main" val="188679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52CC5-18E5-8F91-59F5-BE86FFBEA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80829-A6CE-AB25-2C51-1783DE160171}"/>
              </a:ext>
            </a:extLst>
          </p:cNvPr>
          <p:cNvSpPr>
            <a:spLocks noGrp="1"/>
          </p:cNvSpPr>
          <p:nvPr>
            <p:ph type="ctrTitle"/>
          </p:nvPr>
        </p:nvSpPr>
        <p:spPr>
          <a:xfrm>
            <a:off x="1524000" y="1122363"/>
            <a:ext cx="9144000" cy="840661"/>
          </a:xfrm>
        </p:spPr>
        <p:txBody>
          <a:bodyPr>
            <a:normAutofit fontScale="90000"/>
          </a:bodyPr>
          <a:lstStyle/>
          <a:p>
            <a:br>
              <a:rPr lang="en-US" dirty="0"/>
            </a:br>
            <a:br>
              <a:rPr lang="en-US" dirty="0"/>
            </a:br>
            <a:endParaRPr lang="en-US" dirty="0"/>
          </a:p>
        </p:txBody>
      </p:sp>
      <p:sp>
        <p:nvSpPr>
          <p:cNvPr id="3" name="Subtitle 2">
            <a:extLst>
              <a:ext uri="{FF2B5EF4-FFF2-40B4-BE49-F238E27FC236}">
                <a16:creationId xmlns:a16="http://schemas.microsoft.com/office/drawing/2014/main" id="{609EF288-A3E0-629F-FD4F-25A7AFEA904B}"/>
              </a:ext>
            </a:extLst>
          </p:cNvPr>
          <p:cNvSpPr>
            <a:spLocks noGrp="1"/>
          </p:cNvSpPr>
          <p:nvPr>
            <p:ph type="subTitle" idx="1"/>
          </p:nvPr>
        </p:nvSpPr>
        <p:spPr>
          <a:xfrm>
            <a:off x="1524000" y="2298582"/>
            <a:ext cx="9144000" cy="2959217"/>
          </a:xfrm>
        </p:spPr>
        <p:txBody>
          <a:bodyPr>
            <a:normAutofit fontScale="92500" lnSpcReduction="20000"/>
          </a:bodyPr>
          <a:lstStyle/>
          <a:p>
            <a:r>
              <a:rPr lang="en-US" sz="13800" dirty="0">
                <a:latin typeface="Times New Roman" panose="02020603050405020304" pitchFamily="18" charset="0"/>
                <a:cs typeface="Times New Roman" panose="02020603050405020304" pitchFamily="18" charset="0"/>
              </a:rPr>
              <a:t>THANK YOU</a:t>
            </a:r>
          </a:p>
        </p:txBody>
      </p:sp>
      <p:pic>
        <p:nvPicPr>
          <p:cNvPr id="6" name="Picture 5">
            <a:extLst>
              <a:ext uri="{FF2B5EF4-FFF2-40B4-BE49-F238E27FC236}">
                <a16:creationId xmlns:a16="http://schemas.microsoft.com/office/drawing/2014/main" id="{B756B808-DB60-6B11-32F1-898387235B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50" y="106552"/>
            <a:ext cx="2499986" cy="1253047"/>
          </a:xfrm>
          <a:prstGeom prst="rect">
            <a:avLst/>
          </a:prstGeom>
          <a:noFill/>
          <a:ln>
            <a:noFill/>
          </a:ln>
        </p:spPr>
      </p:pic>
    </p:spTree>
    <p:extLst>
      <p:ext uri="{BB962C8B-B14F-4D97-AF65-F5344CB8AC3E}">
        <p14:creationId xmlns:p14="http://schemas.microsoft.com/office/powerpoint/2010/main" val="31509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1301</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PowerPoint Presentation</vt:lpstr>
      <vt:lpstr>  </vt:lpstr>
      <vt:lpstr>PowerPoint Presentation</vt:lpstr>
      <vt:lpstr>PowerPoint Presentation</vt:lpstr>
      <vt:lpstr>PowerPoint Presentation</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Priya Kodali</dc:creator>
  <cp:lastModifiedBy>Vishnu Priya Kodali</cp:lastModifiedBy>
  <cp:revision>6</cp:revision>
  <dcterms:created xsi:type="dcterms:W3CDTF">2026-08-11T14:53:43Z</dcterms:created>
  <dcterms:modified xsi:type="dcterms:W3CDTF">2026-09-09T09:31:47Z</dcterms:modified>
</cp:coreProperties>
</file>