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8" r:id="rId2"/>
    <p:sldId id="258" r:id="rId3"/>
    <p:sldId id="259" r:id="rId4"/>
    <p:sldId id="265" r:id="rId5"/>
    <p:sldId id="266" r:id="rId6"/>
    <p:sldId id="267" r:id="rId7"/>
    <p:sldId id="260" r:id="rId8"/>
    <p:sldId id="261" r:id="rId9"/>
    <p:sldId id="262" r:id="rId10"/>
    <p:sldId id="263" r:id="rId11"/>
    <p:sldId id="268" r:id="rId12"/>
    <p:sldId id="269" r:id="rId13"/>
    <p:sldId id="270" r:id="rId14"/>
    <p:sldId id="271" r:id="rId15"/>
    <p:sldId id="257" r:id="rId16"/>
    <p:sldId id="276" r:id="rId17"/>
    <p:sldId id="277" r:id="rId18"/>
    <p:sldId id="279" r:id="rId19"/>
    <p:sldId id="289" r:id="rId20"/>
    <p:sldId id="280" r:id="rId21"/>
    <p:sldId id="281" r:id="rId22"/>
    <p:sldId id="282" r:id="rId23"/>
    <p:sldId id="283" r:id="rId24"/>
    <p:sldId id="284" r:id="rId25"/>
    <p:sldId id="285" r:id="rId26"/>
    <p:sldId id="286" r:id="rId27"/>
    <p:sldId id="264" r:id="rId28"/>
    <p:sldId id="287" r:id="rId29"/>
    <p:sldId id="288"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51" autoAdjust="0"/>
    <p:restoredTop sz="94660"/>
  </p:normalViewPr>
  <p:slideViewPr>
    <p:cSldViewPr snapToGrid="0">
      <p:cViewPr varScale="1">
        <p:scale>
          <a:sx n="78" d="100"/>
          <a:sy n="78" d="100"/>
        </p:scale>
        <p:origin x="103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8E4B5-CD8B-EF3F-87B9-9E07794307F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BD4BE53-8202-7D6E-5DFD-BEF8B6DF20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78DAC7D-F18F-C250-9626-82EC2D05FABC}"/>
              </a:ext>
            </a:extLst>
          </p:cNvPr>
          <p:cNvSpPr>
            <a:spLocks noGrp="1"/>
          </p:cNvSpPr>
          <p:nvPr>
            <p:ph type="dt" sz="half" idx="10"/>
          </p:nvPr>
        </p:nvSpPr>
        <p:spPr/>
        <p:txBody>
          <a:bodyPr/>
          <a:lstStyle/>
          <a:p>
            <a:fld id="{F4CEB875-5D6A-4EBD-866C-E395B6DAA0C1}" type="datetimeFigureOut">
              <a:rPr lang="en-US" smtClean="0"/>
              <a:t>10/12/26</a:t>
            </a:fld>
            <a:endParaRPr lang="en-US"/>
          </a:p>
        </p:txBody>
      </p:sp>
      <p:sp>
        <p:nvSpPr>
          <p:cNvPr id="5" name="Footer Placeholder 4">
            <a:extLst>
              <a:ext uri="{FF2B5EF4-FFF2-40B4-BE49-F238E27FC236}">
                <a16:creationId xmlns:a16="http://schemas.microsoft.com/office/drawing/2014/main" id="{95013065-B807-2C6A-6D9D-D42509E65F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175743-8A4A-000A-033F-2EC5ECF0E1F5}"/>
              </a:ext>
            </a:extLst>
          </p:cNvPr>
          <p:cNvSpPr>
            <a:spLocks noGrp="1"/>
          </p:cNvSpPr>
          <p:nvPr>
            <p:ph type="sldNum" sz="quarter" idx="12"/>
          </p:nvPr>
        </p:nvSpPr>
        <p:spPr/>
        <p:txBody>
          <a:bodyPr/>
          <a:lstStyle/>
          <a:p>
            <a:fld id="{D9C326D6-D79B-4A02-A8F7-D955A5FE82B1}" type="slidenum">
              <a:rPr lang="en-US" smtClean="0"/>
              <a:t>‹#›</a:t>
            </a:fld>
            <a:endParaRPr lang="en-US"/>
          </a:p>
        </p:txBody>
      </p:sp>
    </p:spTree>
    <p:extLst>
      <p:ext uri="{BB962C8B-B14F-4D97-AF65-F5344CB8AC3E}">
        <p14:creationId xmlns:p14="http://schemas.microsoft.com/office/powerpoint/2010/main" val="665395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16027-6B63-E383-E455-A023C809800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C8B0FE8-2F88-FCA1-7741-E8CA8106439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4C7127-9F08-F216-55D4-BF3456592925}"/>
              </a:ext>
            </a:extLst>
          </p:cNvPr>
          <p:cNvSpPr>
            <a:spLocks noGrp="1"/>
          </p:cNvSpPr>
          <p:nvPr>
            <p:ph type="dt" sz="half" idx="10"/>
          </p:nvPr>
        </p:nvSpPr>
        <p:spPr/>
        <p:txBody>
          <a:bodyPr/>
          <a:lstStyle/>
          <a:p>
            <a:fld id="{F4CEB875-5D6A-4EBD-866C-E395B6DAA0C1}" type="datetimeFigureOut">
              <a:rPr lang="en-US" smtClean="0"/>
              <a:t>10/12/26</a:t>
            </a:fld>
            <a:endParaRPr lang="en-US"/>
          </a:p>
        </p:txBody>
      </p:sp>
      <p:sp>
        <p:nvSpPr>
          <p:cNvPr id="5" name="Footer Placeholder 4">
            <a:extLst>
              <a:ext uri="{FF2B5EF4-FFF2-40B4-BE49-F238E27FC236}">
                <a16:creationId xmlns:a16="http://schemas.microsoft.com/office/drawing/2014/main" id="{9EFB53B2-A1E5-8FD9-60B2-1B6828F5C5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4FCF5F-074A-5387-494C-0656B49883B3}"/>
              </a:ext>
            </a:extLst>
          </p:cNvPr>
          <p:cNvSpPr>
            <a:spLocks noGrp="1"/>
          </p:cNvSpPr>
          <p:nvPr>
            <p:ph type="sldNum" sz="quarter" idx="12"/>
          </p:nvPr>
        </p:nvSpPr>
        <p:spPr/>
        <p:txBody>
          <a:bodyPr/>
          <a:lstStyle/>
          <a:p>
            <a:fld id="{D9C326D6-D79B-4A02-A8F7-D955A5FE82B1}" type="slidenum">
              <a:rPr lang="en-US" smtClean="0"/>
              <a:t>‹#›</a:t>
            </a:fld>
            <a:endParaRPr lang="en-US"/>
          </a:p>
        </p:txBody>
      </p:sp>
    </p:spTree>
    <p:extLst>
      <p:ext uri="{BB962C8B-B14F-4D97-AF65-F5344CB8AC3E}">
        <p14:creationId xmlns:p14="http://schemas.microsoft.com/office/powerpoint/2010/main" val="3423331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49608-73FD-B1D4-6D56-F13923BA2D9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C1A5D2E-FAD0-3763-ED0C-1C39BC114F5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CA631E-0F8C-0A07-0EAF-9AA50FE62D1D}"/>
              </a:ext>
            </a:extLst>
          </p:cNvPr>
          <p:cNvSpPr>
            <a:spLocks noGrp="1"/>
          </p:cNvSpPr>
          <p:nvPr>
            <p:ph type="dt" sz="half" idx="10"/>
          </p:nvPr>
        </p:nvSpPr>
        <p:spPr/>
        <p:txBody>
          <a:bodyPr/>
          <a:lstStyle/>
          <a:p>
            <a:fld id="{F4CEB875-5D6A-4EBD-866C-E395B6DAA0C1}" type="datetimeFigureOut">
              <a:rPr lang="en-US" smtClean="0"/>
              <a:t>10/12/26</a:t>
            </a:fld>
            <a:endParaRPr lang="en-US"/>
          </a:p>
        </p:txBody>
      </p:sp>
      <p:sp>
        <p:nvSpPr>
          <p:cNvPr id="5" name="Footer Placeholder 4">
            <a:extLst>
              <a:ext uri="{FF2B5EF4-FFF2-40B4-BE49-F238E27FC236}">
                <a16:creationId xmlns:a16="http://schemas.microsoft.com/office/drawing/2014/main" id="{5DD77AF7-E5E2-74A9-AC3C-06E02D93F6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A387EE-2919-4990-5C72-2FFF3773941B}"/>
              </a:ext>
            </a:extLst>
          </p:cNvPr>
          <p:cNvSpPr>
            <a:spLocks noGrp="1"/>
          </p:cNvSpPr>
          <p:nvPr>
            <p:ph type="sldNum" sz="quarter" idx="12"/>
          </p:nvPr>
        </p:nvSpPr>
        <p:spPr/>
        <p:txBody>
          <a:bodyPr/>
          <a:lstStyle/>
          <a:p>
            <a:fld id="{D9C326D6-D79B-4A02-A8F7-D955A5FE82B1}" type="slidenum">
              <a:rPr lang="en-US" smtClean="0"/>
              <a:t>‹#›</a:t>
            </a:fld>
            <a:endParaRPr lang="en-US"/>
          </a:p>
        </p:txBody>
      </p:sp>
    </p:spTree>
    <p:extLst>
      <p:ext uri="{BB962C8B-B14F-4D97-AF65-F5344CB8AC3E}">
        <p14:creationId xmlns:p14="http://schemas.microsoft.com/office/powerpoint/2010/main" val="8293810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AAC41-C87E-3EDD-A12B-0E331DD5A05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439600-21F9-7B04-1FC0-F2C419B71F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57498C5-C7F2-1D14-1614-4836865323C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5F56110-9D89-0064-4F6C-CFB3070FCA0E}"/>
              </a:ext>
            </a:extLst>
          </p:cNvPr>
          <p:cNvSpPr>
            <a:spLocks noGrp="1"/>
          </p:cNvSpPr>
          <p:nvPr>
            <p:ph type="dt" sz="half" idx="10"/>
          </p:nvPr>
        </p:nvSpPr>
        <p:spPr/>
        <p:txBody>
          <a:bodyPr/>
          <a:lstStyle/>
          <a:p>
            <a:fld id="{F4CEB875-5D6A-4EBD-866C-E395B6DAA0C1}" type="datetimeFigureOut">
              <a:rPr lang="en-US" smtClean="0"/>
              <a:t>10/12/26</a:t>
            </a:fld>
            <a:endParaRPr lang="en-US"/>
          </a:p>
        </p:txBody>
      </p:sp>
      <p:sp>
        <p:nvSpPr>
          <p:cNvPr id="6" name="Footer Placeholder 5">
            <a:extLst>
              <a:ext uri="{FF2B5EF4-FFF2-40B4-BE49-F238E27FC236}">
                <a16:creationId xmlns:a16="http://schemas.microsoft.com/office/drawing/2014/main" id="{E7E1EEF0-6514-80EA-BCEE-2A5ABEAF84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4165AA-5373-C96D-4753-6149A74400E9}"/>
              </a:ext>
            </a:extLst>
          </p:cNvPr>
          <p:cNvSpPr>
            <a:spLocks noGrp="1"/>
          </p:cNvSpPr>
          <p:nvPr>
            <p:ph type="sldNum" sz="quarter" idx="12"/>
          </p:nvPr>
        </p:nvSpPr>
        <p:spPr/>
        <p:txBody>
          <a:bodyPr/>
          <a:lstStyle/>
          <a:p>
            <a:fld id="{D9C326D6-D79B-4A02-A8F7-D955A5FE82B1}" type="slidenum">
              <a:rPr lang="en-US" smtClean="0"/>
              <a:t>‹#›</a:t>
            </a:fld>
            <a:endParaRPr lang="en-US"/>
          </a:p>
        </p:txBody>
      </p:sp>
    </p:spTree>
    <p:extLst>
      <p:ext uri="{BB962C8B-B14F-4D97-AF65-F5344CB8AC3E}">
        <p14:creationId xmlns:p14="http://schemas.microsoft.com/office/powerpoint/2010/main" val="35207772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CC936-5A5C-E3AE-A6DC-10F27498119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EC258AE-7590-BFED-E439-1D37823E73B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81E5CE-22AA-171E-329C-30B16CCCE21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9E9B4DE-0A21-8FF2-8F3F-3DD1B54FA6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B189983-36A0-8874-E6C5-A7CEA783EBA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2D1AFBB-641A-4DD3-1C62-160DB0A14C78}"/>
              </a:ext>
            </a:extLst>
          </p:cNvPr>
          <p:cNvSpPr>
            <a:spLocks noGrp="1"/>
          </p:cNvSpPr>
          <p:nvPr>
            <p:ph type="dt" sz="half" idx="10"/>
          </p:nvPr>
        </p:nvSpPr>
        <p:spPr/>
        <p:txBody>
          <a:bodyPr/>
          <a:lstStyle/>
          <a:p>
            <a:fld id="{F4CEB875-5D6A-4EBD-866C-E395B6DAA0C1}" type="datetimeFigureOut">
              <a:rPr lang="en-US" smtClean="0"/>
              <a:t>10/12/26</a:t>
            </a:fld>
            <a:endParaRPr lang="en-US"/>
          </a:p>
        </p:txBody>
      </p:sp>
      <p:sp>
        <p:nvSpPr>
          <p:cNvPr id="8" name="Footer Placeholder 7">
            <a:extLst>
              <a:ext uri="{FF2B5EF4-FFF2-40B4-BE49-F238E27FC236}">
                <a16:creationId xmlns:a16="http://schemas.microsoft.com/office/drawing/2014/main" id="{E73B952C-FBBF-AC7A-3B14-CE42C7BFD3C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9B7282A-1D4A-BB88-2D83-0CA63B26054E}"/>
              </a:ext>
            </a:extLst>
          </p:cNvPr>
          <p:cNvSpPr>
            <a:spLocks noGrp="1"/>
          </p:cNvSpPr>
          <p:nvPr>
            <p:ph type="sldNum" sz="quarter" idx="12"/>
          </p:nvPr>
        </p:nvSpPr>
        <p:spPr/>
        <p:txBody>
          <a:bodyPr/>
          <a:lstStyle/>
          <a:p>
            <a:fld id="{D9C326D6-D79B-4A02-A8F7-D955A5FE82B1}" type="slidenum">
              <a:rPr lang="en-US" smtClean="0"/>
              <a:t>‹#›</a:t>
            </a:fld>
            <a:endParaRPr lang="en-US"/>
          </a:p>
        </p:txBody>
      </p:sp>
    </p:spTree>
    <p:extLst>
      <p:ext uri="{BB962C8B-B14F-4D97-AF65-F5344CB8AC3E}">
        <p14:creationId xmlns:p14="http://schemas.microsoft.com/office/powerpoint/2010/main" val="30513114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22DD9-8EA4-C414-174B-CBF098177D9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A19D466-85AE-33F6-582C-D63DF8B3BA4C}"/>
              </a:ext>
            </a:extLst>
          </p:cNvPr>
          <p:cNvSpPr>
            <a:spLocks noGrp="1"/>
          </p:cNvSpPr>
          <p:nvPr>
            <p:ph type="dt" sz="half" idx="10"/>
          </p:nvPr>
        </p:nvSpPr>
        <p:spPr/>
        <p:txBody>
          <a:bodyPr/>
          <a:lstStyle/>
          <a:p>
            <a:fld id="{F4CEB875-5D6A-4EBD-866C-E395B6DAA0C1}" type="datetimeFigureOut">
              <a:rPr lang="en-US" smtClean="0"/>
              <a:t>10/12/26</a:t>
            </a:fld>
            <a:endParaRPr lang="en-US"/>
          </a:p>
        </p:txBody>
      </p:sp>
      <p:sp>
        <p:nvSpPr>
          <p:cNvPr id="4" name="Footer Placeholder 3">
            <a:extLst>
              <a:ext uri="{FF2B5EF4-FFF2-40B4-BE49-F238E27FC236}">
                <a16:creationId xmlns:a16="http://schemas.microsoft.com/office/drawing/2014/main" id="{4C4766C5-B76B-D2F1-7C8E-F47E8889E14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230D75E-10FA-E00E-E832-0DF933174CCA}"/>
              </a:ext>
            </a:extLst>
          </p:cNvPr>
          <p:cNvSpPr>
            <a:spLocks noGrp="1"/>
          </p:cNvSpPr>
          <p:nvPr>
            <p:ph type="sldNum" sz="quarter" idx="12"/>
          </p:nvPr>
        </p:nvSpPr>
        <p:spPr/>
        <p:txBody>
          <a:bodyPr/>
          <a:lstStyle/>
          <a:p>
            <a:fld id="{D9C326D6-D79B-4A02-A8F7-D955A5FE82B1}" type="slidenum">
              <a:rPr lang="en-US" smtClean="0"/>
              <a:t>‹#›</a:t>
            </a:fld>
            <a:endParaRPr lang="en-US"/>
          </a:p>
        </p:txBody>
      </p:sp>
    </p:spTree>
    <p:extLst>
      <p:ext uri="{BB962C8B-B14F-4D97-AF65-F5344CB8AC3E}">
        <p14:creationId xmlns:p14="http://schemas.microsoft.com/office/powerpoint/2010/main" val="34641648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67B0B0-E282-D553-8A96-402609ECE0BC}"/>
              </a:ext>
            </a:extLst>
          </p:cNvPr>
          <p:cNvSpPr>
            <a:spLocks noGrp="1"/>
          </p:cNvSpPr>
          <p:nvPr>
            <p:ph type="dt" sz="half" idx="10"/>
          </p:nvPr>
        </p:nvSpPr>
        <p:spPr/>
        <p:txBody>
          <a:bodyPr/>
          <a:lstStyle/>
          <a:p>
            <a:fld id="{F4CEB875-5D6A-4EBD-866C-E395B6DAA0C1}" type="datetimeFigureOut">
              <a:rPr lang="en-US" smtClean="0"/>
              <a:t>10/12/26</a:t>
            </a:fld>
            <a:endParaRPr lang="en-US"/>
          </a:p>
        </p:txBody>
      </p:sp>
      <p:sp>
        <p:nvSpPr>
          <p:cNvPr id="3" name="Footer Placeholder 2">
            <a:extLst>
              <a:ext uri="{FF2B5EF4-FFF2-40B4-BE49-F238E27FC236}">
                <a16:creationId xmlns:a16="http://schemas.microsoft.com/office/drawing/2014/main" id="{F829AC39-E480-1137-D2DD-2842FB8D550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BFA3AF5-2E60-8CC2-71B7-6B801BDE7223}"/>
              </a:ext>
            </a:extLst>
          </p:cNvPr>
          <p:cNvSpPr>
            <a:spLocks noGrp="1"/>
          </p:cNvSpPr>
          <p:nvPr>
            <p:ph type="sldNum" sz="quarter" idx="12"/>
          </p:nvPr>
        </p:nvSpPr>
        <p:spPr/>
        <p:txBody>
          <a:bodyPr/>
          <a:lstStyle/>
          <a:p>
            <a:fld id="{D9C326D6-D79B-4A02-A8F7-D955A5FE82B1}" type="slidenum">
              <a:rPr lang="en-US" smtClean="0"/>
              <a:t>‹#›</a:t>
            </a:fld>
            <a:endParaRPr lang="en-US"/>
          </a:p>
        </p:txBody>
      </p:sp>
    </p:spTree>
    <p:extLst>
      <p:ext uri="{BB962C8B-B14F-4D97-AF65-F5344CB8AC3E}">
        <p14:creationId xmlns:p14="http://schemas.microsoft.com/office/powerpoint/2010/main" val="27962069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B5286-8205-0B0B-5907-535B43D424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1E2B927-7EC2-A5E5-F46F-3CDD166838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28B1545-A905-7E68-704F-C953C0DC64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D1A4F6-902E-ED30-9AC6-17D0FCCF13A4}"/>
              </a:ext>
            </a:extLst>
          </p:cNvPr>
          <p:cNvSpPr>
            <a:spLocks noGrp="1"/>
          </p:cNvSpPr>
          <p:nvPr>
            <p:ph type="dt" sz="half" idx="10"/>
          </p:nvPr>
        </p:nvSpPr>
        <p:spPr/>
        <p:txBody>
          <a:bodyPr/>
          <a:lstStyle/>
          <a:p>
            <a:fld id="{F4CEB875-5D6A-4EBD-866C-E395B6DAA0C1}" type="datetimeFigureOut">
              <a:rPr lang="en-US" smtClean="0"/>
              <a:t>10/12/26</a:t>
            </a:fld>
            <a:endParaRPr lang="en-US"/>
          </a:p>
        </p:txBody>
      </p:sp>
      <p:sp>
        <p:nvSpPr>
          <p:cNvPr id="6" name="Footer Placeholder 5">
            <a:extLst>
              <a:ext uri="{FF2B5EF4-FFF2-40B4-BE49-F238E27FC236}">
                <a16:creationId xmlns:a16="http://schemas.microsoft.com/office/drawing/2014/main" id="{E8822E3A-D9BB-C359-6201-A38AE06684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06F2F3-630A-1EA0-081B-507D2B067D79}"/>
              </a:ext>
            </a:extLst>
          </p:cNvPr>
          <p:cNvSpPr>
            <a:spLocks noGrp="1"/>
          </p:cNvSpPr>
          <p:nvPr>
            <p:ph type="sldNum" sz="quarter" idx="12"/>
          </p:nvPr>
        </p:nvSpPr>
        <p:spPr/>
        <p:txBody>
          <a:bodyPr/>
          <a:lstStyle/>
          <a:p>
            <a:fld id="{D9C326D6-D79B-4A02-A8F7-D955A5FE82B1}" type="slidenum">
              <a:rPr lang="en-US" smtClean="0"/>
              <a:t>‹#›</a:t>
            </a:fld>
            <a:endParaRPr lang="en-US"/>
          </a:p>
        </p:txBody>
      </p:sp>
    </p:spTree>
    <p:extLst>
      <p:ext uri="{BB962C8B-B14F-4D97-AF65-F5344CB8AC3E}">
        <p14:creationId xmlns:p14="http://schemas.microsoft.com/office/powerpoint/2010/main" val="3362780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89A1A-846D-6AD4-729A-834FBD9B6A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0A251AA-8D83-628A-B898-8EB5C59BCA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E89CB93-3294-9BAA-2925-E92C4C86FF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BAB76C-934B-DA75-58F8-93AFF92D55BB}"/>
              </a:ext>
            </a:extLst>
          </p:cNvPr>
          <p:cNvSpPr>
            <a:spLocks noGrp="1"/>
          </p:cNvSpPr>
          <p:nvPr>
            <p:ph type="dt" sz="half" idx="10"/>
          </p:nvPr>
        </p:nvSpPr>
        <p:spPr/>
        <p:txBody>
          <a:bodyPr/>
          <a:lstStyle/>
          <a:p>
            <a:fld id="{F4CEB875-5D6A-4EBD-866C-E395B6DAA0C1}" type="datetimeFigureOut">
              <a:rPr lang="en-US" smtClean="0"/>
              <a:t>10/12/26</a:t>
            </a:fld>
            <a:endParaRPr lang="en-US"/>
          </a:p>
        </p:txBody>
      </p:sp>
      <p:sp>
        <p:nvSpPr>
          <p:cNvPr id="6" name="Footer Placeholder 5">
            <a:extLst>
              <a:ext uri="{FF2B5EF4-FFF2-40B4-BE49-F238E27FC236}">
                <a16:creationId xmlns:a16="http://schemas.microsoft.com/office/drawing/2014/main" id="{E4B80B7B-AD4D-2C35-BC45-F793D14945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D23872-CE60-D6A2-A9BC-47C5CA339C1D}"/>
              </a:ext>
            </a:extLst>
          </p:cNvPr>
          <p:cNvSpPr>
            <a:spLocks noGrp="1"/>
          </p:cNvSpPr>
          <p:nvPr>
            <p:ph type="sldNum" sz="quarter" idx="12"/>
          </p:nvPr>
        </p:nvSpPr>
        <p:spPr/>
        <p:txBody>
          <a:bodyPr/>
          <a:lstStyle/>
          <a:p>
            <a:fld id="{D9C326D6-D79B-4A02-A8F7-D955A5FE82B1}" type="slidenum">
              <a:rPr lang="en-US" smtClean="0"/>
              <a:t>‹#›</a:t>
            </a:fld>
            <a:endParaRPr lang="en-US"/>
          </a:p>
        </p:txBody>
      </p:sp>
    </p:spTree>
    <p:extLst>
      <p:ext uri="{BB962C8B-B14F-4D97-AF65-F5344CB8AC3E}">
        <p14:creationId xmlns:p14="http://schemas.microsoft.com/office/powerpoint/2010/main" val="1819391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B57BE-E13B-4092-2B1D-A0DAACBE634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369C8D7-1ED3-363E-16FF-13ADCEB4F8A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5B9114-F9A9-7AED-64C6-443B35522956}"/>
              </a:ext>
            </a:extLst>
          </p:cNvPr>
          <p:cNvSpPr>
            <a:spLocks noGrp="1"/>
          </p:cNvSpPr>
          <p:nvPr>
            <p:ph type="dt" sz="half" idx="10"/>
          </p:nvPr>
        </p:nvSpPr>
        <p:spPr/>
        <p:txBody>
          <a:bodyPr/>
          <a:lstStyle/>
          <a:p>
            <a:fld id="{F4CEB875-5D6A-4EBD-866C-E395B6DAA0C1}" type="datetimeFigureOut">
              <a:rPr lang="en-US" smtClean="0"/>
              <a:t>10/12/26</a:t>
            </a:fld>
            <a:endParaRPr lang="en-US"/>
          </a:p>
        </p:txBody>
      </p:sp>
      <p:sp>
        <p:nvSpPr>
          <p:cNvPr id="5" name="Footer Placeholder 4">
            <a:extLst>
              <a:ext uri="{FF2B5EF4-FFF2-40B4-BE49-F238E27FC236}">
                <a16:creationId xmlns:a16="http://schemas.microsoft.com/office/drawing/2014/main" id="{EC25B07D-B5A8-B9B1-A716-C5FA524F8F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0A67E0-744F-5868-FCF8-F364F26D0AAA}"/>
              </a:ext>
            </a:extLst>
          </p:cNvPr>
          <p:cNvSpPr>
            <a:spLocks noGrp="1"/>
          </p:cNvSpPr>
          <p:nvPr>
            <p:ph type="sldNum" sz="quarter" idx="12"/>
          </p:nvPr>
        </p:nvSpPr>
        <p:spPr/>
        <p:txBody>
          <a:bodyPr/>
          <a:lstStyle/>
          <a:p>
            <a:fld id="{D9C326D6-D79B-4A02-A8F7-D955A5FE82B1}" type="slidenum">
              <a:rPr lang="en-US" smtClean="0"/>
              <a:t>‹#›</a:t>
            </a:fld>
            <a:endParaRPr lang="en-US"/>
          </a:p>
        </p:txBody>
      </p:sp>
    </p:spTree>
    <p:extLst>
      <p:ext uri="{BB962C8B-B14F-4D97-AF65-F5344CB8AC3E}">
        <p14:creationId xmlns:p14="http://schemas.microsoft.com/office/powerpoint/2010/main" val="3224992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1DF8A8C-C7DA-B1C6-DF2E-E81624D5E78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81F219-57F3-1CA0-EBAB-8722B5D5F6B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D8F10B-1EFD-A187-2C5C-3B16DF62F1ED}"/>
              </a:ext>
            </a:extLst>
          </p:cNvPr>
          <p:cNvSpPr>
            <a:spLocks noGrp="1"/>
          </p:cNvSpPr>
          <p:nvPr>
            <p:ph type="dt" sz="half" idx="10"/>
          </p:nvPr>
        </p:nvSpPr>
        <p:spPr/>
        <p:txBody>
          <a:bodyPr/>
          <a:lstStyle/>
          <a:p>
            <a:fld id="{F4CEB875-5D6A-4EBD-866C-E395B6DAA0C1}" type="datetimeFigureOut">
              <a:rPr lang="en-US" smtClean="0"/>
              <a:t>10/12/26</a:t>
            </a:fld>
            <a:endParaRPr lang="en-US"/>
          </a:p>
        </p:txBody>
      </p:sp>
      <p:sp>
        <p:nvSpPr>
          <p:cNvPr id="5" name="Footer Placeholder 4">
            <a:extLst>
              <a:ext uri="{FF2B5EF4-FFF2-40B4-BE49-F238E27FC236}">
                <a16:creationId xmlns:a16="http://schemas.microsoft.com/office/drawing/2014/main" id="{0F3273EE-7191-1784-0549-E521FA8DA2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329943-5FCB-45F5-55A7-C076FEECD5EF}"/>
              </a:ext>
            </a:extLst>
          </p:cNvPr>
          <p:cNvSpPr>
            <a:spLocks noGrp="1"/>
          </p:cNvSpPr>
          <p:nvPr>
            <p:ph type="sldNum" sz="quarter" idx="12"/>
          </p:nvPr>
        </p:nvSpPr>
        <p:spPr/>
        <p:txBody>
          <a:bodyPr/>
          <a:lstStyle/>
          <a:p>
            <a:fld id="{D9C326D6-D79B-4A02-A8F7-D955A5FE82B1}" type="slidenum">
              <a:rPr lang="en-US" smtClean="0"/>
              <a:t>‹#›</a:t>
            </a:fld>
            <a:endParaRPr lang="en-US"/>
          </a:p>
        </p:txBody>
      </p:sp>
    </p:spTree>
    <p:extLst>
      <p:ext uri="{BB962C8B-B14F-4D97-AF65-F5344CB8AC3E}">
        <p14:creationId xmlns:p14="http://schemas.microsoft.com/office/powerpoint/2010/main" val="18913120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F1E147-731C-D43C-0C3E-B0BF6D4410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10B5C4-B89E-9E31-4B0C-7350588764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0F391A-B9F3-C041-04A5-36C1633A6D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CEB875-5D6A-4EBD-866C-E395B6DAA0C1}" type="datetimeFigureOut">
              <a:rPr lang="en-US" smtClean="0"/>
              <a:t>10/12/26</a:t>
            </a:fld>
            <a:endParaRPr lang="en-US"/>
          </a:p>
        </p:txBody>
      </p:sp>
      <p:sp>
        <p:nvSpPr>
          <p:cNvPr id="5" name="Footer Placeholder 4">
            <a:extLst>
              <a:ext uri="{FF2B5EF4-FFF2-40B4-BE49-F238E27FC236}">
                <a16:creationId xmlns:a16="http://schemas.microsoft.com/office/drawing/2014/main" id="{E20C5057-AB59-4FC4-6A81-34FBDB8F63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60151C4-5963-BE7F-0BA2-6885BAE698B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C326D6-D79B-4A02-A8F7-D955A5FE82B1}" type="slidenum">
              <a:rPr lang="en-US" smtClean="0"/>
              <a:t>‹#›</a:t>
            </a:fld>
            <a:endParaRPr lang="en-US"/>
          </a:p>
        </p:txBody>
      </p:sp>
    </p:spTree>
    <p:extLst>
      <p:ext uri="{BB962C8B-B14F-4D97-AF65-F5344CB8AC3E}">
        <p14:creationId xmlns:p14="http://schemas.microsoft.com/office/powerpoint/2010/main" val="8299382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link.springer.com/article/10.1007/s42452-025-07845-x" TargetMode="External"/><Relationship Id="rId2" Type="http://schemas.openxmlformats.org/officeDocument/2006/relationships/hyperlink" Target="https://link.springer.com/article/10.1007/s00477-026-03168-4" TargetMode="External"/><Relationship Id="rId1" Type="http://schemas.openxmlformats.org/officeDocument/2006/relationships/slideLayout" Target="../slideLayouts/slideLayout1.xml"/><Relationship Id="rId6" Type="http://schemas.openxmlformats.org/officeDocument/2006/relationships/image" Target="../media/image1.jpg"/><Relationship Id="rId5" Type="http://schemas.openxmlformats.org/officeDocument/2006/relationships/hyperlink" Target="https://link.springer.com/article/10.1007/s43926-025-00115-7" TargetMode="External"/><Relationship Id="rId4" Type="http://schemas.openxmlformats.org/officeDocument/2006/relationships/hyperlink" Target="https://link.springer.com/article/10.1007/s44292-025-00052-8"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link.springer.com/article/10.1007/s12145-025-01941-7" TargetMode="External"/><Relationship Id="rId2" Type="http://schemas.openxmlformats.org/officeDocument/2006/relationships/hyperlink" Target="https://link.springer.com/article/10.1007/s11270-025-08122-8" TargetMode="External"/><Relationship Id="rId1" Type="http://schemas.openxmlformats.org/officeDocument/2006/relationships/slideLayout" Target="../slideLayouts/slideLayout1.xml"/><Relationship Id="rId6" Type="http://schemas.openxmlformats.org/officeDocument/2006/relationships/image" Target="../media/image1.jpg"/><Relationship Id="rId5" Type="http://schemas.openxmlformats.org/officeDocument/2006/relationships/hyperlink" Target="https://link.springer.com/article/10.1007/s00521-024-10850-7" TargetMode="External"/><Relationship Id="rId4" Type="http://schemas.openxmlformats.org/officeDocument/2006/relationships/hyperlink" Target="https://link.springer.com/article/10.1007/s43621-025-02059-y"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ieeexplore.ieee.org/abstract/document/11410867" TargetMode="External"/><Relationship Id="rId2" Type="http://schemas.openxmlformats.org/officeDocument/2006/relationships/hyperlink" Target="https://link.springer.com/article/10.1186/s43067-025-00242-9" TargetMode="Externa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C42E8-A2CA-7BCF-C9D6-932ADC02E27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FAE94DA-F051-0ACC-C36B-9A6354AECC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658" y="75795"/>
            <a:ext cx="1927123" cy="965915"/>
          </a:xfrm>
          <a:prstGeom prst="rect">
            <a:avLst/>
          </a:prstGeom>
          <a:noFill/>
          <a:ln>
            <a:noFill/>
          </a:ln>
        </p:spPr>
      </p:pic>
      <p:sp>
        <p:nvSpPr>
          <p:cNvPr id="2" name="TextBox 1">
            <a:extLst>
              <a:ext uri="{FF2B5EF4-FFF2-40B4-BE49-F238E27FC236}">
                <a16:creationId xmlns:a16="http://schemas.microsoft.com/office/drawing/2014/main" id="{972756E0-AF79-6BC5-5495-BA5C929B5151}"/>
              </a:ext>
            </a:extLst>
          </p:cNvPr>
          <p:cNvSpPr txBox="1"/>
          <p:nvPr/>
        </p:nvSpPr>
        <p:spPr>
          <a:xfrm>
            <a:off x="1022555" y="948690"/>
            <a:ext cx="9507793" cy="5909310"/>
          </a:xfrm>
          <a:prstGeom prst="rect">
            <a:avLst/>
          </a:prstGeom>
          <a:noFill/>
        </p:spPr>
        <p:txBody>
          <a:bodyPr wrap="square" rtlCol="0">
            <a:spAutoFit/>
          </a:bodyPr>
          <a:lstStyle/>
          <a:p>
            <a:pPr algn="ctr"/>
            <a:r>
              <a:rPr lang="en-US" sz="4000" b="1" dirty="0">
                <a:latin typeface="Times New Roman" panose="02020603050405020304" pitchFamily="18" charset="0"/>
                <a:cs typeface="Times New Roman" panose="02020603050405020304" pitchFamily="18" charset="0"/>
              </a:rPr>
              <a:t>Explainable AI-Driven Multimodal Analytics for Sustainable Smart City Decision Intelligence</a:t>
            </a:r>
          </a:p>
          <a:p>
            <a:pPr algn="ctr"/>
            <a:endParaRPr lang="en-US" sz="2000" b="1" dirty="0">
              <a:solidFill>
                <a:srgbClr val="FF0000"/>
              </a:solidFill>
              <a:latin typeface="Times New Roman" panose="02020603050405020304" pitchFamily="18" charset="0"/>
              <a:cs typeface="Times New Roman" panose="02020603050405020304" pitchFamily="18" charset="0"/>
            </a:endParaRPr>
          </a:p>
          <a:p>
            <a:pPr algn="ctr"/>
            <a:r>
              <a:rPr lang="en-US" sz="2000" b="1" dirty="0">
                <a:solidFill>
                  <a:srgbClr val="FF0000"/>
                </a:solidFill>
                <a:latin typeface="Times New Roman" panose="02020603050405020304" pitchFamily="18" charset="0"/>
                <a:cs typeface="Times New Roman" panose="02020603050405020304" pitchFamily="18" charset="0"/>
              </a:rPr>
              <a:t>Under the Guidance </a:t>
            </a:r>
          </a:p>
          <a:p>
            <a:pPr algn="ctr"/>
            <a:r>
              <a:rPr lang="en-US" sz="2000" b="1" dirty="0">
                <a:solidFill>
                  <a:srgbClr val="FF0000"/>
                </a:solidFill>
                <a:latin typeface="Times New Roman" panose="02020603050405020304" pitchFamily="18" charset="0"/>
                <a:cs typeface="Times New Roman" panose="02020603050405020304" pitchFamily="18" charset="0"/>
              </a:rPr>
              <a:t>Of</a:t>
            </a:r>
          </a:p>
          <a:p>
            <a:pPr algn="ctr"/>
            <a:r>
              <a:rPr lang="en-US" sz="2000" b="1" dirty="0">
                <a:latin typeface="Times New Roman" panose="02020603050405020304" pitchFamily="18" charset="0"/>
                <a:cs typeface="Times New Roman" panose="02020603050405020304" pitchFamily="18" charset="0"/>
              </a:rPr>
              <a:t>Dr K Swapnika</a:t>
            </a:r>
          </a:p>
          <a:p>
            <a:pPr algn="ctr"/>
            <a:endParaRPr lang="en-US" sz="2000" b="1" dirty="0">
              <a:solidFill>
                <a:srgbClr val="C00000"/>
              </a:solidFill>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Batch No: 04</a:t>
            </a:r>
          </a:p>
          <a:p>
            <a:r>
              <a:rPr lang="en-US" sz="2000" b="1" dirty="0">
                <a:latin typeface="Times New Roman" panose="02020603050405020304" pitchFamily="18" charset="0"/>
                <a:cs typeface="Times New Roman" panose="02020603050405020304" pitchFamily="18" charset="0"/>
              </a:rPr>
              <a:t>Team Members: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Pathi Sharmila-2420030042</a:t>
            </a:r>
          </a:p>
          <a:p>
            <a:r>
              <a:rPr lang="en-US" sz="2000" dirty="0">
                <a:latin typeface="Times New Roman" panose="02020603050405020304" pitchFamily="18" charset="0"/>
                <a:cs typeface="Times New Roman" panose="02020603050405020304" pitchFamily="18" charset="0"/>
              </a:rPr>
              <a:t>Lakshman Angara-2420030067</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Ivaturi Vennela-2420030185</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Vishnu Priya Kodali-2420030630</a:t>
            </a:r>
          </a:p>
          <a:p>
            <a:pPr algn="ctr"/>
            <a:endParaRPr lang="en-US" sz="2000" b="1" dirty="0">
              <a:solidFill>
                <a:srgbClr val="C00000"/>
              </a:solidFill>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2156649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89317-469B-7A7F-3351-568C811213B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2DDC9ED-64EF-E612-0B25-F736B5D8B9A0}"/>
              </a:ext>
            </a:extLst>
          </p:cNvPr>
          <p:cNvSpPr>
            <a:spLocks noGrp="1"/>
          </p:cNvSpPr>
          <p:nvPr>
            <p:ph type="subTitle" idx="1"/>
          </p:nvPr>
        </p:nvSpPr>
        <p:spPr>
          <a:xfrm>
            <a:off x="688258" y="1685355"/>
            <a:ext cx="10063811" cy="3487290"/>
          </a:xfrm>
        </p:spPr>
        <p:txBody>
          <a:bodyPr>
            <a:normAutofit/>
          </a:bodyPr>
          <a:lstStyle/>
          <a:p>
            <a:pPr algn="just"/>
            <a:r>
              <a:rPr lang="en-US" sz="2200" dirty="0">
                <a:latin typeface="Times New Roman" panose="02020603050405020304" pitchFamily="18" charset="0"/>
                <a:cs typeface="Times New Roman" panose="02020603050405020304" pitchFamily="18" charset="0"/>
              </a:rPr>
              <a:t>Rapid urbanization has created interconnected challenges such as increasing air pollution, changing weather conditions, and rising energy consumption. Existing analytical solutions often study these domains independently, making it difficult to understand their relationships and provide comprehensive insights for sustainable urban planning. Furthermore, machine learning models may provide predictions without clearly explaining the factors influencing their results. Therefore, there is a need for an integrated and explainable data analytics framework that can analyze environmental, weather, and energy-related data, generate reliable predictions, and provide understandable insights to support sustainable smart city decision-making.</a:t>
            </a:r>
          </a:p>
          <a:p>
            <a:endParaRPr lang="en-US" dirty="0"/>
          </a:p>
        </p:txBody>
      </p:sp>
      <p:sp>
        <p:nvSpPr>
          <p:cNvPr id="8" name="TextBox 7">
            <a:extLst>
              <a:ext uri="{FF2B5EF4-FFF2-40B4-BE49-F238E27FC236}">
                <a16:creationId xmlns:a16="http://schemas.microsoft.com/office/drawing/2014/main" id="{7E90662C-162E-89F4-0550-A4D9554B475F}"/>
              </a:ext>
            </a:extLst>
          </p:cNvPr>
          <p:cNvSpPr txBox="1"/>
          <p:nvPr/>
        </p:nvSpPr>
        <p:spPr>
          <a:xfrm>
            <a:off x="1784198" y="600370"/>
            <a:ext cx="8623603" cy="738664"/>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Problem Statement</a:t>
            </a:r>
            <a:endParaRPr lang="en-US" sz="24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AFFFBA5-CEF0-C234-8DC7-30AA680F90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427" y="85987"/>
            <a:ext cx="2499986" cy="1253047"/>
          </a:xfrm>
          <a:prstGeom prst="rect">
            <a:avLst/>
          </a:prstGeom>
          <a:noFill/>
          <a:ln>
            <a:noFill/>
          </a:ln>
        </p:spPr>
      </p:pic>
    </p:spTree>
    <p:extLst>
      <p:ext uri="{BB962C8B-B14F-4D97-AF65-F5344CB8AC3E}">
        <p14:creationId xmlns:p14="http://schemas.microsoft.com/office/powerpoint/2010/main" val="42551642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D3F5F-EC0E-7CB3-40C6-A99504FBFC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BB4754-F156-2FE5-AF7A-8A9B5755D6BB}"/>
              </a:ext>
            </a:extLst>
          </p:cNvPr>
          <p:cNvSpPr>
            <a:spLocks noGrp="1"/>
          </p:cNvSpPr>
          <p:nvPr>
            <p:ph type="ctrTitle"/>
          </p:nvPr>
        </p:nvSpPr>
        <p:spPr>
          <a:xfrm>
            <a:off x="1524000" y="1122363"/>
            <a:ext cx="9144000" cy="840661"/>
          </a:xfrm>
        </p:spPr>
        <p:txBody>
          <a:bodyPr>
            <a:normAutofit fontScale="90000"/>
          </a:bodyPr>
          <a:lstStyle/>
          <a:p>
            <a:br>
              <a:rPr lang="en-US" dirty="0"/>
            </a:br>
            <a:br>
              <a:rPr lang="en-US" dirty="0"/>
            </a:br>
            <a:endParaRPr lang="en-US" dirty="0"/>
          </a:p>
        </p:txBody>
      </p:sp>
      <p:sp>
        <p:nvSpPr>
          <p:cNvPr id="3" name="Subtitle 2">
            <a:extLst>
              <a:ext uri="{FF2B5EF4-FFF2-40B4-BE49-F238E27FC236}">
                <a16:creationId xmlns:a16="http://schemas.microsoft.com/office/drawing/2014/main" id="{5204F454-765D-3CF1-5CC9-4E7D3FC69138}"/>
              </a:ext>
            </a:extLst>
          </p:cNvPr>
          <p:cNvSpPr>
            <a:spLocks noGrp="1"/>
          </p:cNvSpPr>
          <p:nvPr>
            <p:ph type="subTitle" idx="1"/>
          </p:nvPr>
        </p:nvSpPr>
        <p:spPr>
          <a:xfrm>
            <a:off x="786581" y="1730477"/>
            <a:ext cx="10471354" cy="4005160"/>
          </a:xfrm>
        </p:spPr>
        <p:txBody>
          <a:bodyPr>
            <a:normAutofit/>
          </a:bodyPr>
          <a:lstStyle/>
          <a:p>
            <a:pPr marL="342900" lvl="0" indent="-34290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To develop</a:t>
            </a:r>
            <a:r>
              <a:rPr lang="en-US" sz="2000" dirty="0">
                <a:latin typeface="Times New Roman" panose="02020603050405020304" pitchFamily="18" charset="0"/>
                <a:cs typeface="Times New Roman" panose="02020603050405020304" pitchFamily="18" charset="0"/>
              </a:rPr>
              <a:t> an interactive analytics platform for analyzing air quality, weather, and energy consumption data to support sustainable smart-city decision-making. </a:t>
            </a:r>
          </a:p>
          <a:p>
            <a:pPr marL="342900" lvl="0" indent="-34290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To integrate</a:t>
            </a:r>
            <a:r>
              <a:rPr lang="en-US" sz="2000" dirty="0">
                <a:latin typeface="Times New Roman" panose="02020603050405020304" pitchFamily="18" charset="0"/>
                <a:cs typeface="Times New Roman" panose="02020603050405020304" pitchFamily="18" charset="0"/>
              </a:rPr>
              <a:t> air quality, weather, and energy consumption datasets to identify cross-domain relationships and meaningful patterns. </a:t>
            </a:r>
          </a:p>
          <a:p>
            <a:pPr marL="342900" lvl="0" indent="-34290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To enhance</a:t>
            </a:r>
            <a:r>
              <a:rPr lang="en-US" sz="2000" dirty="0">
                <a:latin typeface="Times New Roman" panose="02020603050405020304" pitchFamily="18" charset="0"/>
                <a:cs typeface="Times New Roman" panose="02020603050405020304" pitchFamily="18" charset="0"/>
              </a:rPr>
              <a:t> predictive analytics by incorporating Explainable AI (SHAP) to identify and interpret the key factors influencing environmental and energy predictions. </a:t>
            </a:r>
          </a:p>
          <a:p>
            <a:pPr marL="342900" lvl="0" indent="-34290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To evaluate</a:t>
            </a:r>
            <a:r>
              <a:rPr lang="en-US" sz="2000" dirty="0">
                <a:latin typeface="Times New Roman" panose="02020603050405020304" pitchFamily="18" charset="0"/>
                <a:cs typeface="Times New Roman" panose="02020603050405020304" pitchFamily="18" charset="0"/>
              </a:rPr>
              <a:t> and compare machine-learning models for environmental and energy prediction using appropriate performance metrics and identify the most effective models.</a:t>
            </a:r>
          </a:p>
        </p:txBody>
      </p:sp>
      <p:sp>
        <p:nvSpPr>
          <p:cNvPr id="4" name="TextBox 3">
            <a:extLst>
              <a:ext uri="{FF2B5EF4-FFF2-40B4-BE49-F238E27FC236}">
                <a16:creationId xmlns:a16="http://schemas.microsoft.com/office/drawing/2014/main" id="{84DA35B9-FC1E-4F8E-6302-E767BBCDF86A}"/>
              </a:ext>
            </a:extLst>
          </p:cNvPr>
          <p:cNvSpPr txBox="1"/>
          <p:nvPr/>
        </p:nvSpPr>
        <p:spPr>
          <a:xfrm>
            <a:off x="1763132" y="549956"/>
            <a:ext cx="8236521" cy="738664"/>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Objectives</a:t>
            </a:r>
          </a:p>
          <a:p>
            <a:endParaRPr lang="en-US" dirty="0"/>
          </a:p>
        </p:txBody>
      </p:sp>
      <p:pic>
        <p:nvPicPr>
          <p:cNvPr id="6" name="Picture 5">
            <a:extLst>
              <a:ext uri="{FF2B5EF4-FFF2-40B4-BE49-F238E27FC236}">
                <a16:creationId xmlns:a16="http://schemas.microsoft.com/office/drawing/2014/main" id="{72CFD634-F1E5-191F-33A1-7FBC9AE822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1761" y="238648"/>
            <a:ext cx="2499986" cy="1253047"/>
          </a:xfrm>
          <a:prstGeom prst="rect">
            <a:avLst/>
          </a:prstGeom>
          <a:noFill/>
          <a:ln>
            <a:noFill/>
          </a:ln>
        </p:spPr>
      </p:pic>
    </p:spTree>
    <p:extLst>
      <p:ext uri="{BB962C8B-B14F-4D97-AF65-F5344CB8AC3E}">
        <p14:creationId xmlns:p14="http://schemas.microsoft.com/office/powerpoint/2010/main" val="35149411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5AE12-5E97-FBAC-EB8E-37C1F4430DE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0B0074A4-18B7-A34D-F115-DDF54EDFAE54}"/>
              </a:ext>
            </a:extLst>
          </p:cNvPr>
          <p:cNvSpPr>
            <a:spLocks noGrp="1"/>
          </p:cNvSpPr>
          <p:nvPr>
            <p:ph type="subTitle" idx="1"/>
          </p:nvPr>
        </p:nvSpPr>
        <p:spPr>
          <a:xfrm>
            <a:off x="1193075" y="1770510"/>
            <a:ext cx="9519666" cy="4630290"/>
          </a:xfrm>
        </p:spPr>
        <p:txBody>
          <a:bodyPr>
            <a:normAutofit lnSpcReduction="10000"/>
          </a:bodyPr>
          <a:lstStyle/>
          <a:p>
            <a:pPr marL="285750" lvl="0" indent="-285750" algn="just">
              <a:buFont typeface="Arial" panose="020B0604020202020204" pitchFamily="34" charset="0"/>
              <a:buChar char="•"/>
            </a:pPr>
            <a:r>
              <a:rPr lang="en-US" sz="1500" b="1" dirty="0">
                <a:latin typeface="Times New Roman" panose="02020603050405020304" pitchFamily="18" charset="0"/>
                <a:cs typeface="Times New Roman" panose="02020603050405020304" pitchFamily="18" charset="0"/>
              </a:rPr>
              <a:t>Interpretable Machine Learning Framework for Air Quality Prediction in Istanbul using SHAP (2026)</a:t>
            </a:r>
            <a:endParaRPr lang="en-US" sz="1500" dirty="0">
              <a:latin typeface="Times New Roman" panose="02020603050405020304" pitchFamily="18" charset="0"/>
              <a:cs typeface="Times New Roman" panose="02020603050405020304" pitchFamily="18" charset="0"/>
            </a:endParaRPr>
          </a:p>
          <a:p>
            <a:pPr algn="just"/>
            <a:r>
              <a:rPr lang="en-US" sz="1500" dirty="0">
                <a:latin typeface="Times New Roman" panose="02020603050405020304" pitchFamily="18" charset="0"/>
                <a:cs typeface="Times New Roman" panose="02020603050405020304" pitchFamily="18" charset="0"/>
              </a:rPr>
              <a:t>Develops ML models for predicting major air pollutants and uses SHAP to identify how meteorological and pollutant variables influence predictions.</a:t>
            </a:r>
          </a:p>
          <a:p>
            <a:pPr algn="just"/>
            <a:r>
              <a:rPr lang="en-US" sz="1500" u="sng" dirty="0">
                <a:latin typeface="Times New Roman" panose="02020603050405020304" pitchFamily="18" charset="0"/>
                <a:cs typeface="Times New Roman" panose="02020603050405020304" pitchFamily="18" charset="0"/>
                <a:hlinkClick r:id="rId2"/>
              </a:rPr>
              <a:t>https://link.springer.com/article/10.1007/s00477-026-03168-4</a:t>
            </a:r>
            <a:endParaRPr lang="en-US" sz="1500" dirty="0">
              <a:latin typeface="Times New Roman" panose="02020603050405020304" pitchFamily="18" charset="0"/>
              <a:cs typeface="Times New Roman" panose="02020603050405020304" pitchFamily="18" charset="0"/>
            </a:endParaRPr>
          </a:p>
          <a:p>
            <a:pPr marL="285750" lvl="0" indent="-285750" algn="just">
              <a:buFont typeface="Arial" panose="020B0604020202020204" pitchFamily="34" charset="0"/>
              <a:buChar char="•"/>
            </a:pPr>
            <a:r>
              <a:rPr lang="en-US" sz="1500" b="1" dirty="0">
                <a:latin typeface="Times New Roman" panose="02020603050405020304" pitchFamily="18" charset="0"/>
                <a:cs typeface="Times New Roman" panose="02020603050405020304" pitchFamily="18" charset="0"/>
              </a:rPr>
              <a:t>Deep Learning-Based AQI Forecasting: A CNN-LSTM Model with Visual insights from  SHAP-LIME and  PDP (2025)</a:t>
            </a:r>
            <a:endParaRPr lang="en-US" sz="1500" dirty="0">
              <a:latin typeface="Times New Roman" panose="02020603050405020304" pitchFamily="18" charset="0"/>
              <a:cs typeface="Times New Roman" panose="02020603050405020304" pitchFamily="18" charset="0"/>
            </a:endParaRPr>
          </a:p>
          <a:p>
            <a:pPr algn="just"/>
            <a:r>
              <a:rPr lang="en-US" sz="1500" dirty="0">
                <a:latin typeface="Times New Roman" panose="02020603050405020304" pitchFamily="18" charset="0"/>
                <a:cs typeface="Times New Roman" panose="02020603050405020304" pitchFamily="18" charset="0"/>
              </a:rPr>
              <a:t>Uses a CNN-LSTM model for AQI forecasting and applies SHAP, LIME, and PDP to explain the factors affecting predictions. </a:t>
            </a:r>
          </a:p>
          <a:p>
            <a:pPr algn="just"/>
            <a:r>
              <a:rPr lang="en-US" sz="1500" u="sng" dirty="0">
                <a:latin typeface="Times New Roman" panose="02020603050405020304" pitchFamily="18" charset="0"/>
                <a:cs typeface="Times New Roman" panose="02020603050405020304" pitchFamily="18" charset="0"/>
                <a:hlinkClick r:id="rId3"/>
              </a:rPr>
              <a:t>https://link.springer.com/article/10.1007/s42452-025-07845-x</a:t>
            </a:r>
            <a:endParaRPr lang="en-US" sz="1500" dirty="0">
              <a:latin typeface="Times New Roman" panose="02020603050405020304" pitchFamily="18" charset="0"/>
              <a:cs typeface="Times New Roman" panose="02020603050405020304" pitchFamily="18" charset="0"/>
            </a:endParaRPr>
          </a:p>
          <a:p>
            <a:pPr marL="285750" lvl="0" indent="-285750" algn="just">
              <a:buFont typeface="Arial" panose="020B0604020202020204" pitchFamily="34" charset="0"/>
              <a:buChar char="•"/>
            </a:pPr>
            <a:r>
              <a:rPr lang="en-US" sz="1500" b="1" dirty="0">
                <a:latin typeface="Times New Roman" panose="02020603050405020304" pitchFamily="18" charset="0"/>
                <a:cs typeface="Times New Roman" panose="02020603050405020304" pitchFamily="18" charset="0"/>
              </a:rPr>
              <a:t>Scalable AI-Driven Air Quality Forecasting and Classification for Public Health Applications (2025)</a:t>
            </a:r>
            <a:endParaRPr lang="en-US" sz="1500" dirty="0">
              <a:latin typeface="Times New Roman" panose="02020603050405020304" pitchFamily="18" charset="0"/>
              <a:cs typeface="Times New Roman" panose="02020603050405020304" pitchFamily="18" charset="0"/>
            </a:endParaRPr>
          </a:p>
          <a:p>
            <a:pPr algn="just"/>
            <a:r>
              <a:rPr lang="en-US" sz="1500" dirty="0">
                <a:latin typeface="Times New Roman" panose="02020603050405020304" pitchFamily="18" charset="0"/>
                <a:cs typeface="Times New Roman" panose="02020603050405020304" pitchFamily="18" charset="0"/>
              </a:rPr>
              <a:t>Combines ML/DL models with meteorological data for air-quality forecasting and uses SHAP and LIME to provide interpretable results.</a:t>
            </a:r>
          </a:p>
          <a:p>
            <a:pPr algn="just"/>
            <a:r>
              <a:rPr lang="en-US" sz="1500" u="sng" dirty="0">
                <a:latin typeface="Times New Roman" panose="02020603050405020304" pitchFamily="18" charset="0"/>
                <a:cs typeface="Times New Roman" panose="02020603050405020304" pitchFamily="18" charset="0"/>
                <a:hlinkClick r:id="rId4"/>
              </a:rPr>
              <a:t>https://link.springer.com/article/10.1007/s44292-025-00052-8</a:t>
            </a:r>
          </a:p>
          <a:p>
            <a:pPr marL="285750" lvl="0" indent="-285750" algn="just">
              <a:buFont typeface="Arial" panose="020B0604020202020204" pitchFamily="34" charset="0"/>
              <a:buChar char="•"/>
            </a:pPr>
            <a:r>
              <a:rPr lang="en-US" sz="1500" b="1" dirty="0">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 </a:t>
            </a:r>
            <a:r>
              <a:rPr lang="en-US" sz="1500" b="1" dirty="0">
                <a:latin typeface="Times New Roman" panose="02020603050405020304" pitchFamily="18" charset="0"/>
                <a:cs typeface="Times New Roman" panose="02020603050405020304" pitchFamily="18" charset="0"/>
              </a:rPr>
              <a:t>Machine Learning Model for Predicting Long-Term Energy Consumption in Buildings (2025)</a:t>
            </a:r>
          </a:p>
          <a:p>
            <a:pPr algn="just"/>
            <a:r>
              <a:rPr lang="en-US" sz="1500" dirty="0">
                <a:latin typeface="Times New Roman" panose="02020603050405020304" pitchFamily="18" charset="0"/>
                <a:cs typeface="Times New Roman" panose="02020603050405020304" pitchFamily="18" charset="0"/>
              </a:rPr>
              <a:t>Compares XGBoost, SVR, and LSTM models for predicting long-term building energy consumption and evaluates their forecasting performance. </a:t>
            </a:r>
          </a:p>
          <a:p>
            <a:pPr algn="just"/>
            <a:r>
              <a:rPr lang="en-US" sz="1500" u="sng" dirty="0">
                <a:latin typeface="Times New Roman" panose="02020603050405020304" pitchFamily="18" charset="0"/>
                <a:cs typeface="Times New Roman" panose="02020603050405020304" pitchFamily="18" charset="0"/>
                <a:hlinkClick r:id="rId5"/>
              </a:rPr>
              <a:t>https://link.springer.com/article/10.1007/s43926-025-00115-7</a:t>
            </a:r>
            <a:endParaRPr lang="en-US" sz="1500" dirty="0">
              <a:latin typeface="Times New Roman" panose="02020603050405020304" pitchFamily="18" charset="0"/>
              <a:cs typeface="Times New Roman" panose="02020603050405020304" pitchFamily="18" charset="0"/>
            </a:endParaRPr>
          </a:p>
          <a:p>
            <a:pPr algn="just"/>
            <a:endParaRPr lang="en-US" sz="1500" dirty="0">
              <a:latin typeface="Times New Roman" panose="02020603050405020304" pitchFamily="18" charset="0"/>
              <a:cs typeface="Times New Roman" panose="02020603050405020304" pitchFamily="18" charset="0"/>
            </a:endParaRPr>
          </a:p>
          <a:p>
            <a:pPr algn="just"/>
            <a:endParaRPr lang="en-US" sz="1500" u="sng"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E5C4B3B6-BE02-91AF-051C-A083A4AC8598}"/>
              </a:ext>
            </a:extLst>
          </p:cNvPr>
          <p:cNvSpPr txBox="1"/>
          <p:nvPr/>
        </p:nvSpPr>
        <p:spPr>
          <a:xfrm>
            <a:off x="1770077" y="1097280"/>
            <a:ext cx="8623603"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Literature Survey</a:t>
            </a:r>
          </a:p>
        </p:txBody>
      </p:sp>
      <p:pic>
        <p:nvPicPr>
          <p:cNvPr id="4" name="Picture 3">
            <a:extLst>
              <a:ext uri="{FF2B5EF4-FFF2-40B4-BE49-F238E27FC236}">
                <a16:creationId xmlns:a16="http://schemas.microsoft.com/office/drawing/2014/main" id="{1B5DF0AA-59B8-998F-F67A-00A9A7F31AC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1427" y="85987"/>
            <a:ext cx="2499986" cy="1253047"/>
          </a:xfrm>
          <a:prstGeom prst="rect">
            <a:avLst/>
          </a:prstGeom>
          <a:noFill/>
          <a:ln>
            <a:noFill/>
          </a:ln>
        </p:spPr>
      </p:pic>
    </p:spTree>
    <p:extLst>
      <p:ext uri="{BB962C8B-B14F-4D97-AF65-F5344CB8AC3E}">
        <p14:creationId xmlns:p14="http://schemas.microsoft.com/office/powerpoint/2010/main" val="26975434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D0F43-625B-FCEE-008B-C99593BBF5C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6055EA25-B83D-E707-23FB-CE91606EE89E}"/>
              </a:ext>
            </a:extLst>
          </p:cNvPr>
          <p:cNvSpPr>
            <a:spLocks noGrp="1"/>
          </p:cNvSpPr>
          <p:nvPr>
            <p:ph type="subTitle" idx="1"/>
          </p:nvPr>
        </p:nvSpPr>
        <p:spPr>
          <a:xfrm>
            <a:off x="1193075" y="1770510"/>
            <a:ext cx="9519666" cy="4630290"/>
          </a:xfrm>
        </p:spPr>
        <p:txBody>
          <a:bodyPr>
            <a:normAutofit fontScale="70000" lnSpcReduction="20000"/>
          </a:bodyPr>
          <a:lstStyle/>
          <a:p>
            <a:pPr marL="342900" lvl="0" indent="-342900" algn="just">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Air Quality Forecasting Using Machine Learning: Comparative Analysis and Ensemble Strategies for Enhanced Prediction (2025)</a:t>
            </a:r>
            <a:endParaRPr lang="en-US" sz="2100" dirty="0">
              <a:latin typeface="Times New Roman" panose="02020603050405020304" pitchFamily="18" charset="0"/>
              <a:cs typeface="Times New Roman" panose="02020603050405020304" pitchFamily="18" charset="0"/>
            </a:endParaRPr>
          </a:p>
          <a:p>
            <a:pPr algn="just"/>
            <a:r>
              <a:rPr lang="en-US" sz="2100" dirty="0">
                <a:latin typeface="Times New Roman" panose="02020603050405020304" pitchFamily="18" charset="0"/>
                <a:cs typeface="Times New Roman" panose="02020603050405020304" pitchFamily="18" charset="0"/>
              </a:rPr>
              <a:t>Compares multiple machine-learning models, including XGBoost, Random Forest, CatBoost, and LightGBM, for improved air-quality prediction. </a:t>
            </a:r>
          </a:p>
          <a:p>
            <a:pPr algn="just"/>
            <a:r>
              <a:rPr lang="en-US" sz="2100" u="sng" dirty="0">
                <a:latin typeface="Times New Roman" panose="02020603050405020304" pitchFamily="18" charset="0"/>
                <a:cs typeface="Times New Roman" panose="02020603050405020304" pitchFamily="18" charset="0"/>
                <a:hlinkClick r:id="rId2"/>
              </a:rPr>
              <a:t>https://link.springer.com/article/10.1007/s11270-025-08122-8</a:t>
            </a:r>
            <a:endParaRPr lang="en-US" sz="2100" dirty="0">
              <a:latin typeface="Times New Roman" panose="02020603050405020304" pitchFamily="18" charset="0"/>
              <a:cs typeface="Times New Roman" panose="02020603050405020304" pitchFamily="18" charset="0"/>
            </a:endParaRPr>
          </a:p>
          <a:p>
            <a:pPr marL="342900" lvl="0" indent="-342900" algn="just">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Comprehensive Evaluation of Machine Learning Models for Real-World Air Quality Prediction and Health Risk Assessment by AirQ+ (2025)</a:t>
            </a:r>
            <a:endParaRPr lang="en-US" sz="2100" dirty="0">
              <a:latin typeface="Times New Roman" panose="02020603050405020304" pitchFamily="18" charset="0"/>
              <a:cs typeface="Times New Roman" panose="02020603050405020304" pitchFamily="18" charset="0"/>
            </a:endParaRPr>
          </a:p>
          <a:p>
            <a:pPr algn="just"/>
            <a:r>
              <a:rPr lang="en-US" sz="2100" dirty="0">
                <a:latin typeface="Times New Roman" panose="02020603050405020304" pitchFamily="18" charset="0"/>
                <a:cs typeface="Times New Roman" panose="02020603050405020304" pitchFamily="18" charset="0"/>
              </a:rPr>
              <a:t>Evaluates different ML models for particulate-matter prediction using pollutant and meteorological variables, with applications to health-risk assessment. </a:t>
            </a:r>
          </a:p>
          <a:p>
            <a:pPr algn="just"/>
            <a:r>
              <a:rPr lang="en-US" sz="2100" u="sng" dirty="0">
                <a:latin typeface="Times New Roman" panose="02020603050405020304" pitchFamily="18" charset="0"/>
                <a:cs typeface="Times New Roman" panose="02020603050405020304" pitchFamily="18" charset="0"/>
                <a:hlinkClick r:id="rId3"/>
              </a:rPr>
              <a:t>https://link.springer.com/article/10.1007/s12145-025-01941-7</a:t>
            </a:r>
            <a:endParaRPr lang="en-US" sz="2100" dirty="0">
              <a:latin typeface="Times New Roman" panose="02020603050405020304" pitchFamily="18" charset="0"/>
              <a:cs typeface="Times New Roman" panose="02020603050405020304" pitchFamily="18" charset="0"/>
            </a:endParaRPr>
          </a:p>
          <a:p>
            <a:pPr marL="342900" lvl="0" indent="-342900" algn="just">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Smart Cities, Hot Cities: ML-Based Forecasting of Urban Heat Patterns (2025)</a:t>
            </a:r>
            <a:endParaRPr lang="en-US" sz="2100" dirty="0">
              <a:latin typeface="Times New Roman" panose="02020603050405020304" pitchFamily="18" charset="0"/>
              <a:cs typeface="Times New Roman" panose="02020603050405020304" pitchFamily="18" charset="0"/>
            </a:endParaRPr>
          </a:p>
          <a:p>
            <a:pPr algn="just"/>
            <a:r>
              <a:rPr lang="en-US" sz="2100" dirty="0">
                <a:latin typeface="Times New Roman" panose="02020603050405020304" pitchFamily="18" charset="0"/>
                <a:cs typeface="Times New Roman" panose="02020603050405020304" pitchFamily="18" charset="0"/>
              </a:rPr>
              <a:t>Applies machine learning to forecast urban temperature patterns and uses SHAP to explain the influence of climatic and temporal factors. </a:t>
            </a:r>
          </a:p>
          <a:p>
            <a:pPr algn="just"/>
            <a:r>
              <a:rPr lang="en-US" sz="2100" u="sng" dirty="0">
                <a:latin typeface="Times New Roman" panose="02020603050405020304" pitchFamily="18" charset="0"/>
                <a:cs typeface="Times New Roman" panose="02020603050405020304" pitchFamily="18" charset="0"/>
                <a:hlinkClick r:id="rId4"/>
              </a:rPr>
              <a:t>https://link.springer.com/article/10.1007/s43621-025-02059-y</a:t>
            </a:r>
            <a:endParaRPr lang="en-US" sz="2100" dirty="0">
              <a:latin typeface="Times New Roman" panose="02020603050405020304" pitchFamily="18" charset="0"/>
              <a:cs typeface="Times New Roman" panose="02020603050405020304" pitchFamily="18" charset="0"/>
            </a:endParaRPr>
          </a:p>
          <a:p>
            <a:pPr marL="342900" lvl="0" indent="-342900" algn="just">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Explainable Energy Consumption and Speed Prediction in Sustainable Cities Using Deep Learning (2025)</a:t>
            </a:r>
            <a:endParaRPr lang="en-US" sz="2100" dirty="0">
              <a:latin typeface="Times New Roman" panose="02020603050405020304" pitchFamily="18" charset="0"/>
              <a:cs typeface="Times New Roman" panose="02020603050405020304" pitchFamily="18" charset="0"/>
            </a:endParaRPr>
          </a:p>
          <a:p>
            <a:pPr algn="just"/>
            <a:r>
              <a:rPr lang="en-US" sz="2100" dirty="0">
                <a:latin typeface="Times New Roman" panose="02020603050405020304" pitchFamily="18" charset="0"/>
                <a:cs typeface="Times New Roman" panose="02020603050405020304" pitchFamily="18" charset="0"/>
              </a:rPr>
              <a:t>Uses deep-learning techniques to predict energy consumption and incorporates Explainable AI to interpret the model's predictions. </a:t>
            </a:r>
          </a:p>
          <a:p>
            <a:pPr algn="just"/>
            <a:r>
              <a:rPr lang="en-US" sz="2100" u="sng" dirty="0">
                <a:latin typeface="Times New Roman" panose="02020603050405020304" pitchFamily="18" charset="0"/>
                <a:cs typeface="Times New Roman" panose="02020603050405020304" pitchFamily="18" charset="0"/>
                <a:hlinkClick r:id="rId5"/>
              </a:rPr>
              <a:t>https://link.springer.com/article/10.1007/s00521-024-10850-7</a:t>
            </a:r>
            <a:endParaRPr lang="en-US" sz="2100" u="sng" dirty="0">
              <a:latin typeface="Times New Roman" panose="02020603050405020304" pitchFamily="18" charset="0"/>
              <a:cs typeface="Times New Roman" panose="02020603050405020304" pitchFamily="18" charset="0"/>
            </a:endParaRPr>
          </a:p>
          <a:p>
            <a:endParaRPr lang="en-US" sz="2100" dirty="0">
              <a:latin typeface="Times New Roman" panose="02020603050405020304" pitchFamily="18" charset="0"/>
              <a:cs typeface="Times New Roman" panose="02020603050405020304" pitchFamily="18" charset="0"/>
            </a:endParaRPr>
          </a:p>
          <a:p>
            <a:pPr algn="l"/>
            <a:endParaRPr lang="en-US" dirty="0"/>
          </a:p>
        </p:txBody>
      </p:sp>
      <p:sp>
        <p:nvSpPr>
          <p:cNvPr id="8" name="TextBox 7">
            <a:extLst>
              <a:ext uri="{FF2B5EF4-FFF2-40B4-BE49-F238E27FC236}">
                <a16:creationId xmlns:a16="http://schemas.microsoft.com/office/drawing/2014/main" id="{44D0F73B-5DAD-18B4-50B5-6B1DB4305910}"/>
              </a:ext>
            </a:extLst>
          </p:cNvPr>
          <p:cNvSpPr txBox="1"/>
          <p:nvPr/>
        </p:nvSpPr>
        <p:spPr>
          <a:xfrm>
            <a:off x="1770077" y="1097280"/>
            <a:ext cx="8623603"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Literature Survey</a:t>
            </a:r>
          </a:p>
        </p:txBody>
      </p:sp>
      <p:pic>
        <p:nvPicPr>
          <p:cNvPr id="4" name="Picture 3">
            <a:extLst>
              <a:ext uri="{FF2B5EF4-FFF2-40B4-BE49-F238E27FC236}">
                <a16:creationId xmlns:a16="http://schemas.microsoft.com/office/drawing/2014/main" id="{414FA273-4AD1-2E34-2FE5-B865645F3D2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1427" y="85987"/>
            <a:ext cx="2499986" cy="1253047"/>
          </a:xfrm>
          <a:prstGeom prst="rect">
            <a:avLst/>
          </a:prstGeom>
          <a:noFill/>
          <a:ln>
            <a:noFill/>
          </a:ln>
        </p:spPr>
      </p:pic>
    </p:spTree>
    <p:extLst>
      <p:ext uri="{BB962C8B-B14F-4D97-AF65-F5344CB8AC3E}">
        <p14:creationId xmlns:p14="http://schemas.microsoft.com/office/powerpoint/2010/main" val="34586233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062F0-38D8-0AED-D636-7559B2BE2DFC}"/>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B0B93A7-4AAA-2A1F-3F0C-4BB582B18366}"/>
              </a:ext>
            </a:extLst>
          </p:cNvPr>
          <p:cNvSpPr>
            <a:spLocks noGrp="1"/>
          </p:cNvSpPr>
          <p:nvPr>
            <p:ph type="subTitle" idx="1"/>
          </p:nvPr>
        </p:nvSpPr>
        <p:spPr>
          <a:xfrm>
            <a:off x="1193075" y="1770510"/>
            <a:ext cx="9519666" cy="4630290"/>
          </a:xfrm>
        </p:spPr>
        <p:txBody>
          <a:bodyPr>
            <a:normAutofit/>
          </a:bodyPr>
          <a:lstStyle/>
          <a:p>
            <a:pPr marL="285750" lvl="0" indent="-285750" algn="just">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A Machine Learning-Powered Energy Consumption Prediction System with API (2025)</a:t>
            </a:r>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Develops an ML-based energy prediction system with an API, demonstrating how predictive models can be integrated into practical applications. </a:t>
            </a:r>
          </a:p>
          <a:p>
            <a:pPr algn="just"/>
            <a:r>
              <a:rPr lang="en-US" sz="1800" u="sng" dirty="0">
                <a:latin typeface="Times New Roman" panose="02020603050405020304" pitchFamily="18" charset="0"/>
                <a:cs typeface="Times New Roman" panose="02020603050405020304" pitchFamily="18" charset="0"/>
                <a:hlinkClick r:id="rId2"/>
              </a:rPr>
              <a:t>https://link.springer.com/article/10.1186/s43067-025-00242-9</a:t>
            </a:r>
            <a:endParaRPr lang="en-US" sz="1800" dirty="0">
              <a:latin typeface="Times New Roman" panose="02020603050405020304" pitchFamily="18" charset="0"/>
              <a:cs typeface="Times New Roman" panose="02020603050405020304" pitchFamily="18" charset="0"/>
            </a:endParaRPr>
          </a:p>
          <a:p>
            <a:pPr marL="285750" lvl="0" indent="-285750" algn="just">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 State-of-the-Art and Emerging Trends in Deep Learning for Air Quality Forecasting and Health Impact Modeling (2025)</a:t>
            </a:r>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Reviews recent deep-learning approaches for air-quality forecasting and examines emerging technologies for environmental and health-impact monitoring.</a:t>
            </a:r>
          </a:p>
          <a:p>
            <a:pPr algn="just"/>
            <a:r>
              <a:rPr lang="en-US" sz="1800" u="sng" dirty="0">
                <a:latin typeface="Times New Roman" panose="02020603050405020304" pitchFamily="18" charset="0"/>
                <a:cs typeface="Times New Roman" panose="02020603050405020304" pitchFamily="18" charset="0"/>
                <a:hlinkClick r:id="rId3"/>
              </a:rPr>
              <a:t>https://ieeexplore.ieee.org/abstract/document/11410867</a:t>
            </a:r>
            <a:endParaRPr lang="en-US" sz="1800" dirty="0">
              <a:latin typeface="Times New Roman" panose="02020603050405020304" pitchFamily="18" charset="0"/>
              <a:cs typeface="Times New Roman" panose="02020603050405020304" pitchFamily="18" charset="0"/>
            </a:endParaRPr>
          </a:p>
          <a:p>
            <a:endParaRPr lang="en-US" sz="2100" dirty="0">
              <a:latin typeface="Times New Roman" panose="02020603050405020304" pitchFamily="18" charset="0"/>
              <a:cs typeface="Times New Roman" panose="02020603050405020304" pitchFamily="18" charset="0"/>
            </a:endParaRPr>
          </a:p>
          <a:p>
            <a:pPr algn="l"/>
            <a:endParaRPr lang="en-US" dirty="0"/>
          </a:p>
        </p:txBody>
      </p:sp>
      <p:sp>
        <p:nvSpPr>
          <p:cNvPr id="8" name="TextBox 7">
            <a:extLst>
              <a:ext uri="{FF2B5EF4-FFF2-40B4-BE49-F238E27FC236}">
                <a16:creationId xmlns:a16="http://schemas.microsoft.com/office/drawing/2014/main" id="{A4CDAC96-215C-8DB3-3719-90D242276872}"/>
              </a:ext>
            </a:extLst>
          </p:cNvPr>
          <p:cNvSpPr txBox="1"/>
          <p:nvPr/>
        </p:nvSpPr>
        <p:spPr>
          <a:xfrm>
            <a:off x="1770077" y="1097280"/>
            <a:ext cx="8623603"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Literature Survey</a:t>
            </a:r>
          </a:p>
        </p:txBody>
      </p:sp>
      <p:pic>
        <p:nvPicPr>
          <p:cNvPr id="4" name="Picture 3">
            <a:extLst>
              <a:ext uri="{FF2B5EF4-FFF2-40B4-BE49-F238E27FC236}">
                <a16:creationId xmlns:a16="http://schemas.microsoft.com/office/drawing/2014/main" id="{E6FE8D7F-9F02-1261-D310-347136AFCEA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1427" y="85987"/>
            <a:ext cx="2499986" cy="1253047"/>
          </a:xfrm>
          <a:prstGeom prst="rect">
            <a:avLst/>
          </a:prstGeom>
          <a:noFill/>
          <a:ln>
            <a:noFill/>
          </a:ln>
        </p:spPr>
      </p:pic>
    </p:spTree>
    <p:extLst>
      <p:ext uri="{BB962C8B-B14F-4D97-AF65-F5344CB8AC3E}">
        <p14:creationId xmlns:p14="http://schemas.microsoft.com/office/powerpoint/2010/main" val="833519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0977B-485B-B58F-AEFC-8052FA45E5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A61018-3152-1A54-5F21-799AB9E66677}"/>
              </a:ext>
            </a:extLst>
          </p:cNvPr>
          <p:cNvSpPr>
            <a:spLocks noGrp="1"/>
          </p:cNvSpPr>
          <p:nvPr>
            <p:ph type="ctrTitle"/>
          </p:nvPr>
        </p:nvSpPr>
        <p:spPr>
          <a:xfrm>
            <a:off x="1524000" y="1122363"/>
            <a:ext cx="9144000" cy="840661"/>
          </a:xfrm>
        </p:spPr>
        <p:txBody>
          <a:bodyPr>
            <a:normAutofit fontScale="90000"/>
          </a:bodyPr>
          <a:lstStyle/>
          <a:p>
            <a:br>
              <a:rPr lang="en-US" dirty="0"/>
            </a:br>
            <a:br>
              <a:rPr lang="en-US" dirty="0"/>
            </a:br>
            <a:endParaRPr lang="en-US" dirty="0"/>
          </a:p>
        </p:txBody>
      </p:sp>
      <p:sp>
        <p:nvSpPr>
          <p:cNvPr id="3" name="Subtitle 2">
            <a:extLst>
              <a:ext uri="{FF2B5EF4-FFF2-40B4-BE49-F238E27FC236}">
                <a16:creationId xmlns:a16="http://schemas.microsoft.com/office/drawing/2014/main" id="{6397B608-763A-9386-ACC0-0D7F301F0CEA}"/>
              </a:ext>
            </a:extLst>
          </p:cNvPr>
          <p:cNvSpPr>
            <a:spLocks noGrp="1"/>
          </p:cNvSpPr>
          <p:nvPr>
            <p:ph type="subTitle" idx="1"/>
          </p:nvPr>
        </p:nvSpPr>
        <p:spPr>
          <a:xfrm>
            <a:off x="1524000" y="1861027"/>
            <a:ext cx="9144000" cy="3396773"/>
          </a:xfrm>
        </p:spPr>
        <p:txBody>
          <a:bodyPr>
            <a:normAutofit fontScale="25000" lnSpcReduction="20000"/>
          </a:bodyPr>
          <a:lstStyle/>
          <a:p>
            <a:pPr marL="342900" indent="-342900" algn="just">
              <a:lnSpc>
                <a:spcPct val="110000"/>
              </a:lnSpc>
              <a:buFont typeface="Arial" panose="020B0604020202020204" pitchFamily="34" charset="0"/>
              <a:buChar char="•"/>
            </a:pPr>
            <a:r>
              <a:rPr lang="en-US" sz="7200" b="1" dirty="0">
                <a:latin typeface="Times New Roman" panose="02020603050405020304" pitchFamily="18" charset="0"/>
                <a:cs typeface="Times New Roman" panose="02020603050405020304" pitchFamily="18" charset="0"/>
              </a:rPr>
              <a:t>Limited Multi-Domain Integration: </a:t>
            </a:r>
            <a:r>
              <a:rPr lang="en-US" sz="7200" dirty="0">
                <a:latin typeface="Times New Roman" panose="02020603050405020304" pitchFamily="18" charset="0"/>
                <a:cs typeface="Times New Roman" panose="02020603050405020304" pitchFamily="18" charset="0"/>
              </a:rPr>
              <a:t>Existing studies mainly focus on individual domains such as air quality, weather/climate, or energy consumption rather than analyzing them together. </a:t>
            </a:r>
          </a:p>
          <a:p>
            <a:pPr marL="342900" indent="-342900" algn="just">
              <a:lnSpc>
                <a:spcPct val="110000"/>
              </a:lnSpc>
              <a:buFont typeface="Arial" panose="020B0604020202020204" pitchFamily="34" charset="0"/>
              <a:buChar char="•"/>
            </a:pPr>
            <a:r>
              <a:rPr lang="en-US" sz="7200" b="1" dirty="0">
                <a:latin typeface="Times New Roman" panose="02020603050405020304" pitchFamily="18" charset="0"/>
                <a:cs typeface="Times New Roman" panose="02020603050405020304" pitchFamily="18" charset="0"/>
              </a:rPr>
              <a:t>Limited Cross-Domain Insights: </a:t>
            </a:r>
            <a:r>
              <a:rPr lang="en-US" sz="7200" dirty="0">
                <a:latin typeface="Times New Roman" panose="02020603050405020304" pitchFamily="18" charset="0"/>
                <a:cs typeface="Times New Roman" panose="02020603050405020304" pitchFamily="18" charset="0"/>
              </a:rPr>
              <a:t>Relationships between environmental conditions, weather factors, and energy consumption are not sufficiently explored within a unified analytical framework. </a:t>
            </a:r>
          </a:p>
          <a:p>
            <a:pPr marL="342900" indent="-342900" algn="just">
              <a:lnSpc>
                <a:spcPct val="110000"/>
              </a:lnSpc>
              <a:buFont typeface="Arial" panose="020B0604020202020204" pitchFamily="34" charset="0"/>
              <a:buChar char="•"/>
            </a:pPr>
            <a:r>
              <a:rPr lang="en-US" sz="7200" b="1" dirty="0">
                <a:latin typeface="Times New Roman" panose="02020603050405020304" pitchFamily="18" charset="0"/>
                <a:cs typeface="Times New Roman" panose="02020603050405020304" pitchFamily="18" charset="0"/>
              </a:rPr>
              <a:t>Limited Explainability Across Domains:</a:t>
            </a:r>
            <a:r>
              <a:rPr lang="en-US" sz="7200" dirty="0">
                <a:latin typeface="Times New Roman" panose="02020603050405020304" pitchFamily="18" charset="0"/>
                <a:cs typeface="Times New Roman" panose="02020603050405020304" pitchFamily="18" charset="0"/>
              </a:rPr>
              <a:t> Although SHAP and other XAI techniques are used in individual prediction tasks, their use across an integrated multi-domain framework is less explored. </a:t>
            </a:r>
          </a:p>
          <a:p>
            <a:pPr marL="342900" indent="-342900" algn="just">
              <a:lnSpc>
                <a:spcPct val="110000"/>
              </a:lnSpc>
              <a:buFont typeface="Arial" panose="020B0604020202020204" pitchFamily="34" charset="0"/>
              <a:buChar char="•"/>
            </a:pPr>
            <a:r>
              <a:rPr lang="en-US" sz="7200" b="1" dirty="0">
                <a:latin typeface="Times New Roman" panose="02020603050405020304" pitchFamily="18" charset="0"/>
                <a:cs typeface="Times New Roman" panose="02020603050405020304" pitchFamily="18" charset="0"/>
              </a:rPr>
              <a:t>Limited Unified Decision Support: </a:t>
            </a:r>
            <a:r>
              <a:rPr lang="en-US" sz="7200" dirty="0">
                <a:latin typeface="Times New Roman" panose="02020603050405020304" pitchFamily="18" charset="0"/>
                <a:cs typeface="Times New Roman" panose="02020603050405020304" pitchFamily="18" charset="0"/>
              </a:rPr>
              <a:t>Existing solutions often provide predictions or domain-specific dashboards, but there is scope for a single platform combining prediction, explanation, comparison, and visualization for sustainable smart-city decision-making.</a:t>
            </a:r>
          </a:p>
          <a:p>
            <a:endParaRPr lang="en-US" dirty="0"/>
          </a:p>
        </p:txBody>
      </p:sp>
      <p:sp>
        <p:nvSpPr>
          <p:cNvPr id="4" name="TextBox 3">
            <a:extLst>
              <a:ext uri="{FF2B5EF4-FFF2-40B4-BE49-F238E27FC236}">
                <a16:creationId xmlns:a16="http://schemas.microsoft.com/office/drawing/2014/main" id="{9F76A59C-8828-71BF-B9F4-B278870C77BB}"/>
              </a:ext>
            </a:extLst>
          </p:cNvPr>
          <p:cNvSpPr txBox="1"/>
          <p:nvPr/>
        </p:nvSpPr>
        <p:spPr>
          <a:xfrm>
            <a:off x="1699958" y="1122362"/>
            <a:ext cx="8297481" cy="738664"/>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Research Gap Identification</a:t>
            </a:r>
          </a:p>
          <a:p>
            <a:endParaRPr lang="en-US" dirty="0"/>
          </a:p>
        </p:txBody>
      </p:sp>
      <p:pic>
        <p:nvPicPr>
          <p:cNvPr id="6" name="Picture 5">
            <a:extLst>
              <a:ext uri="{FF2B5EF4-FFF2-40B4-BE49-F238E27FC236}">
                <a16:creationId xmlns:a16="http://schemas.microsoft.com/office/drawing/2014/main" id="{4A7537EF-82F1-D824-7744-B380AE0C44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260" y="238647"/>
            <a:ext cx="2499986" cy="1253047"/>
          </a:xfrm>
          <a:prstGeom prst="rect">
            <a:avLst/>
          </a:prstGeom>
          <a:noFill/>
          <a:ln>
            <a:noFill/>
          </a:ln>
        </p:spPr>
      </p:pic>
    </p:spTree>
    <p:extLst>
      <p:ext uri="{BB962C8B-B14F-4D97-AF65-F5344CB8AC3E}">
        <p14:creationId xmlns:p14="http://schemas.microsoft.com/office/powerpoint/2010/main" val="2182565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4FA2F-2AE0-506F-5367-2B175F33E4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B8C2BA-C897-FF78-651F-1ED9C80537AE}"/>
              </a:ext>
            </a:extLst>
          </p:cNvPr>
          <p:cNvSpPr>
            <a:spLocks noGrp="1"/>
          </p:cNvSpPr>
          <p:nvPr>
            <p:ph type="ctrTitle"/>
          </p:nvPr>
        </p:nvSpPr>
        <p:spPr>
          <a:xfrm>
            <a:off x="1524000" y="1122363"/>
            <a:ext cx="9144000" cy="840661"/>
          </a:xfrm>
        </p:spPr>
        <p:txBody>
          <a:bodyPr>
            <a:normAutofit fontScale="90000"/>
          </a:bodyPr>
          <a:lstStyle/>
          <a:p>
            <a:br>
              <a:rPr lang="en-US" dirty="0"/>
            </a:br>
            <a:br>
              <a:rPr lang="en-US" dirty="0"/>
            </a:br>
            <a:endParaRPr lang="en-US" dirty="0"/>
          </a:p>
        </p:txBody>
      </p:sp>
      <p:sp>
        <p:nvSpPr>
          <p:cNvPr id="3" name="Subtitle 2">
            <a:extLst>
              <a:ext uri="{FF2B5EF4-FFF2-40B4-BE49-F238E27FC236}">
                <a16:creationId xmlns:a16="http://schemas.microsoft.com/office/drawing/2014/main" id="{472FD376-20CD-BB3B-89CB-6BE99D939772}"/>
              </a:ext>
            </a:extLst>
          </p:cNvPr>
          <p:cNvSpPr>
            <a:spLocks noGrp="1"/>
          </p:cNvSpPr>
          <p:nvPr>
            <p:ph type="subTitle" idx="1"/>
          </p:nvPr>
        </p:nvSpPr>
        <p:spPr>
          <a:xfrm>
            <a:off x="1524000" y="1861027"/>
            <a:ext cx="9144000" cy="3396773"/>
          </a:xfrm>
        </p:spPr>
        <p:txBody>
          <a:bodyPr>
            <a:normAutofit fontScale="77500" lnSpcReduction="20000"/>
          </a:bodyPr>
          <a:lstStyle/>
          <a:p>
            <a:pPr marL="342900" lvl="0" indent="-342900" algn="just">
              <a:lnSpc>
                <a:spcPct val="110000"/>
              </a:lnSpc>
              <a:buFont typeface="Arial" panose="020B0604020202020204" pitchFamily="34" charset="0"/>
              <a:buChar char="•"/>
            </a:pPr>
            <a:r>
              <a:rPr lang="en-US" sz="2300" b="1" dirty="0">
                <a:latin typeface="Times New Roman" panose="02020603050405020304" pitchFamily="18" charset="0"/>
                <a:cs typeface="Times New Roman" panose="02020603050405020304" pitchFamily="18" charset="0"/>
              </a:rPr>
              <a:t>Multi-domain Analytics: </a:t>
            </a:r>
            <a:r>
              <a:rPr lang="en-US" sz="2300" dirty="0">
                <a:latin typeface="Times New Roman" panose="02020603050405020304" pitchFamily="18" charset="0"/>
                <a:cs typeface="Times New Roman" panose="02020603050405020304" pitchFamily="18" charset="0"/>
              </a:rPr>
              <a:t>Integrates Air Quality, Weather, and Energy Consumption data to study interconnected urban patterns rather than analyzing each domain independently. </a:t>
            </a:r>
          </a:p>
          <a:p>
            <a:pPr marL="342900" lvl="0" indent="-342900" algn="just">
              <a:lnSpc>
                <a:spcPct val="110000"/>
              </a:lnSpc>
              <a:buFont typeface="Arial" panose="020B0604020202020204" pitchFamily="34" charset="0"/>
              <a:buChar char="•"/>
            </a:pPr>
            <a:r>
              <a:rPr lang="en-US" sz="2300" b="1" dirty="0">
                <a:latin typeface="Times New Roman" panose="02020603050405020304" pitchFamily="18" charset="0"/>
                <a:cs typeface="Times New Roman" panose="02020603050405020304" pitchFamily="18" charset="0"/>
              </a:rPr>
              <a:t>Comparative Machine Learning: </a:t>
            </a:r>
            <a:r>
              <a:rPr lang="en-US" sz="2300" dirty="0">
                <a:latin typeface="Times New Roman" panose="02020603050405020304" pitchFamily="18" charset="0"/>
                <a:cs typeface="Times New Roman" panose="02020603050405020304" pitchFamily="18" charset="0"/>
              </a:rPr>
              <a:t>Develops and compares multiple regression models to identify suitable predictive approaches for environmental and energy-related analysis. </a:t>
            </a:r>
          </a:p>
          <a:p>
            <a:pPr marL="342900" lvl="0" indent="-342900" algn="just">
              <a:lnSpc>
                <a:spcPct val="110000"/>
              </a:lnSpc>
              <a:buFont typeface="Arial" panose="020B0604020202020204" pitchFamily="34" charset="0"/>
              <a:buChar char="•"/>
            </a:pPr>
            <a:r>
              <a:rPr lang="en-US" sz="2300" b="1" dirty="0">
                <a:latin typeface="Times New Roman" panose="02020603050405020304" pitchFamily="18" charset="0"/>
                <a:cs typeface="Times New Roman" panose="02020603050405020304" pitchFamily="18" charset="0"/>
              </a:rPr>
              <a:t>Explainable Predictions: </a:t>
            </a:r>
            <a:r>
              <a:rPr lang="en-US" sz="2300" dirty="0">
                <a:latin typeface="Times New Roman" panose="02020603050405020304" pitchFamily="18" charset="0"/>
                <a:cs typeface="Times New Roman" panose="02020603050405020304" pitchFamily="18" charset="0"/>
              </a:rPr>
              <a:t>Uses SHAP (SHapley Additive Explanations) to identify the important factors influencing model predictions, making the results easier to interpret. </a:t>
            </a:r>
          </a:p>
          <a:p>
            <a:pPr marL="342900" lvl="0" indent="-342900" algn="just">
              <a:lnSpc>
                <a:spcPct val="110000"/>
              </a:lnSpc>
              <a:buFont typeface="Arial" panose="020B0604020202020204" pitchFamily="34" charset="0"/>
              <a:buChar char="•"/>
            </a:pPr>
            <a:r>
              <a:rPr lang="en-US" sz="2300" b="1" dirty="0">
                <a:latin typeface="Times New Roman" panose="02020603050405020304" pitchFamily="18" charset="0"/>
                <a:cs typeface="Times New Roman" panose="02020603050405020304" pitchFamily="18" charset="0"/>
              </a:rPr>
              <a:t>Integrated Decision Support:</a:t>
            </a:r>
            <a:r>
              <a:rPr lang="en-US" sz="2300" dirty="0">
                <a:latin typeface="Times New Roman" panose="02020603050405020304" pitchFamily="18" charset="0"/>
                <a:cs typeface="Times New Roman" panose="02020603050405020304" pitchFamily="18" charset="0"/>
              </a:rPr>
              <a:t> Combines predictions, model explanations, trends, and visual analytics within a single interactive platform to support data-driven urban decisions. </a:t>
            </a:r>
          </a:p>
          <a:p>
            <a:pPr marL="342900" lvl="0" indent="-342900" algn="just">
              <a:lnSpc>
                <a:spcPct val="110000"/>
              </a:lnSpc>
              <a:buFont typeface="Arial" panose="020B0604020202020204" pitchFamily="34" charset="0"/>
              <a:buChar char="•"/>
            </a:pPr>
            <a:r>
              <a:rPr lang="en-US" sz="2300" b="1" dirty="0">
                <a:latin typeface="Times New Roman" panose="02020603050405020304" pitchFamily="18" charset="0"/>
                <a:cs typeface="Times New Roman" panose="02020603050405020304" pitchFamily="18" charset="0"/>
              </a:rPr>
              <a:t>Future Extensibility</a:t>
            </a:r>
            <a:r>
              <a:rPr lang="en-US" sz="2300" dirty="0">
                <a:latin typeface="Times New Roman" panose="02020603050405020304" pitchFamily="18" charset="0"/>
                <a:cs typeface="Times New Roman" panose="02020603050405020304" pitchFamily="18" charset="0"/>
              </a:rPr>
              <a:t>: The framework can be extended with additional datasets, real-time data sources, advanced ML/DL models, and other smart-city applications in later phases. </a:t>
            </a:r>
          </a:p>
          <a:p>
            <a:endParaRPr lang="en-US" dirty="0"/>
          </a:p>
        </p:txBody>
      </p:sp>
      <p:sp>
        <p:nvSpPr>
          <p:cNvPr id="4" name="TextBox 3">
            <a:extLst>
              <a:ext uri="{FF2B5EF4-FFF2-40B4-BE49-F238E27FC236}">
                <a16:creationId xmlns:a16="http://schemas.microsoft.com/office/drawing/2014/main" id="{502729B4-A05E-D8BE-4208-B74F15BE35D2}"/>
              </a:ext>
            </a:extLst>
          </p:cNvPr>
          <p:cNvSpPr txBox="1"/>
          <p:nvPr/>
        </p:nvSpPr>
        <p:spPr>
          <a:xfrm>
            <a:off x="1699958" y="1122362"/>
            <a:ext cx="8320341" cy="738664"/>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Innovation</a:t>
            </a:r>
          </a:p>
          <a:p>
            <a:endParaRPr lang="en-US" dirty="0"/>
          </a:p>
        </p:txBody>
      </p:sp>
      <p:pic>
        <p:nvPicPr>
          <p:cNvPr id="6" name="Picture 5">
            <a:extLst>
              <a:ext uri="{FF2B5EF4-FFF2-40B4-BE49-F238E27FC236}">
                <a16:creationId xmlns:a16="http://schemas.microsoft.com/office/drawing/2014/main" id="{58D51218-8AE2-E077-6023-637BAFF4EB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038" y="126507"/>
            <a:ext cx="2499986" cy="1253047"/>
          </a:xfrm>
          <a:prstGeom prst="rect">
            <a:avLst/>
          </a:prstGeom>
          <a:noFill/>
          <a:ln>
            <a:noFill/>
          </a:ln>
        </p:spPr>
      </p:pic>
    </p:spTree>
    <p:extLst>
      <p:ext uri="{BB962C8B-B14F-4D97-AF65-F5344CB8AC3E}">
        <p14:creationId xmlns:p14="http://schemas.microsoft.com/office/powerpoint/2010/main" val="3979104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D22F1-0F3F-F93F-1843-CA68018BD9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189EA1-EE0E-D1BD-5343-C5AFE6A8C32F}"/>
              </a:ext>
            </a:extLst>
          </p:cNvPr>
          <p:cNvSpPr>
            <a:spLocks noGrp="1"/>
          </p:cNvSpPr>
          <p:nvPr>
            <p:ph type="ctrTitle"/>
          </p:nvPr>
        </p:nvSpPr>
        <p:spPr>
          <a:xfrm>
            <a:off x="1524000" y="1122363"/>
            <a:ext cx="9144000" cy="840661"/>
          </a:xfrm>
        </p:spPr>
        <p:txBody>
          <a:bodyPr>
            <a:normAutofit fontScale="90000"/>
          </a:bodyPr>
          <a:lstStyle/>
          <a:p>
            <a:br>
              <a:rPr lang="en-US" dirty="0"/>
            </a:br>
            <a:br>
              <a:rPr lang="en-US" dirty="0"/>
            </a:br>
            <a:endParaRPr lang="en-US" dirty="0"/>
          </a:p>
        </p:txBody>
      </p:sp>
      <p:sp>
        <p:nvSpPr>
          <p:cNvPr id="3" name="Subtitle 2">
            <a:extLst>
              <a:ext uri="{FF2B5EF4-FFF2-40B4-BE49-F238E27FC236}">
                <a16:creationId xmlns:a16="http://schemas.microsoft.com/office/drawing/2014/main" id="{26E0E844-A125-B229-6F42-CED16809BA9B}"/>
              </a:ext>
            </a:extLst>
          </p:cNvPr>
          <p:cNvSpPr>
            <a:spLocks noGrp="1"/>
          </p:cNvSpPr>
          <p:nvPr>
            <p:ph type="subTitle" idx="1"/>
          </p:nvPr>
        </p:nvSpPr>
        <p:spPr>
          <a:xfrm>
            <a:off x="1524000" y="1861027"/>
            <a:ext cx="9144000" cy="3396773"/>
          </a:xfrm>
        </p:spPr>
        <p:txBody>
          <a:bodyPr>
            <a:normAutofit fontScale="25000" lnSpcReduction="20000"/>
          </a:bodyPr>
          <a:lstStyle/>
          <a:p>
            <a:pPr marL="342900" indent="-342900" algn="just">
              <a:lnSpc>
                <a:spcPct val="110000"/>
              </a:lnSpc>
              <a:buFont typeface="Arial" panose="020B0604020202020204" pitchFamily="34" charset="0"/>
              <a:buChar char="•"/>
            </a:pPr>
            <a:r>
              <a:rPr lang="en-US" sz="6400" b="1" dirty="0">
                <a:latin typeface="Times New Roman" panose="02020603050405020304" pitchFamily="18" charset="0"/>
                <a:cs typeface="Times New Roman" panose="02020603050405020304" pitchFamily="18" charset="0"/>
              </a:rPr>
              <a:t>Dataset Feasibility: </a:t>
            </a:r>
            <a:r>
              <a:rPr lang="en-US" sz="6400" dirty="0">
                <a:latin typeface="Times New Roman" panose="02020603050405020304" pitchFamily="18" charset="0"/>
                <a:cs typeface="Times New Roman" panose="02020603050405020304" pitchFamily="18" charset="0"/>
              </a:rPr>
              <a:t>The project uses publicly available Air Quality, Weather, and Energy Consumption datasets, making data collection practical and reducing the need for costly data acquisition. </a:t>
            </a:r>
          </a:p>
          <a:p>
            <a:pPr marL="342900" indent="-342900" algn="just">
              <a:lnSpc>
                <a:spcPct val="110000"/>
              </a:lnSpc>
              <a:buFont typeface="Arial" panose="020B0604020202020204" pitchFamily="34" charset="0"/>
              <a:buChar char="•"/>
            </a:pPr>
            <a:r>
              <a:rPr lang="en-US" sz="6400" b="1" dirty="0">
                <a:latin typeface="Times New Roman" panose="02020603050405020304" pitchFamily="18" charset="0"/>
                <a:cs typeface="Times New Roman" panose="02020603050405020304" pitchFamily="18" charset="0"/>
              </a:rPr>
              <a:t>Technical Feasibility: </a:t>
            </a:r>
            <a:r>
              <a:rPr lang="en-US" sz="6400" dirty="0">
                <a:latin typeface="Times New Roman" panose="02020603050405020304" pitchFamily="18" charset="0"/>
                <a:cs typeface="Times New Roman" panose="02020603050405020304" pitchFamily="18" charset="0"/>
              </a:rPr>
              <a:t>The required technologies, including Python, Pandas, NumPy, Scikit-learn, XGBoost, SHAP, and Streamlit, are well-established and suitable for implementing the proposed analytics pipeline. </a:t>
            </a:r>
          </a:p>
          <a:p>
            <a:pPr marL="342900" indent="-342900" algn="just">
              <a:lnSpc>
                <a:spcPct val="110000"/>
              </a:lnSpc>
              <a:buFont typeface="Arial" panose="020B0604020202020204" pitchFamily="34" charset="0"/>
              <a:buChar char="•"/>
            </a:pPr>
            <a:r>
              <a:rPr lang="en-US" sz="6400" b="1" dirty="0">
                <a:latin typeface="Times New Roman" panose="02020603050405020304" pitchFamily="18" charset="0"/>
                <a:cs typeface="Times New Roman" panose="02020603050405020304" pitchFamily="18" charset="0"/>
              </a:rPr>
              <a:t>Methodological Feasibility: </a:t>
            </a:r>
            <a:r>
              <a:rPr lang="en-US" sz="6400" dirty="0">
                <a:latin typeface="Times New Roman" panose="02020603050405020304" pitchFamily="18" charset="0"/>
                <a:cs typeface="Times New Roman" panose="02020603050405020304" pitchFamily="18" charset="0"/>
              </a:rPr>
              <a:t>The project uses established techniques for preprocessing, EDA, feature engineering, machine learning, model evaluation, Explainable AI, and visualization rather than requiring development of entirely new algorithms. </a:t>
            </a:r>
          </a:p>
          <a:p>
            <a:pPr marL="342900" indent="-342900" algn="just">
              <a:lnSpc>
                <a:spcPct val="110000"/>
              </a:lnSpc>
              <a:buFont typeface="Arial" panose="020B0604020202020204" pitchFamily="34" charset="0"/>
              <a:buChar char="•"/>
            </a:pPr>
            <a:r>
              <a:rPr lang="en-US" sz="6400" b="1" dirty="0">
                <a:latin typeface="Times New Roman" panose="02020603050405020304" pitchFamily="18" charset="0"/>
                <a:cs typeface="Times New Roman" panose="02020603050405020304" pitchFamily="18" charset="0"/>
              </a:rPr>
              <a:t>Implementation Feasibility:</a:t>
            </a:r>
            <a:r>
              <a:rPr lang="en-US" sz="6400" dirty="0">
                <a:latin typeface="Times New Roman" panose="02020603050405020304" pitchFamily="18" charset="0"/>
                <a:cs typeface="Times New Roman" panose="02020603050405020304" pitchFamily="18" charset="0"/>
              </a:rPr>
              <a:t> The system can be developed incrementally, allowing individual components such as data processing, prediction, explainability, and visualization to be implemented and tested separately. </a:t>
            </a:r>
          </a:p>
          <a:p>
            <a:pPr marL="342900" indent="-342900" algn="just">
              <a:lnSpc>
                <a:spcPct val="110000"/>
              </a:lnSpc>
              <a:buFont typeface="Arial" panose="020B0604020202020204" pitchFamily="34" charset="0"/>
              <a:buChar char="•"/>
            </a:pPr>
            <a:r>
              <a:rPr lang="en-US" sz="6400" b="1" dirty="0">
                <a:latin typeface="Times New Roman" panose="02020603050405020304" pitchFamily="18" charset="0"/>
                <a:cs typeface="Times New Roman" panose="02020603050405020304" pitchFamily="18" charset="0"/>
              </a:rPr>
              <a:t>Time Feasibility: </a:t>
            </a:r>
            <a:r>
              <a:rPr lang="en-US" sz="6400" dirty="0">
                <a:latin typeface="Times New Roman" panose="02020603050405020304" pitchFamily="18" charset="0"/>
                <a:cs typeface="Times New Roman" panose="02020603050405020304" pitchFamily="18" charset="0"/>
              </a:rPr>
              <a:t>The project is suitable for phase-wise development from 3-1 to 4-1, allowing sufficient time for experimentation, validation, improvements, and final integration.</a:t>
            </a:r>
          </a:p>
          <a:p>
            <a:endParaRPr lang="en-US" dirty="0"/>
          </a:p>
        </p:txBody>
      </p:sp>
      <p:sp>
        <p:nvSpPr>
          <p:cNvPr id="4" name="TextBox 3">
            <a:extLst>
              <a:ext uri="{FF2B5EF4-FFF2-40B4-BE49-F238E27FC236}">
                <a16:creationId xmlns:a16="http://schemas.microsoft.com/office/drawing/2014/main" id="{93A981E1-989A-D30D-7E5D-2CBE55EB4D6A}"/>
              </a:ext>
            </a:extLst>
          </p:cNvPr>
          <p:cNvSpPr txBox="1"/>
          <p:nvPr/>
        </p:nvSpPr>
        <p:spPr>
          <a:xfrm>
            <a:off x="1699959" y="1181100"/>
            <a:ext cx="8198421" cy="738664"/>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Feasibility</a:t>
            </a:r>
          </a:p>
          <a:p>
            <a:endParaRPr lang="en-US" dirty="0"/>
          </a:p>
        </p:txBody>
      </p:sp>
      <p:pic>
        <p:nvPicPr>
          <p:cNvPr id="6" name="Picture 5">
            <a:extLst>
              <a:ext uri="{FF2B5EF4-FFF2-40B4-BE49-F238E27FC236}">
                <a16:creationId xmlns:a16="http://schemas.microsoft.com/office/drawing/2014/main" id="{72AD913A-120D-DDC0-DE9F-1449BADD82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038" y="136321"/>
            <a:ext cx="2499986" cy="1253047"/>
          </a:xfrm>
          <a:prstGeom prst="rect">
            <a:avLst/>
          </a:prstGeom>
          <a:noFill/>
          <a:ln>
            <a:noFill/>
          </a:ln>
        </p:spPr>
      </p:pic>
    </p:spTree>
    <p:extLst>
      <p:ext uri="{BB962C8B-B14F-4D97-AF65-F5344CB8AC3E}">
        <p14:creationId xmlns:p14="http://schemas.microsoft.com/office/powerpoint/2010/main" val="10159512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A1A84-00BA-61CB-DBB2-1DE201658F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B4AC14-0356-7BA6-90DC-5F92A8F9AAC6}"/>
              </a:ext>
            </a:extLst>
          </p:cNvPr>
          <p:cNvSpPr>
            <a:spLocks noGrp="1"/>
          </p:cNvSpPr>
          <p:nvPr>
            <p:ph type="ctrTitle"/>
          </p:nvPr>
        </p:nvSpPr>
        <p:spPr>
          <a:xfrm>
            <a:off x="1524000" y="1122363"/>
            <a:ext cx="9144000" cy="840661"/>
          </a:xfrm>
        </p:spPr>
        <p:txBody>
          <a:bodyPr>
            <a:normAutofit fontScale="90000"/>
          </a:bodyPr>
          <a:lstStyle/>
          <a:p>
            <a:br>
              <a:rPr lang="en-US" dirty="0"/>
            </a:br>
            <a:br>
              <a:rPr lang="en-US" dirty="0"/>
            </a:br>
            <a:endParaRPr lang="en-US" dirty="0"/>
          </a:p>
        </p:txBody>
      </p:sp>
      <p:sp>
        <p:nvSpPr>
          <p:cNvPr id="3" name="Subtitle 2">
            <a:extLst>
              <a:ext uri="{FF2B5EF4-FFF2-40B4-BE49-F238E27FC236}">
                <a16:creationId xmlns:a16="http://schemas.microsoft.com/office/drawing/2014/main" id="{BBCC167A-557B-DD26-21EC-676C5F77094D}"/>
              </a:ext>
            </a:extLst>
          </p:cNvPr>
          <p:cNvSpPr>
            <a:spLocks noGrp="1"/>
          </p:cNvSpPr>
          <p:nvPr>
            <p:ph type="subTitle" idx="1"/>
          </p:nvPr>
        </p:nvSpPr>
        <p:spPr>
          <a:xfrm>
            <a:off x="1364643" y="1542693"/>
            <a:ext cx="9144000" cy="3177540"/>
          </a:xfrm>
        </p:spPr>
        <p:txBody>
          <a:bodyPr>
            <a:normAutofit fontScale="70000" lnSpcReduction="20000"/>
          </a:bodyPr>
          <a:lstStyle/>
          <a:p>
            <a:pPr marL="342900" lvl="0" indent="-342900" algn="just">
              <a:lnSpc>
                <a:spcPct val="110000"/>
              </a:lnSpc>
              <a:buFont typeface="Arial" panose="020B0604020202020204" pitchFamily="34" charset="0"/>
              <a:buChar char="•"/>
            </a:pPr>
            <a:r>
              <a:rPr lang="en-US" sz="2300" b="1" dirty="0">
                <a:latin typeface="Times New Roman" panose="02020603050405020304" pitchFamily="18" charset="0"/>
                <a:cs typeface="Times New Roman" panose="02020603050405020304" pitchFamily="18" charset="0"/>
              </a:rPr>
              <a:t>Phase 1 – </a:t>
            </a:r>
            <a:r>
              <a:rPr lang="en-US" sz="2300" dirty="0">
                <a:latin typeface="Times New Roman" panose="02020603050405020304" pitchFamily="18" charset="0"/>
                <a:cs typeface="Times New Roman" panose="02020603050405020304" pitchFamily="18" charset="0"/>
              </a:rPr>
              <a:t>Data Preparation: Collect and understand the three benchmark datasets, perform data cleaning, integration, missing-value handling, outlier treatment, and exploratory data analysis. </a:t>
            </a:r>
          </a:p>
          <a:p>
            <a:pPr marL="342900" lvl="0" indent="-342900" algn="just">
              <a:lnSpc>
                <a:spcPct val="110000"/>
              </a:lnSpc>
              <a:buFont typeface="Arial" panose="020B0604020202020204" pitchFamily="34" charset="0"/>
              <a:buChar char="•"/>
            </a:pPr>
            <a:r>
              <a:rPr lang="en-US" sz="2300" b="1" dirty="0">
                <a:latin typeface="Times New Roman" panose="02020603050405020304" pitchFamily="18" charset="0"/>
                <a:cs typeface="Times New Roman" panose="02020603050405020304" pitchFamily="18" charset="0"/>
              </a:rPr>
              <a:t>Phase 2 – </a:t>
            </a:r>
            <a:r>
              <a:rPr lang="en-US" sz="2300" dirty="0">
                <a:latin typeface="Times New Roman" panose="02020603050405020304" pitchFamily="18" charset="0"/>
                <a:cs typeface="Times New Roman" panose="02020603050405020304" pitchFamily="18" charset="0"/>
              </a:rPr>
              <a:t>Feature &amp; Predictive Analytics: Perform feature engineering and selection, develop the selected regression models, and compare their performance using appropriate evaluation metrics. </a:t>
            </a:r>
          </a:p>
          <a:p>
            <a:pPr marL="342900" lvl="0" indent="-342900" algn="just">
              <a:lnSpc>
                <a:spcPct val="110000"/>
              </a:lnSpc>
              <a:buFont typeface="Arial" panose="020B0604020202020204" pitchFamily="34" charset="0"/>
              <a:buChar char="•"/>
            </a:pPr>
            <a:r>
              <a:rPr lang="en-US" sz="2300" b="1" dirty="0">
                <a:latin typeface="Times New Roman" panose="02020603050405020304" pitchFamily="18" charset="0"/>
                <a:cs typeface="Times New Roman" panose="02020603050405020304" pitchFamily="18" charset="0"/>
              </a:rPr>
              <a:t>Phase 3 – </a:t>
            </a:r>
            <a:r>
              <a:rPr lang="en-US" sz="2300" dirty="0">
                <a:latin typeface="Times New Roman" panose="02020603050405020304" pitchFamily="18" charset="0"/>
                <a:cs typeface="Times New Roman" panose="02020603050405020304" pitchFamily="18" charset="0"/>
              </a:rPr>
              <a:t>Explainable AI &amp; Visualization: Apply SHAP to interpret the important factors behind model predictions and develop meaningful visualizations for environmental and energy trends. </a:t>
            </a:r>
          </a:p>
          <a:p>
            <a:pPr marL="342900" lvl="0" indent="-342900" algn="just">
              <a:lnSpc>
                <a:spcPct val="110000"/>
              </a:lnSpc>
              <a:buFont typeface="Arial" panose="020B0604020202020204" pitchFamily="34" charset="0"/>
              <a:buChar char="•"/>
            </a:pPr>
            <a:r>
              <a:rPr lang="en-US" sz="2300" b="1" dirty="0">
                <a:latin typeface="Times New Roman" panose="02020603050405020304" pitchFamily="18" charset="0"/>
                <a:cs typeface="Times New Roman" panose="02020603050405020304" pitchFamily="18" charset="0"/>
              </a:rPr>
              <a:t>Phase 4 – </a:t>
            </a:r>
            <a:r>
              <a:rPr lang="en-US" sz="2300" dirty="0">
                <a:latin typeface="Times New Roman" panose="02020603050405020304" pitchFamily="18" charset="0"/>
                <a:cs typeface="Times New Roman" panose="02020603050405020304" pitchFamily="18" charset="0"/>
              </a:rPr>
              <a:t>Integrated Dashboard: Combine predictions, explanations, comparative results, and visual analytics into an interactive dashboard for sustainable smart-city decision support. </a:t>
            </a:r>
          </a:p>
          <a:p>
            <a:pPr marL="342900" lvl="0" indent="-342900" algn="just">
              <a:lnSpc>
                <a:spcPct val="110000"/>
              </a:lnSpc>
              <a:buFont typeface="Arial" panose="020B0604020202020204" pitchFamily="34" charset="0"/>
              <a:buChar char="•"/>
            </a:pPr>
            <a:r>
              <a:rPr lang="en-US" sz="2300" b="1" dirty="0">
                <a:latin typeface="Times New Roman" panose="02020603050405020304" pitchFamily="18" charset="0"/>
                <a:cs typeface="Times New Roman" panose="02020603050405020304" pitchFamily="18" charset="0"/>
              </a:rPr>
              <a:t>Phase 5 – </a:t>
            </a:r>
            <a:r>
              <a:rPr lang="en-US" sz="2300" dirty="0">
                <a:latin typeface="Times New Roman" panose="02020603050405020304" pitchFamily="18" charset="0"/>
                <a:cs typeface="Times New Roman" panose="02020603050405020304" pitchFamily="18" charset="0"/>
              </a:rPr>
              <a:t>Validation &amp; Research Output: Validate the complete system, improve model performance where required, document the findings, prepare the final project, and develop the work into a research-paper-ready outcome.</a:t>
            </a:r>
          </a:p>
          <a:p>
            <a:endParaRPr lang="en-US" dirty="0"/>
          </a:p>
        </p:txBody>
      </p:sp>
      <p:sp>
        <p:nvSpPr>
          <p:cNvPr id="4" name="TextBox 3">
            <a:extLst>
              <a:ext uri="{FF2B5EF4-FFF2-40B4-BE49-F238E27FC236}">
                <a16:creationId xmlns:a16="http://schemas.microsoft.com/office/drawing/2014/main" id="{B8393A93-4A1F-F110-9637-B8C1C6342C2F}"/>
              </a:ext>
            </a:extLst>
          </p:cNvPr>
          <p:cNvSpPr txBox="1"/>
          <p:nvPr/>
        </p:nvSpPr>
        <p:spPr>
          <a:xfrm>
            <a:off x="1821880" y="660698"/>
            <a:ext cx="7749959"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Project Plan</a:t>
            </a:r>
          </a:p>
        </p:txBody>
      </p:sp>
      <p:pic>
        <p:nvPicPr>
          <p:cNvPr id="6" name="Picture 5">
            <a:extLst>
              <a:ext uri="{FF2B5EF4-FFF2-40B4-BE49-F238E27FC236}">
                <a16:creationId xmlns:a16="http://schemas.microsoft.com/office/drawing/2014/main" id="{83B88715-DBB1-319B-724F-D11CA7B725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650" y="106552"/>
            <a:ext cx="2499986" cy="1253047"/>
          </a:xfrm>
          <a:prstGeom prst="rect">
            <a:avLst/>
          </a:prstGeom>
          <a:noFill/>
          <a:ln>
            <a:noFill/>
          </a:ln>
        </p:spPr>
      </p:pic>
    </p:spTree>
    <p:extLst>
      <p:ext uri="{BB962C8B-B14F-4D97-AF65-F5344CB8AC3E}">
        <p14:creationId xmlns:p14="http://schemas.microsoft.com/office/powerpoint/2010/main" val="18867963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187BD-30A2-8F3B-80AC-303D6D38BE6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43F9059-9437-C794-2C7E-CEE68F4DDD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817" y="111154"/>
            <a:ext cx="2499986" cy="1253047"/>
          </a:xfrm>
          <a:prstGeom prst="rect">
            <a:avLst/>
          </a:prstGeom>
          <a:noFill/>
          <a:ln>
            <a:noFill/>
          </a:ln>
        </p:spPr>
      </p:pic>
      <p:sp>
        <p:nvSpPr>
          <p:cNvPr id="3" name="TextBox 2">
            <a:extLst>
              <a:ext uri="{FF2B5EF4-FFF2-40B4-BE49-F238E27FC236}">
                <a16:creationId xmlns:a16="http://schemas.microsoft.com/office/drawing/2014/main" id="{ECCB5EB0-9632-A24D-CB32-2EB5DC87C553}"/>
              </a:ext>
            </a:extLst>
          </p:cNvPr>
          <p:cNvSpPr txBox="1"/>
          <p:nvPr/>
        </p:nvSpPr>
        <p:spPr>
          <a:xfrm>
            <a:off x="2163097" y="304915"/>
            <a:ext cx="7511845"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Methodology</a:t>
            </a:r>
          </a:p>
        </p:txBody>
      </p:sp>
      <p:sp>
        <p:nvSpPr>
          <p:cNvPr id="4" name="TextBox 3">
            <a:extLst>
              <a:ext uri="{FF2B5EF4-FFF2-40B4-BE49-F238E27FC236}">
                <a16:creationId xmlns:a16="http://schemas.microsoft.com/office/drawing/2014/main" id="{D5775C3E-A940-C1E6-F846-7606DBD45267}"/>
              </a:ext>
            </a:extLst>
          </p:cNvPr>
          <p:cNvSpPr txBox="1"/>
          <p:nvPr/>
        </p:nvSpPr>
        <p:spPr>
          <a:xfrm>
            <a:off x="796414" y="1228550"/>
            <a:ext cx="9969910" cy="5555367"/>
          </a:xfrm>
          <a:prstGeom prst="rect">
            <a:avLst/>
          </a:prstGeom>
          <a:noFill/>
        </p:spPr>
        <p:txBody>
          <a:bodyPr wrap="square" rtlCol="0">
            <a:spAutoFit/>
          </a:bodyPr>
          <a:lstStyle/>
          <a:p>
            <a:pPr>
              <a:lnSpc>
                <a:spcPct val="150000"/>
              </a:lnSpc>
            </a:pPr>
            <a:r>
              <a:rPr lang="en-US" sz="1400" b="1" dirty="0">
                <a:latin typeface="Times New Roman" panose="02020603050405020304" pitchFamily="18" charset="0"/>
                <a:cs typeface="Times New Roman" panose="02020603050405020304" pitchFamily="18" charset="0"/>
              </a:rPr>
              <a:t>1. Data Collection &amp; Preparation</a:t>
            </a:r>
          </a:p>
          <a:p>
            <a:pPr marL="285750" lvl="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Collection of Air Quality, Weather and Energy Consumption datasets.</a:t>
            </a:r>
          </a:p>
          <a:p>
            <a:pPr marL="285750" lvl="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Initial inspection of shape, data types, missing values, duplicates and statistical characteristics.</a:t>
            </a:r>
          </a:p>
          <a:p>
            <a:pPr marL="285750" lvl="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Dataset-specific cleaning, including handling missing values, duplicate records, invalid values and irrelevant attributes.</a:t>
            </a:r>
          </a:p>
          <a:p>
            <a:pPr marL="285750" lvl="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Storage of cleaned datasets for further analysis.</a:t>
            </a:r>
          </a:p>
          <a:p>
            <a:pPr>
              <a:lnSpc>
                <a:spcPct val="150000"/>
              </a:lnSpc>
            </a:pPr>
            <a:r>
              <a:rPr lang="en-US" sz="1400" b="1" dirty="0">
                <a:latin typeface="Times New Roman" panose="02020603050405020304" pitchFamily="18" charset="0"/>
                <a:cs typeface="Times New Roman" panose="02020603050405020304" pitchFamily="18" charset="0"/>
              </a:rPr>
              <a:t>2. Exploratory Data Analysis</a:t>
            </a:r>
          </a:p>
          <a:p>
            <a:pPr marL="285750" lvl="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Univariate analysis to study distributions, frequencies and outliers.</a:t>
            </a:r>
          </a:p>
          <a:p>
            <a:pPr marL="285750" lvl="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Bivariate analysis to identify relationships between important variables.</a:t>
            </a:r>
          </a:p>
          <a:p>
            <a:pPr marL="285750" lvl="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Multivariate analysis to understand interactions among multiple features.</a:t>
            </a:r>
          </a:p>
          <a:p>
            <a:pPr marL="285750" lvl="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Correlation analysis and heatmaps to identify relationships and redundant features.</a:t>
            </a:r>
          </a:p>
          <a:p>
            <a:pPr marL="285750" lvl="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EDA graphs are saved for analysis and research-paper documentation.</a:t>
            </a:r>
          </a:p>
          <a:p>
            <a:pPr>
              <a:lnSpc>
                <a:spcPct val="150000"/>
              </a:lnSpc>
            </a:pPr>
            <a:r>
              <a:rPr lang="en-US" sz="1400" b="1" dirty="0">
                <a:latin typeface="Times New Roman" panose="02020603050405020304" pitchFamily="18" charset="0"/>
                <a:cs typeface="Times New Roman" panose="02020603050405020304" pitchFamily="18" charset="0"/>
              </a:rPr>
              <a:t>3. Feature Engineering</a:t>
            </a:r>
          </a:p>
          <a:p>
            <a:pPr lvl="0">
              <a:lnSpc>
                <a:spcPct val="150000"/>
              </a:lnSpc>
            </a:pPr>
            <a:r>
              <a:rPr lang="en-US" sz="1400" dirty="0">
                <a:latin typeface="Times New Roman" panose="02020603050405020304" pitchFamily="18" charset="0"/>
                <a:cs typeface="Times New Roman" panose="02020603050405020304" pitchFamily="18" charset="0"/>
              </a:rPr>
              <a:t>Creation of meaningful domain-specific features from the cleaned datasets.</a:t>
            </a:r>
          </a:p>
          <a:p>
            <a:pPr marL="285750" lvl="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Air Quality: PM Ratio, NOx/NO2 Ratio, CO/CO2 Ratio, Pollution Score and Pollution Level.</a:t>
            </a:r>
          </a:p>
          <a:p>
            <a:pPr marL="285750" lvl="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Weather: Year, Month, Hour, Day of Week, Season, Temperature Difference and Wind-Chill Indicator.</a:t>
            </a:r>
          </a:p>
          <a:p>
            <a:pPr marL="285750" lvl="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Energy: Hour, Month, Weekend, HVAC Status, Lighting Status and energy-related indicators.</a:t>
            </a:r>
          </a:p>
          <a:p>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01518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B37E4-558D-6E1C-CA86-12FC8E0ECF1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E1E4A4C-D101-5210-97F6-FE202C66C7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817" y="111154"/>
            <a:ext cx="2499986" cy="1253047"/>
          </a:xfrm>
          <a:prstGeom prst="rect">
            <a:avLst/>
          </a:prstGeom>
          <a:noFill/>
          <a:ln>
            <a:noFill/>
          </a:ln>
        </p:spPr>
      </p:pic>
      <p:sp>
        <p:nvSpPr>
          <p:cNvPr id="3" name="TextBox 2">
            <a:extLst>
              <a:ext uri="{FF2B5EF4-FFF2-40B4-BE49-F238E27FC236}">
                <a16:creationId xmlns:a16="http://schemas.microsoft.com/office/drawing/2014/main" id="{5D37DDBB-E611-3596-A1B1-42CC0D25D0F2}"/>
              </a:ext>
            </a:extLst>
          </p:cNvPr>
          <p:cNvSpPr txBox="1"/>
          <p:nvPr/>
        </p:nvSpPr>
        <p:spPr>
          <a:xfrm>
            <a:off x="2163097" y="304915"/>
            <a:ext cx="7511845"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Methodology</a:t>
            </a:r>
          </a:p>
        </p:txBody>
      </p:sp>
      <p:sp>
        <p:nvSpPr>
          <p:cNvPr id="4" name="TextBox 3">
            <a:extLst>
              <a:ext uri="{FF2B5EF4-FFF2-40B4-BE49-F238E27FC236}">
                <a16:creationId xmlns:a16="http://schemas.microsoft.com/office/drawing/2014/main" id="{B7E8A57F-71A1-C449-A3E9-70161DCD5816}"/>
              </a:ext>
            </a:extLst>
          </p:cNvPr>
          <p:cNvSpPr txBox="1"/>
          <p:nvPr/>
        </p:nvSpPr>
        <p:spPr>
          <a:xfrm>
            <a:off x="501444" y="1364201"/>
            <a:ext cx="9969910" cy="5588068"/>
          </a:xfrm>
          <a:prstGeom prst="rect">
            <a:avLst/>
          </a:prstGeom>
          <a:noFill/>
        </p:spPr>
        <p:txBody>
          <a:bodyPr wrap="square" rtlCol="0">
            <a:spAutoFit/>
          </a:bodyPr>
          <a:lstStyle/>
          <a:p>
            <a:pPr>
              <a:lnSpc>
                <a:spcPct val="150000"/>
              </a:lnSpc>
            </a:pPr>
            <a:r>
              <a:rPr lang="en-US" sz="1400" b="1" dirty="0">
                <a:latin typeface="Times New Roman" panose="02020603050405020304" pitchFamily="18" charset="0"/>
                <a:cs typeface="Times New Roman" panose="02020603050405020304" pitchFamily="18" charset="0"/>
              </a:rPr>
              <a:t>4. Feature Selection &amp; Leakage Prevention</a:t>
            </a:r>
          </a:p>
          <a:p>
            <a:pPr marL="285750" lvl="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Selection of relevant features using correlation, redundancy and domain relevance.</a:t>
            </a:r>
          </a:p>
          <a:p>
            <a:pPr marL="285750" lvl="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Removal of highly correlated or unnecessary features.</a:t>
            </a:r>
          </a:p>
          <a:p>
            <a:pPr marL="285750" lvl="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Identification and removal of features that directly use the target variable.</a:t>
            </a:r>
          </a:p>
          <a:p>
            <a:pPr marL="285750" lvl="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Separate leakage-safe feature sets are prepared for each prediction task.</a:t>
            </a:r>
          </a:p>
          <a:p>
            <a:pPr>
              <a:lnSpc>
                <a:spcPct val="150000"/>
              </a:lnSpc>
            </a:pPr>
            <a:r>
              <a:rPr lang="en-US" sz="1400" b="1" dirty="0">
                <a:latin typeface="Times New Roman" panose="02020603050405020304" pitchFamily="18" charset="0"/>
                <a:cs typeface="Times New Roman" panose="02020603050405020304" pitchFamily="18" charset="0"/>
              </a:rPr>
              <a:t>5. Predictive Modeling</a:t>
            </a:r>
          </a:p>
          <a:p>
            <a:pPr marL="285750" lvl="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Numerical and categorical features are processed using appropriate imputation, scaling and encoding techniques.</a:t>
            </a:r>
          </a:p>
          <a:p>
            <a:pPr marL="285750" lvl="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Training and testing datasets are prepared using an 80:20 split, with chronological splitting for Weather data.</a:t>
            </a:r>
          </a:p>
          <a:p>
            <a:pPr marL="285750" lvl="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Linear Regression, Decision Tree Regression and Random Forest Regression are trained for all three domains.</a:t>
            </a:r>
          </a:p>
          <a:p>
            <a:pPr marL="285750" lvl="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Model predictions are generated on unseen test data.</a:t>
            </a:r>
          </a:p>
          <a:p>
            <a:pPr>
              <a:lnSpc>
                <a:spcPct val="150000"/>
              </a:lnSpc>
            </a:pPr>
            <a:r>
              <a:rPr lang="en-US" sz="1400" b="1" dirty="0">
                <a:latin typeface="Times New Roman" panose="02020603050405020304" pitchFamily="18" charset="0"/>
                <a:cs typeface="Times New Roman" panose="02020603050405020304" pitchFamily="18" charset="0"/>
              </a:rPr>
              <a:t>6. Model Evaluation &amp; Selection</a:t>
            </a:r>
          </a:p>
          <a:p>
            <a:pPr marL="285750" lvl="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Models are evaluated using MAE, MSE, RMSE and R² Score.</a:t>
            </a:r>
          </a:p>
          <a:p>
            <a:pPr marL="285750" lvl="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Performance of the three algorithms is compared independently for each domain.</a:t>
            </a:r>
          </a:p>
          <a:p>
            <a:pPr marL="285750" lvl="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The best-performing baseline model is selected for Air Quality, Weather and Energy.</a:t>
            </a:r>
          </a:p>
          <a:p>
            <a:pPr marL="285750" lvl="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The selected models are saved for further hybrid modeling and deployment.</a:t>
            </a:r>
          </a:p>
          <a:p>
            <a:pPr marL="285750" lvl="0" indent="-285750">
              <a:lnSpc>
                <a:spcPct val="150000"/>
              </a:lnSpc>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pPr>
              <a:lnSpc>
                <a:spcPct val="150000"/>
              </a:lnSpc>
            </a:pP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07320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1F8D7-070C-A303-96A0-AA015BF5746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DECBA26-266A-9861-CD1C-A765D1DC26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817" y="111154"/>
            <a:ext cx="2499986" cy="1253047"/>
          </a:xfrm>
          <a:prstGeom prst="rect">
            <a:avLst/>
          </a:prstGeom>
          <a:noFill/>
          <a:ln>
            <a:noFill/>
          </a:ln>
        </p:spPr>
      </p:pic>
      <p:sp>
        <p:nvSpPr>
          <p:cNvPr id="3" name="TextBox 2">
            <a:extLst>
              <a:ext uri="{FF2B5EF4-FFF2-40B4-BE49-F238E27FC236}">
                <a16:creationId xmlns:a16="http://schemas.microsoft.com/office/drawing/2014/main" id="{177C2830-6CDD-0E07-72B1-3B7A95DDCAA5}"/>
              </a:ext>
            </a:extLst>
          </p:cNvPr>
          <p:cNvSpPr txBox="1"/>
          <p:nvPr/>
        </p:nvSpPr>
        <p:spPr>
          <a:xfrm>
            <a:off x="2163097" y="304915"/>
            <a:ext cx="7511845"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Methodology</a:t>
            </a:r>
          </a:p>
        </p:txBody>
      </p:sp>
      <p:sp>
        <p:nvSpPr>
          <p:cNvPr id="4" name="TextBox 3">
            <a:extLst>
              <a:ext uri="{FF2B5EF4-FFF2-40B4-BE49-F238E27FC236}">
                <a16:creationId xmlns:a16="http://schemas.microsoft.com/office/drawing/2014/main" id="{2D208C8A-1827-5905-B545-C7007E289764}"/>
              </a:ext>
            </a:extLst>
          </p:cNvPr>
          <p:cNvSpPr txBox="1"/>
          <p:nvPr/>
        </p:nvSpPr>
        <p:spPr>
          <a:xfrm>
            <a:off x="501444" y="1364201"/>
            <a:ext cx="9842091" cy="5911234"/>
          </a:xfrm>
          <a:prstGeom prst="rect">
            <a:avLst/>
          </a:prstGeom>
          <a:noFill/>
        </p:spPr>
        <p:txBody>
          <a:bodyPr wrap="square" rtlCol="0">
            <a:spAutoFit/>
          </a:bodyPr>
          <a:lstStyle/>
          <a:p>
            <a:pPr algn="just">
              <a:lnSpc>
                <a:spcPct val="150000"/>
              </a:lnSpc>
            </a:pPr>
            <a:r>
              <a:rPr lang="en-US" sz="1400" b="1" dirty="0">
                <a:latin typeface="Times New Roman" panose="02020603050405020304" pitchFamily="18" charset="0"/>
                <a:cs typeface="Times New Roman" panose="02020603050405020304" pitchFamily="18" charset="0"/>
              </a:rPr>
              <a:t>7. Proposed Hybrid Modeling</a:t>
            </a:r>
          </a:p>
          <a:p>
            <a:pPr marL="285750" lvl="0"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The selected baseline model first generates the domain prediction.</a:t>
            </a:r>
          </a:p>
          <a:p>
            <a:pPr marL="285750" lvl="0"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The residual error between actual and predicted values is calculated.</a:t>
            </a:r>
          </a:p>
          <a:p>
            <a:pPr marL="285750" lvl="0"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A secondary model learns the patterns in these residual errors.</a:t>
            </a:r>
          </a:p>
          <a:p>
            <a:pPr marL="285750" lvl="0"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The predicted residual is added to the base prediction to obtain the hybrid prediction.</a:t>
            </a:r>
          </a:p>
          <a:p>
            <a:pPr marL="285750" lvl="0"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Baseline and hybrid models are compared to determine whether prediction accuracy improves.</a:t>
            </a:r>
            <a:endParaRPr lang="en-US" sz="1400" b="1" dirty="0">
              <a:latin typeface="Times New Roman" panose="02020603050405020304" pitchFamily="18" charset="0"/>
              <a:cs typeface="Times New Roman" panose="02020603050405020304" pitchFamily="18" charset="0"/>
            </a:endParaRPr>
          </a:p>
          <a:p>
            <a:pPr algn="just">
              <a:lnSpc>
                <a:spcPct val="150000"/>
              </a:lnSpc>
            </a:pPr>
            <a:r>
              <a:rPr lang="en-US" sz="1400" b="1" dirty="0">
                <a:latin typeface="Times New Roman" panose="02020603050405020304" pitchFamily="18" charset="0"/>
                <a:cs typeface="Times New Roman" panose="02020603050405020304" pitchFamily="18" charset="0"/>
              </a:rPr>
              <a:t>8. Explainability &amp; Error Analysis</a:t>
            </a:r>
          </a:p>
          <a:p>
            <a:pPr marL="285750" lvl="0"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SHAP is applied to identify the contribution of individual features to model predictions.</a:t>
            </a:r>
          </a:p>
          <a:p>
            <a:pPr marL="285750" lvl="0"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Feature-importance and SHAP summary visualizations are generated for each domain.</a:t>
            </a:r>
          </a:p>
          <a:p>
            <a:pPr marL="285750" lvl="0"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Residual analysis is used to examine remaining prediction errors.</a:t>
            </a:r>
          </a:p>
          <a:p>
            <a:pPr marL="285750" lvl="0"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The combined analysis provides an error-aware explanation of model behavior.</a:t>
            </a:r>
          </a:p>
          <a:p>
            <a:pPr algn="just">
              <a:lnSpc>
                <a:spcPct val="150000"/>
              </a:lnSpc>
            </a:pPr>
            <a:r>
              <a:rPr lang="en-US" sz="1400" b="1" dirty="0">
                <a:latin typeface="Times New Roman" panose="02020603050405020304" pitchFamily="18" charset="0"/>
                <a:cs typeface="Times New Roman" panose="02020603050405020304" pitchFamily="18" charset="0"/>
              </a:rPr>
              <a:t>9. Decision Support &amp; Dashboard</a:t>
            </a:r>
          </a:p>
          <a:p>
            <a:pPr marL="285750" lvl="0"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Integrated predictions are converted into interpretable smart-city conditions using justified criteria.</a:t>
            </a:r>
          </a:p>
          <a:p>
            <a:pPr marL="285750" lvl="0"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Relevant decision-support information and recommendations are generated.</a:t>
            </a:r>
          </a:p>
          <a:p>
            <a:pPr marL="285750" lvl="0"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A Streamlit dashboard provides interactive prediction and visualization for all three domains.</a:t>
            </a:r>
          </a:p>
          <a:p>
            <a:pPr marL="285750" lvl="0"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Predictions, model performance and SHAP explanations are presented through the dashboard.</a:t>
            </a:r>
          </a:p>
          <a:p>
            <a:pPr marL="285750" indent="-285750" algn="just">
              <a:lnSpc>
                <a:spcPct val="150000"/>
              </a:lnSpc>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pPr>
              <a:lnSpc>
                <a:spcPct val="150000"/>
              </a:lnSpc>
            </a:pP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50488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3F122-50D5-5045-13FB-219BB7FE04C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64E7C22-C9BD-6E74-074D-D80AA7613B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817" y="111154"/>
            <a:ext cx="2499986" cy="1253047"/>
          </a:xfrm>
          <a:prstGeom prst="rect">
            <a:avLst/>
          </a:prstGeom>
          <a:noFill/>
          <a:ln>
            <a:noFill/>
          </a:ln>
        </p:spPr>
      </p:pic>
      <p:sp>
        <p:nvSpPr>
          <p:cNvPr id="2" name="TextBox 1">
            <a:extLst>
              <a:ext uri="{FF2B5EF4-FFF2-40B4-BE49-F238E27FC236}">
                <a16:creationId xmlns:a16="http://schemas.microsoft.com/office/drawing/2014/main" id="{8E343974-B07B-6825-8D8E-3253DA847402}"/>
              </a:ext>
            </a:extLst>
          </p:cNvPr>
          <p:cNvSpPr txBox="1"/>
          <p:nvPr/>
        </p:nvSpPr>
        <p:spPr>
          <a:xfrm>
            <a:off x="2900516" y="354991"/>
            <a:ext cx="6607278" cy="1200329"/>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System Design</a:t>
            </a:r>
          </a:p>
          <a:p>
            <a:endParaRPr lang="en-US" sz="36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EF3CD66A-2FB1-A70E-A3C7-A8B351FA9429}"/>
              </a:ext>
            </a:extLst>
          </p:cNvPr>
          <p:cNvSpPr txBox="1"/>
          <p:nvPr/>
        </p:nvSpPr>
        <p:spPr>
          <a:xfrm>
            <a:off x="973393" y="1288026"/>
            <a:ext cx="10628671" cy="535531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Data Sources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Air Quality | Weather | Energy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Data Processing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Loading | Inspection | Cleaning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Analytics Engine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EDA | Correlation Analysis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Feature Processing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Feature Engineering | Feature Selection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Predictive Layer</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Preprocessing | ML Models | Prediction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Explainability &amp; Visualization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Evaluation | SHAP | Dashboard</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Smart City Insights</a:t>
            </a:r>
            <a:endParaRPr lang="en-US"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90DBC009-AF9B-7F33-0161-594E1D98D7CB}"/>
              </a:ext>
            </a:extLst>
          </p:cNvPr>
          <p:cNvPicPr>
            <a:picLocks noChangeAspect="1"/>
          </p:cNvPicPr>
          <p:nvPr/>
        </p:nvPicPr>
        <p:blipFill>
          <a:blip r:embed="rId3"/>
          <a:stretch>
            <a:fillRect/>
          </a:stretch>
        </p:blipFill>
        <p:spPr>
          <a:xfrm>
            <a:off x="7125853" y="1307690"/>
            <a:ext cx="3476657" cy="5214984"/>
          </a:xfrm>
          <a:prstGeom prst="rect">
            <a:avLst/>
          </a:prstGeom>
        </p:spPr>
      </p:pic>
    </p:spTree>
    <p:extLst>
      <p:ext uri="{BB962C8B-B14F-4D97-AF65-F5344CB8AC3E}">
        <p14:creationId xmlns:p14="http://schemas.microsoft.com/office/powerpoint/2010/main" val="11710569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D36FC-A6CA-3672-4D9A-5586622C143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8CB59E2-0E31-F770-8C25-FBD32E9FEC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153" y="0"/>
            <a:ext cx="1782977" cy="893667"/>
          </a:xfrm>
          <a:prstGeom prst="rect">
            <a:avLst/>
          </a:prstGeom>
          <a:noFill/>
          <a:ln>
            <a:noFill/>
          </a:ln>
        </p:spPr>
      </p:pic>
      <p:sp>
        <p:nvSpPr>
          <p:cNvPr id="2" name="TextBox 1">
            <a:extLst>
              <a:ext uri="{FF2B5EF4-FFF2-40B4-BE49-F238E27FC236}">
                <a16:creationId xmlns:a16="http://schemas.microsoft.com/office/drawing/2014/main" id="{D125B130-48C7-CCE9-3AE2-D75339A059C8}"/>
              </a:ext>
            </a:extLst>
          </p:cNvPr>
          <p:cNvSpPr txBox="1"/>
          <p:nvPr/>
        </p:nvSpPr>
        <p:spPr>
          <a:xfrm>
            <a:off x="2664543" y="247336"/>
            <a:ext cx="7285703"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Modern Tools &amp; Technologies</a:t>
            </a:r>
          </a:p>
        </p:txBody>
      </p:sp>
      <p:graphicFrame>
        <p:nvGraphicFramePr>
          <p:cNvPr id="4" name="Table 3">
            <a:extLst>
              <a:ext uri="{FF2B5EF4-FFF2-40B4-BE49-F238E27FC236}">
                <a16:creationId xmlns:a16="http://schemas.microsoft.com/office/drawing/2014/main" id="{73D1D134-3043-B85F-35D1-1BB260679FF9}"/>
              </a:ext>
            </a:extLst>
          </p:cNvPr>
          <p:cNvGraphicFramePr>
            <a:graphicFrameLocks noGrp="1"/>
          </p:cNvGraphicFramePr>
          <p:nvPr/>
        </p:nvGraphicFramePr>
        <p:xfrm>
          <a:off x="540774" y="1364201"/>
          <a:ext cx="11149782" cy="5105834"/>
        </p:xfrm>
        <a:graphic>
          <a:graphicData uri="http://schemas.openxmlformats.org/drawingml/2006/table">
            <a:tbl>
              <a:tblPr>
                <a:tableStyleId>{BC89EF96-8CEA-46FF-86C4-4CE0E7609802}</a:tableStyleId>
              </a:tblPr>
              <a:tblGrid>
                <a:gridCol w="3048000">
                  <a:extLst>
                    <a:ext uri="{9D8B030D-6E8A-4147-A177-3AD203B41FA5}">
                      <a16:colId xmlns:a16="http://schemas.microsoft.com/office/drawing/2014/main" val="3043217859"/>
                    </a:ext>
                  </a:extLst>
                </a:gridCol>
                <a:gridCol w="3451123">
                  <a:extLst>
                    <a:ext uri="{9D8B030D-6E8A-4147-A177-3AD203B41FA5}">
                      <a16:colId xmlns:a16="http://schemas.microsoft.com/office/drawing/2014/main" val="633451105"/>
                    </a:ext>
                  </a:extLst>
                </a:gridCol>
                <a:gridCol w="4650659">
                  <a:extLst>
                    <a:ext uri="{9D8B030D-6E8A-4147-A177-3AD203B41FA5}">
                      <a16:colId xmlns:a16="http://schemas.microsoft.com/office/drawing/2014/main" val="1200054879"/>
                    </a:ext>
                  </a:extLst>
                </a:gridCol>
              </a:tblGrid>
              <a:tr h="454754">
                <a:tc>
                  <a:txBody>
                    <a:bodyPr/>
                    <a:lstStyle/>
                    <a:p>
                      <a:pPr algn="ctr">
                        <a:buNone/>
                      </a:pPr>
                      <a:r>
                        <a:rPr lang="en-US" sz="1600" b="1" dirty="0">
                          <a:latin typeface="Times New Roman" panose="02020603050405020304" pitchFamily="18" charset="0"/>
                          <a:cs typeface="Times New Roman" panose="02020603050405020304" pitchFamily="18" charset="0"/>
                        </a:rPr>
                        <a:t>Category</a:t>
                      </a:r>
                    </a:p>
                  </a:txBody>
                  <a:tcPr marL="51802" marR="51802" marT="25901" marB="25901" anchor="ctr">
                    <a:solidFill>
                      <a:schemeClr val="accent5">
                        <a:lumMod val="60000"/>
                        <a:lumOff val="40000"/>
                      </a:schemeClr>
                    </a:solidFill>
                  </a:tcPr>
                </a:tc>
                <a:tc>
                  <a:txBody>
                    <a:bodyPr/>
                    <a:lstStyle/>
                    <a:p>
                      <a:pPr algn="ctr">
                        <a:buNone/>
                      </a:pPr>
                      <a:r>
                        <a:rPr lang="en-US" sz="1600" b="1" dirty="0">
                          <a:latin typeface="Times New Roman" panose="02020603050405020304" pitchFamily="18" charset="0"/>
                          <a:cs typeface="Times New Roman" panose="02020603050405020304" pitchFamily="18" charset="0"/>
                        </a:rPr>
                        <a:t>Tool / Technology</a:t>
                      </a:r>
                    </a:p>
                  </a:txBody>
                  <a:tcPr marL="51802" marR="51802" marT="25901" marB="25901" anchor="ctr">
                    <a:solidFill>
                      <a:schemeClr val="accent5">
                        <a:lumMod val="60000"/>
                        <a:lumOff val="40000"/>
                      </a:schemeClr>
                    </a:solidFill>
                  </a:tcPr>
                </a:tc>
                <a:tc>
                  <a:txBody>
                    <a:bodyPr/>
                    <a:lstStyle/>
                    <a:p>
                      <a:pPr algn="ctr">
                        <a:buNone/>
                      </a:pPr>
                      <a:r>
                        <a:rPr lang="en-US" sz="1600" b="1" dirty="0">
                          <a:latin typeface="Times New Roman" panose="02020603050405020304" pitchFamily="18" charset="0"/>
                          <a:cs typeface="Times New Roman" panose="02020603050405020304" pitchFamily="18" charset="0"/>
                        </a:rPr>
                        <a:t>Purpose in the Project</a:t>
                      </a:r>
                    </a:p>
                  </a:txBody>
                  <a:tcPr marL="51802" marR="51802" marT="25901" marB="25901" anchor="ctr">
                    <a:solidFill>
                      <a:schemeClr val="accent5">
                        <a:lumMod val="60000"/>
                        <a:lumOff val="40000"/>
                      </a:schemeClr>
                    </a:solidFill>
                  </a:tcPr>
                </a:tc>
                <a:extLst>
                  <a:ext uri="{0D108BD9-81ED-4DB2-BD59-A6C34878D82A}">
                    <a16:rowId xmlns:a16="http://schemas.microsoft.com/office/drawing/2014/main" val="1530848532"/>
                  </a:ext>
                </a:extLst>
              </a:tr>
              <a:tr h="430757">
                <a:tc>
                  <a:txBody>
                    <a:bodyPr/>
                    <a:lstStyle/>
                    <a:p>
                      <a:pPr>
                        <a:buNone/>
                      </a:pPr>
                      <a:r>
                        <a:rPr lang="en-US" sz="1400" dirty="0">
                          <a:latin typeface="Times New Roman" panose="02020603050405020304" pitchFamily="18" charset="0"/>
                          <a:cs typeface="Times New Roman" panose="02020603050405020304" pitchFamily="18" charset="0"/>
                        </a:rPr>
                        <a:t>Programming Language</a:t>
                      </a:r>
                    </a:p>
                  </a:txBody>
                  <a:tcPr marL="51802" marR="51802" marT="25901" marB="25901" anchor="ctr"/>
                </a:tc>
                <a:tc>
                  <a:txBody>
                    <a:bodyPr/>
                    <a:lstStyle/>
                    <a:p>
                      <a:pPr>
                        <a:buNone/>
                      </a:pPr>
                      <a:r>
                        <a:rPr lang="en-US" sz="1400">
                          <a:latin typeface="Times New Roman" panose="02020603050405020304" pitchFamily="18" charset="0"/>
                          <a:cs typeface="Times New Roman" panose="02020603050405020304" pitchFamily="18" charset="0"/>
                        </a:rPr>
                        <a:t>Python</a:t>
                      </a:r>
                    </a:p>
                  </a:txBody>
                  <a:tcPr marL="51802" marR="51802" marT="25901" marB="25901" anchor="ctr"/>
                </a:tc>
                <a:tc>
                  <a:txBody>
                    <a:bodyPr/>
                    <a:lstStyle/>
                    <a:p>
                      <a:pPr>
                        <a:buNone/>
                      </a:pPr>
                      <a:r>
                        <a:rPr lang="en-US" sz="1400" dirty="0">
                          <a:latin typeface="Times New Roman" panose="02020603050405020304" pitchFamily="18" charset="0"/>
                          <a:cs typeface="Times New Roman" panose="02020603050405020304" pitchFamily="18" charset="0"/>
                        </a:rPr>
                        <a:t>Core language for data analysis, preprocessing and project implementation</a:t>
                      </a:r>
                    </a:p>
                  </a:txBody>
                  <a:tcPr marL="51802" marR="51802" marT="25901" marB="25901" anchor="ctr"/>
                </a:tc>
                <a:extLst>
                  <a:ext uri="{0D108BD9-81ED-4DB2-BD59-A6C34878D82A}">
                    <a16:rowId xmlns:a16="http://schemas.microsoft.com/office/drawing/2014/main" val="489861072"/>
                  </a:ext>
                </a:extLst>
              </a:tr>
              <a:tr h="430757">
                <a:tc>
                  <a:txBody>
                    <a:bodyPr/>
                    <a:lstStyle/>
                    <a:p>
                      <a:pPr>
                        <a:buNone/>
                      </a:pPr>
                      <a:r>
                        <a:rPr lang="en-US" sz="1400">
                          <a:latin typeface="Times New Roman" panose="02020603050405020304" pitchFamily="18" charset="0"/>
                          <a:cs typeface="Times New Roman" panose="02020603050405020304" pitchFamily="18" charset="0"/>
                        </a:rPr>
                        <a:t>Development Environment</a:t>
                      </a:r>
                    </a:p>
                  </a:txBody>
                  <a:tcPr marL="51802" marR="51802" marT="25901" marB="25901" anchor="ctr"/>
                </a:tc>
                <a:tc>
                  <a:txBody>
                    <a:bodyPr/>
                    <a:lstStyle/>
                    <a:p>
                      <a:pPr>
                        <a:buNone/>
                      </a:pPr>
                      <a:r>
                        <a:rPr lang="en-US" sz="1400" dirty="0">
                          <a:latin typeface="Times New Roman" panose="02020603050405020304" pitchFamily="18" charset="0"/>
                          <a:cs typeface="Times New Roman" panose="02020603050405020304" pitchFamily="18" charset="0"/>
                        </a:rPr>
                        <a:t>Jupyter Notebook</a:t>
                      </a:r>
                    </a:p>
                  </a:txBody>
                  <a:tcPr marL="51802" marR="51802" marT="25901" marB="25901" anchor="ctr"/>
                </a:tc>
                <a:tc>
                  <a:txBody>
                    <a:bodyPr/>
                    <a:lstStyle/>
                    <a:p>
                      <a:pPr>
                        <a:buNone/>
                      </a:pPr>
                      <a:r>
                        <a:rPr lang="en-US" sz="1400">
                          <a:latin typeface="Times New Roman" panose="02020603050405020304" pitchFamily="18" charset="0"/>
                          <a:cs typeface="Times New Roman" panose="02020603050405020304" pitchFamily="18" charset="0"/>
                        </a:rPr>
                        <a:t>Interactive development, analysis and experimentation</a:t>
                      </a:r>
                    </a:p>
                  </a:txBody>
                  <a:tcPr marL="51802" marR="51802" marT="25901" marB="25901" anchor="ctr"/>
                </a:tc>
                <a:extLst>
                  <a:ext uri="{0D108BD9-81ED-4DB2-BD59-A6C34878D82A}">
                    <a16:rowId xmlns:a16="http://schemas.microsoft.com/office/drawing/2014/main" val="21865278"/>
                  </a:ext>
                </a:extLst>
              </a:tr>
              <a:tr h="430757">
                <a:tc>
                  <a:txBody>
                    <a:bodyPr/>
                    <a:lstStyle/>
                    <a:p>
                      <a:pPr>
                        <a:buNone/>
                      </a:pPr>
                      <a:r>
                        <a:rPr lang="en-US" sz="1400">
                          <a:latin typeface="Times New Roman" panose="02020603050405020304" pitchFamily="18" charset="0"/>
                          <a:cs typeface="Times New Roman" panose="02020603050405020304" pitchFamily="18" charset="0"/>
                        </a:rPr>
                        <a:t>Development Environment</a:t>
                      </a:r>
                    </a:p>
                  </a:txBody>
                  <a:tcPr marL="51802" marR="51802" marT="25901" marB="25901" anchor="ctr"/>
                </a:tc>
                <a:tc>
                  <a:txBody>
                    <a:bodyPr/>
                    <a:lstStyle/>
                    <a:p>
                      <a:pPr>
                        <a:buNone/>
                      </a:pPr>
                      <a:r>
                        <a:rPr lang="en-US" sz="1400" dirty="0">
                          <a:latin typeface="Times New Roman" panose="02020603050405020304" pitchFamily="18" charset="0"/>
                          <a:cs typeface="Times New Roman" panose="02020603050405020304" pitchFamily="18" charset="0"/>
                        </a:rPr>
                        <a:t>PyCharm</a:t>
                      </a:r>
                    </a:p>
                  </a:txBody>
                  <a:tcPr marL="51802" marR="51802" marT="25901" marB="25901" anchor="ctr"/>
                </a:tc>
                <a:tc>
                  <a:txBody>
                    <a:bodyPr/>
                    <a:lstStyle/>
                    <a:p>
                      <a:pPr>
                        <a:buNone/>
                      </a:pPr>
                      <a:r>
                        <a:rPr lang="en-US" sz="1400">
                          <a:latin typeface="Times New Roman" panose="02020603050405020304" pitchFamily="18" charset="0"/>
                          <a:cs typeface="Times New Roman" panose="02020603050405020304" pitchFamily="18" charset="0"/>
                        </a:rPr>
                        <a:t>Organized project implementation and management</a:t>
                      </a:r>
                    </a:p>
                  </a:txBody>
                  <a:tcPr marL="51802" marR="51802" marT="25901" marB="25901" anchor="ctr"/>
                </a:tc>
                <a:extLst>
                  <a:ext uri="{0D108BD9-81ED-4DB2-BD59-A6C34878D82A}">
                    <a16:rowId xmlns:a16="http://schemas.microsoft.com/office/drawing/2014/main" val="2368802604"/>
                  </a:ext>
                </a:extLst>
              </a:tr>
              <a:tr h="430757">
                <a:tc>
                  <a:txBody>
                    <a:bodyPr/>
                    <a:lstStyle/>
                    <a:p>
                      <a:pPr>
                        <a:buNone/>
                      </a:pPr>
                      <a:r>
                        <a:rPr lang="en-US" sz="1400" dirty="0">
                          <a:latin typeface="Times New Roman" panose="02020603050405020304" pitchFamily="18" charset="0"/>
                          <a:cs typeface="Times New Roman" panose="02020603050405020304" pitchFamily="18" charset="0"/>
                        </a:rPr>
                        <a:t>Data Processing</a:t>
                      </a:r>
                    </a:p>
                  </a:txBody>
                  <a:tcPr marL="51802" marR="51802" marT="25901" marB="25901" anchor="ctr"/>
                </a:tc>
                <a:tc>
                  <a:txBody>
                    <a:bodyPr/>
                    <a:lstStyle/>
                    <a:p>
                      <a:pPr>
                        <a:buNone/>
                      </a:pPr>
                      <a:r>
                        <a:rPr lang="en-US" sz="1400" dirty="0">
                          <a:latin typeface="Times New Roman" panose="02020603050405020304" pitchFamily="18" charset="0"/>
                          <a:cs typeface="Times New Roman" panose="02020603050405020304" pitchFamily="18" charset="0"/>
                        </a:rPr>
                        <a:t>Pandas</a:t>
                      </a:r>
                    </a:p>
                  </a:txBody>
                  <a:tcPr marL="51802" marR="51802" marT="25901" marB="25901" anchor="ctr"/>
                </a:tc>
                <a:tc>
                  <a:txBody>
                    <a:bodyPr/>
                    <a:lstStyle/>
                    <a:p>
                      <a:pPr>
                        <a:buNone/>
                      </a:pPr>
                      <a:r>
                        <a:rPr lang="en-US" sz="1400">
                          <a:latin typeface="Times New Roman" panose="02020603050405020304" pitchFamily="18" charset="0"/>
                          <a:cs typeface="Times New Roman" panose="02020603050405020304" pitchFamily="18" charset="0"/>
                        </a:rPr>
                        <a:t>Data loading, cleaning, transformation and analysis</a:t>
                      </a:r>
                    </a:p>
                  </a:txBody>
                  <a:tcPr marL="51802" marR="51802" marT="25901" marB="25901" anchor="ctr"/>
                </a:tc>
                <a:extLst>
                  <a:ext uri="{0D108BD9-81ED-4DB2-BD59-A6C34878D82A}">
                    <a16:rowId xmlns:a16="http://schemas.microsoft.com/office/drawing/2014/main" val="2789633599"/>
                  </a:ext>
                </a:extLst>
              </a:tr>
              <a:tr h="430757">
                <a:tc>
                  <a:txBody>
                    <a:bodyPr/>
                    <a:lstStyle/>
                    <a:p>
                      <a:pPr>
                        <a:buNone/>
                      </a:pPr>
                      <a:r>
                        <a:rPr lang="en-US" sz="1400">
                          <a:latin typeface="Times New Roman" panose="02020603050405020304" pitchFamily="18" charset="0"/>
                          <a:cs typeface="Times New Roman" panose="02020603050405020304" pitchFamily="18" charset="0"/>
                        </a:rPr>
                        <a:t>Numerical Computing</a:t>
                      </a:r>
                    </a:p>
                  </a:txBody>
                  <a:tcPr marL="51802" marR="51802" marT="25901" marB="25901" anchor="ctr"/>
                </a:tc>
                <a:tc>
                  <a:txBody>
                    <a:bodyPr/>
                    <a:lstStyle/>
                    <a:p>
                      <a:pPr>
                        <a:buNone/>
                      </a:pPr>
                      <a:r>
                        <a:rPr lang="en-US" sz="1400" dirty="0">
                          <a:latin typeface="Times New Roman" panose="02020603050405020304" pitchFamily="18" charset="0"/>
                          <a:cs typeface="Times New Roman" panose="02020603050405020304" pitchFamily="18" charset="0"/>
                        </a:rPr>
                        <a:t>NumPy</a:t>
                      </a:r>
                    </a:p>
                  </a:txBody>
                  <a:tcPr marL="51802" marR="51802" marT="25901" marB="25901" anchor="ctr"/>
                </a:tc>
                <a:tc>
                  <a:txBody>
                    <a:bodyPr/>
                    <a:lstStyle/>
                    <a:p>
                      <a:pPr>
                        <a:buNone/>
                      </a:pPr>
                      <a:r>
                        <a:rPr lang="en-US" sz="1400" dirty="0">
                          <a:latin typeface="Times New Roman" panose="02020603050405020304" pitchFamily="18" charset="0"/>
                          <a:cs typeface="Times New Roman" panose="02020603050405020304" pitchFamily="18" charset="0"/>
                        </a:rPr>
                        <a:t>Numerical operations and array-based computation</a:t>
                      </a:r>
                    </a:p>
                  </a:txBody>
                  <a:tcPr marL="51802" marR="51802" marT="25901" marB="25901" anchor="ctr"/>
                </a:tc>
                <a:extLst>
                  <a:ext uri="{0D108BD9-81ED-4DB2-BD59-A6C34878D82A}">
                    <a16:rowId xmlns:a16="http://schemas.microsoft.com/office/drawing/2014/main" val="3507928665"/>
                  </a:ext>
                </a:extLst>
              </a:tr>
              <a:tr h="430757">
                <a:tc>
                  <a:txBody>
                    <a:bodyPr/>
                    <a:lstStyle/>
                    <a:p>
                      <a:pPr>
                        <a:buNone/>
                      </a:pPr>
                      <a:r>
                        <a:rPr lang="en-US" sz="1400">
                          <a:latin typeface="Times New Roman" panose="02020603050405020304" pitchFamily="18" charset="0"/>
                          <a:cs typeface="Times New Roman" panose="02020603050405020304" pitchFamily="18" charset="0"/>
                        </a:rPr>
                        <a:t>Data Visualization</a:t>
                      </a:r>
                    </a:p>
                  </a:txBody>
                  <a:tcPr marL="51802" marR="51802" marT="25901" marB="25901" anchor="ctr"/>
                </a:tc>
                <a:tc>
                  <a:txBody>
                    <a:bodyPr/>
                    <a:lstStyle/>
                    <a:p>
                      <a:pPr>
                        <a:buNone/>
                      </a:pPr>
                      <a:r>
                        <a:rPr lang="en-US" sz="1400">
                          <a:latin typeface="Times New Roman" panose="02020603050405020304" pitchFamily="18" charset="0"/>
                          <a:cs typeface="Times New Roman" panose="02020603050405020304" pitchFamily="18" charset="0"/>
                        </a:rPr>
                        <a:t>Matplotlib</a:t>
                      </a:r>
                    </a:p>
                  </a:txBody>
                  <a:tcPr marL="51802" marR="51802" marT="25901" marB="25901" anchor="ctr"/>
                </a:tc>
                <a:tc>
                  <a:txBody>
                    <a:bodyPr/>
                    <a:lstStyle/>
                    <a:p>
                      <a:pPr>
                        <a:buNone/>
                      </a:pPr>
                      <a:r>
                        <a:rPr lang="en-US" sz="1400">
                          <a:latin typeface="Times New Roman" panose="02020603050405020304" pitchFamily="18" charset="0"/>
                          <a:cs typeface="Times New Roman" panose="02020603050405020304" pitchFamily="18" charset="0"/>
                        </a:rPr>
                        <a:t>Histograms, box plots and analytical visualizations</a:t>
                      </a:r>
                    </a:p>
                  </a:txBody>
                  <a:tcPr marL="51802" marR="51802" marT="25901" marB="25901" anchor="ctr"/>
                </a:tc>
                <a:extLst>
                  <a:ext uri="{0D108BD9-81ED-4DB2-BD59-A6C34878D82A}">
                    <a16:rowId xmlns:a16="http://schemas.microsoft.com/office/drawing/2014/main" val="358008059"/>
                  </a:ext>
                </a:extLst>
              </a:tr>
              <a:tr h="430757">
                <a:tc>
                  <a:txBody>
                    <a:bodyPr/>
                    <a:lstStyle/>
                    <a:p>
                      <a:pPr>
                        <a:buNone/>
                      </a:pPr>
                      <a:r>
                        <a:rPr lang="en-US" sz="1400">
                          <a:latin typeface="Times New Roman" panose="02020603050405020304" pitchFamily="18" charset="0"/>
                          <a:cs typeface="Times New Roman" panose="02020603050405020304" pitchFamily="18" charset="0"/>
                        </a:rPr>
                        <a:t>Data Visualization</a:t>
                      </a:r>
                    </a:p>
                  </a:txBody>
                  <a:tcPr marL="51802" marR="51802" marT="25901" marB="25901" anchor="ctr"/>
                </a:tc>
                <a:tc>
                  <a:txBody>
                    <a:bodyPr/>
                    <a:lstStyle/>
                    <a:p>
                      <a:pPr>
                        <a:buNone/>
                      </a:pPr>
                      <a:r>
                        <a:rPr lang="en-US" sz="1400">
                          <a:latin typeface="Times New Roman" panose="02020603050405020304" pitchFamily="18" charset="0"/>
                          <a:cs typeface="Times New Roman" panose="02020603050405020304" pitchFamily="18" charset="0"/>
                        </a:rPr>
                        <a:t>Seaborn</a:t>
                      </a:r>
                    </a:p>
                  </a:txBody>
                  <a:tcPr marL="51802" marR="51802" marT="25901" marB="25901" anchor="ctr"/>
                </a:tc>
                <a:tc>
                  <a:txBody>
                    <a:bodyPr/>
                    <a:lstStyle/>
                    <a:p>
                      <a:pPr>
                        <a:buNone/>
                      </a:pPr>
                      <a:r>
                        <a:rPr lang="en-US" sz="1400">
                          <a:latin typeface="Times New Roman" panose="02020603050405020304" pitchFamily="18" charset="0"/>
                          <a:cs typeface="Times New Roman" panose="02020603050405020304" pitchFamily="18" charset="0"/>
                        </a:rPr>
                        <a:t>Statistical plots, correlation analysis and heatmaps</a:t>
                      </a:r>
                    </a:p>
                  </a:txBody>
                  <a:tcPr marL="51802" marR="51802" marT="25901" marB="25901" anchor="ctr"/>
                </a:tc>
                <a:extLst>
                  <a:ext uri="{0D108BD9-81ED-4DB2-BD59-A6C34878D82A}">
                    <a16:rowId xmlns:a16="http://schemas.microsoft.com/office/drawing/2014/main" val="3003629467"/>
                  </a:ext>
                </a:extLst>
              </a:tr>
              <a:tr h="295745">
                <a:tc>
                  <a:txBody>
                    <a:bodyPr/>
                    <a:lstStyle/>
                    <a:p>
                      <a:pPr>
                        <a:buNone/>
                      </a:pPr>
                      <a:r>
                        <a:rPr lang="en-US" sz="1400">
                          <a:latin typeface="Times New Roman" panose="02020603050405020304" pitchFamily="18" charset="0"/>
                          <a:cs typeface="Times New Roman" panose="02020603050405020304" pitchFamily="18" charset="0"/>
                        </a:rPr>
                        <a:t>Data Storage</a:t>
                      </a:r>
                    </a:p>
                  </a:txBody>
                  <a:tcPr marL="51802" marR="51802" marT="25901" marB="25901" anchor="ctr"/>
                </a:tc>
                <a:tc>
                  <a:txBody>
                    <a:bodyPr/>
                    <a:lstStyle/>
                    <a:p>
                      <a:pPr>
                        <a:buNone/>
                      </a:pPr>
                      <a:r>
                        <a:rPr lang="en-US" sz="1400">
                          <a:latin typeface="Times New Roman" panose="02020603050405020304" pitchFamily="18" charset="0"/>
                          <a:cs typeface="Times New Roman" panose="02020603050405020304" pitchFamily="18" charset="0"/>
                        </a:rPr>
                        <a:t>CSV</a:t>
                      </a:r>
                    </a:p>
                  </a:txBody>
                  <a:tcPr marL="51802" marR="51802" marT="25901" marB="25901" anchor="ctr"/>
                </a:tc>
                <a:tc>
                  <a:txBody>
                    <a:bodyPr/>
                    <a:lstStyle/>
                    <a:p>
                      <a:pPr>
                        <a:buNone/>
                      </a:pPr>
                      <a:r>
                        <a:rPr lang="en-US" sz="1400">
                          <a:latin typeface="Times New Roman" panose="02020603050405020304" pitchFamily="18" charset="0"/>
                          <a:cs typeface="Times New Roman" panose="02020603050405020304" pitchFamily="18" charset="0"/>
                        </a:rPr>
                        <a:t>Storage and handling of the project datasets</a:t>
                      </a:r>
                    </a:p>
                  </a:txBody>
                  <a:tcPr marL="51802" marR="51802" marT="25901" marB="25901" anchor="ctr"/>
                </a:tc>
                <a:extLst>
                  <a:ext uri="{0D108BD9-81ED-4DB2-BD59-A6C34878D82A}">
                    <a16:rowId xmlns:a16="http://schemas.microsoft.com/office/drawing/2014/main" val="1004641569"/>
                  </a:ext>
                </a:extLst>
              </a:tr>
              <a:tr h="430757">
                <a:tc>
                  <a:txBody>
                    <a:bodyPr/>
                    <a:lstStyle/>
                    <a:p>
                      <a:pPr>
                        <a:buNone/>
                      </a:pPr>
                      <a:r>
                        <a:rPr lang="en-US" sz="1400">
                          <a:latin typeface="Times New Roman" panose="02020603050405020304" pitchFamily="18" charset="0"/>
                          <a:cs typeface="Times New Roman" panose="02020603050405020304" pitchFamily="18" charset="0"/>
                        </a:rPr>
                        <a:t>Machine Learning</a:t>
                      </a:r>
                    </a:p>
                  </a:txBody>
                  <a:tcPr marL="51802" marR="51802" marT="25901" marB="25901" anchor="ctr"/>
                </a:tc>
                <a:tc>
                  <a:txBody>
                    <a:bodyPr/>
                    <a:lstStyle/>
                    <a:p>
                      <a:pPr>
                        <a:buNone/>
                      </a:pPr>
                      <a:r>
                        <a:rPr lang="en-US" sz="1400">
                          <a:latin typeface="Times New Roman" panose="02020603050405020304" pitchFamily="18" charset="0"/>
                          <a:cs typeface="Times New Roman" panose="02020603050405020304" pitchFamily="18" charset="0"/>
                        </a:rPr>
                        <a:t>Scikit-learn</a:t>
                      </a:r>
                    </a:p>
                  </a:txBody>
                  <a:tcPr marL="51802" marR="51802" marT="25901" marB="25901" anchor="ctr"/>
                </a:tc>
                <a:tc>
                  <a:txBody>
                    <a:bodyPr/>
                    <a:lstStyle/>
                    <a:p>
                      <a:pPr>
                        <a:buNone/>
                      </a:pPr>
                      <a:r>
                        <a:rPr lang="en-US" sz="1400" dirty="0">
                          <a:latin typeface="Times New Roman" panose="02020603050405020304" pitchFamily="18" charset="0"/>
                          <a:cs typeface="Times New Roman" panose="02020603050405020304" pitchFamily="18" charset="0"/>
                        </a:rPr>
                        <a:t>Model development, prediction and performance evaluation</a:t>
                      </a:r>
                    </a:p>
                  </a:txBody>
                  <a:tcPr marL="51802" marR="51802" marT="25901" marB="25901" anchor="ctr"/>
                </a:tc>
                <a:extLst>
                  <a:ext uri="{0D108BD9-81ED-4DB2-BD59-A6C34878D82A}">
                    <a16:rowId xmlns:a16="http://schemas.microsoft.com/office/drawing/2014/main" val="1039812652"/>
                  </a:ext>
                </a:extLst>
              </a:tr>
              <a:tr h="430757">
                <a:tc>
                  <a:txBody>
                    <a:bodyPr/>
                    <a:lstStyle/>
                    <a:p>
                      <a:pPr>
                        <a:buNone/>
                      </a:pPr>
                      <a:r>
                        <a:rPr lang="en-US" sz="1400">
                          <a:latin typeface="Times New Roman" panose="02020603050405020304" pitchFamily="18" charset="0"/>
                          <a:cs typeface="Times New Roman" panose="02020603050405020304" pitchFamily="18" charset="0"/>
                        </a:rPr>
                        <a:t>Explainable AI</a:t>
                      </a:r>
                    </a:p>
                  </a:txBody>
                  <a:tcPr marL="51802" marR="51802" marT="25901" marB="25901" anchor="ctr"/>
                </a:tc>
                <a:tc>
                  <a:txBody>
                    <a:bodyPr/>
                    <a:lstStyle/>
                    <a:p>
                      <a:pPr>
                        <a:buNone/>
                      </a:pPr>
                      <a:r>
                        <a:rPr lang="en-US" sz="1400">
                          <a:latin typeface="Times New Roman" panose="02020603050405020304" pitchFamily="18" charset="0"/>
                          <a:cs typeface="Times New Roman" panose="02020603050405020304" pitchFamily="18" charset="0"/>
                        </a:rPr>
                        <a:t>SHAP</a:t>
                      </a:r>
                    </a:p>
                  </a:txBody>
                  <a:tcPr marL="51802" marR="51802" marT="25901" marB="25901" anchor="ctr"/>
                </a:tc>
                <a:tc>
                  <a:txBody>
                    <a:bodyPr/>
                    <a:lstStyle/>
                    <a:p>
                      <a:pPr>
                        <a:buNone/>
                      </a:pPr>
                      <a:r>
                        <a:rPr lang="en-US" sz="1400">
                          <a:latin typeface="Times New Roman" panose="02020603050405020304" pitchFamily="18" charset="0"/>
                          <a:cs typeface="Times New Roman" panose="02020603050405020304" pitchFamily="18" charset="0"/>
                        </a:rPr>
                        <a:t>Interpretation and explanation of machine-learning predictions</a:t>
                      </a:r>
                    </a:p>
                  </a:txBody>
                  <a:tcPr marL="51802" marR="51802" marT="25901" marB="25901" anchor="ctr"/>
                </a:tc>
                <a:extLst>
                  <a:ext uri="{0D108BD9-81ED-4DB2-BD59-A6C34878D82A}">
                    <a16:rowId xmlns:a16="http://schemas.microsoft.com/office/drawing/2014/main" val="2991686252"/>
                  </a:ext>
                </a:extLst>
              </a:tr>
              <a:tr h="430757">
                <a:tc>
                  <a:txBody>
                    <a:bodyPr/>
                    <a:lstStyle/>
                    <a:p>
                      <a:pPr>
                        <a:buNone/>
                      </a:pPr>
                      <a:r>
                        <a:rPr lang="en-US" sz="1400">
                          <a:latin typeface="Times New Roman" panose="02020603050405020304" pitchFamily="18" charset="0"/>
                          <a:cs typeface="Times New Roman" panose="02020603050405020304" pitchFamily="18" charset="0"/>
                        </a:rPr>
                        <a:t>Dashboard / Visualization</a:t>
                      </a:r>
                    </a:p>
                  </a:txBody>
                  <a:tcPr marL="51802" marR="51802" marT="25901" marB="25901" anchor="ctr"/>
                </a:tc>
                <a:tc>
                  <a:txBody>
                    <a:bodyPr/>
                    <a:lstStyle/>
                    <a:p>
                      <a:pPr>
                        <a:buNone/>
                      </a:pPr>
                      <a:r>
                        <a:rPr lang="en-US" sz="1400">
                          <a:latin typeface="Times New Roman" panose="02020603050405020304" pitchFamily="18" charset="0"/>
                          <a:cs typeface="Times New Roman" panose="02020603050405020304" pitchFamily="18" charset="0"/>
                        </a:rPr>
                        <a:t>Interactive Dashboard</a:t>
                      </a:r>
                    </a:p>
                  </a:txBody>
                  <a:tcPr marL="51802" marR="51802" marT="25901" marB="25901" anchor="ctr"/>
                </a:tc>
                <a:tc>
                  <a:txBody>
                    <a:bodyPr/>
                    <a:lstStyle/>
                    <a:p>
                      <a:pPr>
                        <a:buNone/>
                      </a:pPr>
                      <a:r>
                        <a:rPr lang="en-US" sz="1400" dirty="0">
                          <a:latin typeface="Times New Roman" panose="02020603050405020304" pitchFamily="18" charset="0"/>
                          <a:cs typeface="Times New Roman" panose="02020603050405020304" pitchFamily="18" charset="0"/>
                        </a:rPr>
                        <a:t>Presentation of analytical insights and model results</a:t>
                      </a:r>
                    </a:p>
                  </a:txBody>
                  <a:tcPr marL="51802" marR="51802" marT="25901" marB="25901" anchor="ctr"/>
                </a:tc>
                <a:extLst>
                  <a:ext uri="{0D108BD9-81ED-4DB2-BD59-A6C34878D82A}">
                    <a16:rowId xmlns:a16="http://schemas.microsoft.com/office/drawing/2014/main" val="530943989"/>
                  </a:ext>
                </a:extLst>
              </a:tr>
            </a:tbl>
          </a:graphicData>
        </a:graphic>
      </p:graphicFrame>
    </p:spTree>
    <p:extLst>
      <p:ext uri="{BB962C8B-B14F-4D97-AF65-F5344CB8AC3E}">
        <p14:creationId xmlns:p14="http://schemas.microsoft.com/office/powerpoint/2010/main" val="24901697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AB741-02AC-C151-41B9-1C53C48294D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D698B7D-A12C-DE9C-26FD-EF5EF47D99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817" y="111154"/>
            <a:ext cx="2087777" cy="1046439"/>
          </a:xfrm>
          <a:prstGeom prst="rect">
            <a:avLst/>
          </a:prstGeom>
          <a:noFill/>
          <a:ln>
            <a:noFill/>
          </a:ln>
        </p:spPr>
      </p:pic>
      <p:sp>
        <p:nvSpPr>
          <p:cNvPr id="2" name="TextBox 1">
            <a:extLst>
              <a:ext uri="{FF2B5EF4-FFF2-40B4-BE49-F238E27FC236}">
                <a16:creationId xmlns:a16="http://schemas.microsoft.com/office/drawing/2014/main" id="{B5967C39-7028-E3BD-BD02-68F5D093FED3}"/>
              </a:ext>
            </a:extLst>
          </p:cNvPr>
          <p:cNvSpPr txBox="1"/>
          <p:nvPr/>
        </p:nvSpPr>
        <p:spPr>
          <a:xfrm>
            <a:off x="2762864" y="414511"/>
            <a:ext cx="6666271"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Results</a:t>
            </a:r>
          </a:p>
        </p:txBody>
      </p:sp>
      <p:sp>
        <p:nvSpPr>
          <p:cNvPr id="3" name="TextBox 2">
            <a:extLst>
              <a:ext uri="{FF2B5EF4-FFF2-40B4-BE49-F238E27FC236}">
                <a16:creationId xmlns:a16="http://schemas.microsoft.com/office/drawing/2014/main" id="{F185DC00-9A2A-DBEF-DC80-7875CA0D7041}"/>
              </a:ext>
            </a:extLst>
          </p:cNvPr>
          <p:cNvSpPr txBox="1"/>
          <p:nvPr/>
        </p:nvSpPr>
        <p:spPr>
          <a:xfrm>
            <a:off x="639096" y="1157593"/>
            <a:ext cx="11159613" cy="5770811"/>
          </a:xfrm>
          <a:prstGeom prst="rect">
            <a:avLst/>
          </a:prstGeom>
          <a:noFill/>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Data Cleaning</a:t>
            </a:r>
          </a:p>
          <a:p>
            <a:pPr lvl="0">
              <a:lnSpc>
                <a:spcPct val="150000"/>
              </a:lnSpc>
            </a:pPr>
            <a:r>
              <a:rPr lang="en-US" dirty="0">
                <a:latin typeface="Times New Roman" panose="02020603050405020304" pitchFamily="18" charset="0"/>
                <a:cs typeface="Times New Roman" panose="02020603050405020304" pitchFamily="18" charset="0"/>
              </a:rPr>
              <a:t>Successfully cleaned all three datasets by handling missing values, duplicates, and invalid records. </a:t>
            </a:r>
          </a:p>
          <a:p>
            <a:pPr lvl="0">
              <a:lnSpc>
                <a:spcPct val="150000"/>
              </a:lnSpc>
            </a:pPr>
            <a:r>
              <a:rPr lang="en-US" dirty="0">
                <a:latin typeface="Times New Roman" panose="02020603050405020304" pitchFamily="18" charset="0"/>
                <a:cs typeface="Times New Roman" panose="02020603050405020304" pitchFamily="18" charset="0"/>
              </a:rPr>
              <a:t>Generated clean datasets ready for analysis. </a:t>
            </a:r>
          </a:p>
          <a:p>
            <a:pPr>
              <a:lnSpc>
                <a:spcPct val="150000"/>
              </a:lnSpc>
            </a:pPr>
            <a:r>
              <a:rPr lang="en-US" b="1" dirty="0">
                <a:latin typeface="Times New Roman" panose="02020603050405020304" pitchFamily="18" charset="0"/>
                <a:cs typeface="Times New Roman" panose="02020603050405020304" pitchFamily="18" charset="0"/>
              </a:rPr>
              <a:t>EDA Findings</a:t>
            </a:r>
          </a:p>
          <a:p>
            <a:pPr lvl="0">
              <a:lnSpc>
                <a:spcPct val="150000"/>
              </a:lnSpc>
            </a:pPr>
            <a:r>
              <a:rPr lang="en-US" dirty="0">
                <a:latin typeface="Times New Roman" panose="02020603050405020304" pitchFamily="18" charset="0"/>
                <a:cs typeface="Times New Roman" panose="02020603050405020304" pitchFamily="18" charset="0"/>
              </a:rPr>
              <a:t>Identified important data distributions, patterns, outliers, and correlations. </a:t>
            </a:r>
          </a:p>
          <a:p>
            <a:pPr lvl="0">
              <a:lnSpc>
                <a:spcPct val="150000"/>
              </a:lnSpc>
            </a:pPr>
            <a:r>
              <a:rPr lang="en-US" dirty="0">
                <a:latin typeface="Times New Roman" panose="02020603050405020304" pitchFamily="18" charset="0"/>
                <a:cs typeface="Times New Roman" panose="02020603050405020304" pitchFamily="18" charset="0"/>
              </a:rPr>
              <a:t>Detected highly correlated and redundant features. </a:t>
            </a:r>
          </a:p>
          <a:p>
            <a:pPr>
              <a:lnSpc>
                <a:spcPct val="150000"/>
              </a:lnSpc>
            </a:pPr>
            <a:r>
              <a:rPr lang="en-US" b="1" dirty="0">
                <a:latin typeface="Times New Roman" panose="02020603050405020304" pitchFamily="18" charset="0"/>
                <a:cs typeface="Times New Roman" panose="02020603050405020304" pitchFamily="18" charset="0"/>
              </a:rPr>
              <a:t>Feature Engineering</a:t>
            </a:r>
          </a:p>
          <a:p>
            <a:pPr lvl="0">
              <a:lnSpc>
                <a:spcPct val="150000"/>
              </a:lnSpc>
            </a:pPr>
            <a:r>
              <a:rPr lang="en-US" dirty="0">
                <a:latin typeface="Times New Roman" panose="02020603050405020304" pitchFamily="18" charset="0"/>
                <a:cs typeface="Times New Roman" panose="02020603050405020304" pitchFamily="18" charset="0"/>
              </a:rPr>
              <a:t>Created meaningful domain-specific features for Air Quality, Weather, and Energy datasets. </a:t>
            </a:r>
          </a:p>
          <a:p>
            <a:pPr>
              <a:lnSpc>
                <a:spcPct val="150000"/>
              </a:lnSpc>
            </a:pPr>
            <a:r>
              <a:rPr lang="en-US" b="1" dirty="0">
                <a:latin typeface="Times New Roman" panose="02020603050405020304" pitchFamily="18" charset="0"/>
                <a:cs typeface="Times New Roman" panose="02020603050405020304" pitchFamily="18" charset="0"/>
              </a:rPr>
              <a:t>Feature Selection</a:t>
            </a:r>
          </a:p>
          <a:p>
            <a:pPr lvl="0">
              <a:lnSpc>
                <a:spcPct val="150000"/>
              </a:lnSpc>
            </a:pPr>
            <a:r>
              <a:rPr lang="en-US" dirty="0">
                <a:latin typeface="Times New Roman" panose="02020603050405020304" pitchFamily="18" charset="0"/>
                <a:cs typeface="Times New Roman" panose="02020603050405020304" pitchFamily="18" charset="0"/>
              </a:rPr>
              <a:t>Reduced feature redundancy using correlation analysis (|r| &gt; 0.85). </a:t>
            </a:r>
          </a:p>
          <a:p>
            <a:pPr lvl="0">
              <a:lnSpc>
                <a:spcPct val="150000"/>
              </a:lnSpc>
            </a:pPr>
            <a:r>
              <a:rPr lang="en-US" dirty="0">
                <a:latin typeface="Times New Roman" panose="02020603050405020304" pitchFamily="18" charset="0"/>
                <a:cs typeface="Times New Roman" panose="02020603050405020304" pitchFamily="18" charset="0"/>
              </a:rPr>
              <a:t>Identified and avoided potential target leakage. </a:t>
            </a:r>
          </a:p>
          <a:p>
            <a:pPr>
              <a:lnSpc>
                <a:spcPct val="150000"/>
              </a:lnSpc>
            </a:pPr>
            <a:r>
              <a:rPr lang="en-US" b="1" dirty="0">
                <a:latin typeface="Times New Roman" panose="02020603050405020304" pitchFamily="18" charset="0"/>
                <a:cs typeface="Times New Roman" panose="02020603050405020304" pitchFamily="18" charset="0"/>
              </a:rPr>
              <a:t>Final Outcome:</a:t>
            </a:r>
          </a:p>
          <a:p>
            <a:pPr>
              <a:lnSpc>
                <a:spcPct val="150000"/>
              </a:lnSpc>
            </a:pPr>
            <a:r>
              <a:rPr lang="en-US" b="1" dirty="0">
                <a:latin typeface="Times New Roman" panose="02020603050405020304" pitchFamily="18" charset="0"/>
                <a:cs typeface="Times New Roman" panose="02020603050405020304" pitchFamily="18" charset="0"/>
              </a:rPr>
              <a:t>Cleaned Data → EDA Insights → Engineered Features → Selected Features → Ready for Predictive Modeling</a:t>
            </a:r>
            <a:endParaRPr lang="en-US"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7666289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5A114-12B5-A578-692F-CE08F7B8FFE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046BB00-43F2-842F-D776-A59BDB57AD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817" y="111154"/>
            <a:ext cx="2499986" cy="1253047"/>
          </a:xfrm>
          <a:prstGeom prst="rect">
            <a:avLst/>
          </a:prstGeom>
          <a:noFill/>
          <a:ln>
            <a:noFill/>
          </a:ln>
        </p:spPr>
      </p:pic>
      <p:sp>
        <p:nvSpPr>
          <p:cNvPr id="2" name="TextBox 1">
            <a:extLst>
              <a:ext uri="{FF2B5EF4-FFF2-40B4-BE49-F238E27FC236}">
                <a16:creationId xmlns:a16="http://schemas.microsoft.com/office/drawing/2014/main" id="{9B7A7956-B1E1-CA6E-5270-9A8F6EE3E9AE}"/>
              </a:ext>
            </a:extLst>
          </p:cNvPr>
          <p:cNvSpPr txBox="1"/>
          <p:nvPr/>
        </p:nvSpPr>
        <p:spPr>
          <a:xfrm>
            <a:off x="3412539" y="550607"/>
            <a:ext cx="5810864"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Performance Evaluation</a:t>
            </a:r>
          </a:p>
        </p:txBody>
      </p:sp>
      <p:sp>
        <p:nvSpPr>
          <p:cNvPr id="3" name="TextBox 2">
            <a:extLst>
              <a:ext uri="{FF2B5EF4-FFF2-40B4-BE49-F238E27FC236}">
                <a16:creationId xmlns:a16="http://schemas.microsoft.com/office/drawing/2014/main" id="{06C4A63D-0799-B7BB-9FDF-DCBACDAC10D2}"/>
              </a:ext>
            </a:extLst>
          </p:cNvPr>
          <p:cNvSpPr txBox="1"/>
          <p:nvPr/>
        </p:nvSpPr>
        <p:spPr>
          <a:xfrm>
            <a:off x="658761" y="1543665"/>
            <a:ext cx="11090787" cy="5355312"/>
          </a:xfrm>
          <a:prstGeom prst="rect">
            <a:avLst/>
          </a:prstGeom>
          <a:noFill/>
        </p:spPr>
        <p:txBody>
          <a:bodyPr wrap="square" rtlCol="0">
            <a:spAutoFit/>
          </a:bodyPr>
          <a:lstStyle/>
          <a:p>
            <a:pPr>
              <a:lnSpc>
                <a:spcPct val="150000"/>
              </a:lnSpc>
            </a:pPr>
            <a:r>
              <a:rPr lang="en-US" dirty="0">
                <a:latin typeface="Times New Roman" panose="02020603050405020304" pitchFamily="18" charset="0"/>
                <a:cs typeface="Times New Roman" panose="02020603050405020304" pitchFamily="18" charset="0"/>
              </a:rPr>
              <a:t>The predictive models will be evaluated and compared based on their ability to generate accurate and reliable predictions.</a:t>
            </a:r>
          </a:p>
          <a:p>
            <a:pPr lvl="0">
              <a:lnSpc>
                <a:spcPct val="150000"/>
              </a:lnSpc>
            </a:pPr>
            <a:r>
              <a:rPr lang="en-US" b="1" dirty="0">
                <a:latin typeface="Times New Roman" panose="02020603050405020304" pitchFamily="18" charset="0"/>
                <a:cs typeface="Times New Roman" panose="02020603050405020304" pitchFamily="18" charset="0"/>
              </a:rPr>
              <a:t>MAE:</a:t>
            </a:r>
            <a:r>
              <a:rPr lang="en-US" dirty="0">
                <a:latin typeface="Times New Roman" panose="02020603050405020304" pitchFamily="18" charset="0"/>
                <a:cs typeface="Times New Roman" panose="02020603050405020304" pitchFamily="18" charset="0"/>
              </a:rPr>
              <a:t> Measures average prediction error. </a:t>
            </a:r>
          </a:p>
          <a:p>
            <a:pPr lvl="0">
              <a:lnSpc>
                <a:spcPct val="150000"/>
              </a:lnSpc>
            </a:pPr>
            <a:r>
              <a:rPr lang="en-US" b="1" dirty="0">
                <a:latin typeface="Times New Roman" panose="02020603050405020304" pitchFamily="18" charset="0"/>
                <a:cs typeface="Times New Roman" panose="02020603050405020304" pitchFamily="18" charset="0"/>
              </a:rPr>
              <a:t>MSE:</a:t>
            </a:r>
            <a:r>
              <a:rPr lang="en-US" dirty="0">
                <a:latin typeface="Times New Roman" panose="02020603050405020304" pitchFamily="18" charset="0"/>
                <a:cs typeface="Times New Roman" panose="02020603050405020304" pitchFamily="18" charset="0"/>
              </a:rPr>
              <a:t> Penalizes larger errors more heavily. </a:t>
            </a:r>
          </a:p>
          <a:p>
            <a:pPr lvl="0">
              <a:lnSpc>
                <a:spcPct val="150000"/>
              </a:lnSpc>
            </a:pPr>
            <a:r>
              <a:rPr lang="en-US" b="1" dirty="0">
                <a:latin typeface="Times New Roman" panose="02020603050405020304" pitchFamily="18" charset="0"/>
                <a:cs typeface="Times New Roman" panose="02020603050405020304" pitchFamily="18" charset="0"/>
              </a:rPr>
              <a:t>RMSE:</a:t>
            </a:r>
            <a:r>
              <a:rPr lang="en-US" dirty="0">
                <a:latin typeface="Times New Roman" panose="02020603050405020304" pitchFamily="18" charset="0"/>
                <a:cs typeface="Times New Roman" panose="02020603050405020304" pitchFamily="18" charset="0"/>
              </a:rPr>
              <a:t> Measures error in the target’s original scale. </a:t>
            </a:r>
          </a:p>
          <a:p>
            <a:pPr lvl="0">
              <a:lnSpc>
                <a:spcPct val="150000"/>
              </a:lnSpc>
            </a:pPr>
            <a:r>
              <a:rPr lang="en-US" b="1" dirty="0">
                <a:latin typeface="Times New Roman" panose="02020603050405020304" pitchFamily="18" charset="0"/>
                <a:cs typeface="Times New Roman" panose="02020603050405020304" pitchFamily="18" charset="0"/>
              </a:rPr>
              <a:t>R² Score:</a:t>
            </a:r>
            <a:r>
              <a:rPr lang="en-US" dirty="0">
                <a:latin typeface="Times New Roman" panose="02020603050405020304" pitchFamily="18" charset="0"/>
                <a:cs typeface="Times New Roman" panose="02020603050405020304" pitchFamily="18" charset="0"/>
              </a:rPr>
              <a:t> Measures how well the model explains the target variation. </a:t>
            </a:r>
          </a:p>
          <a:p>
            <a:pPr>
              <a:lnSpc>
                <a:spcPct val="150000"/>
              </a:lnSpc>
            </a:pPr>
            <a:r>
              <a:rPr lang="en-US" b="1" dirty="0">
                <a:latin typeface="Times New Roman" panose="02020603050405020304" pitchFamily="18" charset="0"/>
                <a:cs typeface="Times New Roman" panose="02020603050405020304" pitchFamily="18" charset="0"/>
              </a:rPr>
              <a:t>Model Comparison: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Different ML models will be trained and compared using these metrics.</a:t>
            </a:r>
          </a:p>
          <a:p>
            <a:pPr>
              <a:lnSpc>
                <a:spcPct val="150000"/>
              </a:lnSpc>
            </a:pPr>
            <a:r>
              <a:rPr lang="en-US" b="1" dirty="0">
                <a:latin typeface="Times New Roman" panose="02020603050405020304" pitchFamily="18" charset="0"/>
                <a:cs typeface="Times New Roman" panose="02020603050405020304" pitchFamily="18" charset="0"/>
              </a:rPr>
              <a:t>Final Selection: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best-performing model will be selected for prediction and explainability.</a:t>
            </a:r>
          </a:p>
          <a:p>
            <a:pPr>
              <a:lnSpc>
                <a:spcPct val="150000"/>
              </a:lnSpc>
            </a:pPr>
            <a:r>
              <a:rPr lang="en-US" b="1" dirty="0">
                <a:latin typeface="Times New Roman" panose="02020603050405020304" pitchFamily="18" charset="0"/>
                <a:cs typeface="Times New Roman" panose="02020603050405020304" pitchFamily="18" charset="0"/>
              </a:rPr>
              <a:t>Flow:</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Selected Features → Model Training → Prediction → Evaluation → Best Model</a:t>
            </a:r>
            <a:endParaRPr lang="en-US"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2335692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FEABA-25BE-F373-D7A8-3530277C517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61992E5-1C32-573B-3038-AB0027F449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658" y="75795"/>
            <a:ext cx="2038867" cy="1021924"/>
          </a:xfrm>
          <a:prstGeom prst="rect">
            <a:avLst/>
          </a:prstGeom>
          <a:noFill/>
          <a:ln>
            <a:noFill/>
          </a:ln>
        </p:spPr>
      </p:pic>
      <p:sp>
        <p:nvSpPr>
          <p:cNvPr id="2" name="TextBox 1">
            <a:extLst>
              <a:ext uri="{FF2B5EF4-FFF2-40B4-BE49-F238E27FC236}">
                <a16:creationId xmlns:a16="http://schemas.microsoft.com/office/drawing/2014/main" id="{22537D03-6869-AF3F-11B8-2BBEE3DDE9F4}"/>
              </a:ext>
            </a:extLst>
          </p:cNvPr>
          <p:cNvSpPr txBox="1"/>
          <p:nvPr/>
        </p:nvSpPr>
        <p:spPr>
          <a:xfrm>
            <a:off x="2772697" y="325147"/>
            <a:ext cx="7256206"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Implementation of the proposed hybrid model</a:t>
            </a:r>
          </a:p>
        </p:txBody>
      </p:sp>
      <p:sp>
        <p:nvSpPr>
          <p:cNvPr id="3" name="TextBox 2">
            <a:extLst>
              <a:ext uri="{FF2B5EF4-FFF2-40B4-BE49-F238E27FC236}">
                <a16:creationId xmlns:a16="http://schemas.microsoft.com/office/drawing/2014/main" id="{808CCA50-7933-540C-EB18-7B91260D3E79}"/>
              </a:ext>
            </a:extLst>
          </p:cNvPr>
          <p:cNvSpPr txBox="1"/>
          <p:nvPr/>
        </p:nvSpPr>
        <p:spPr>
          <a:xfrm>
            <a:off x="521110" y="1097719"/>
            <a:ext cx="11149780" cy="5576976"/>
          </a:xfrm>
          <a:prstGeom prst="rect">
            <a:avLst/>
          </a:prstGeom>
          <a:noFill/>
        </p:spPr>
        <p:txBody>
          <a:bodyPr wrap="square" rtlCol="0">
            <a:spAutoFit/>
          </a:bodyPr>
          <a:lstStyle/>
          <a:p>
            <a:pPr>
              <a:lnSpc>
                <a:spcPct val="150000"/>
              </a:lnSpc>
            </a:pPr>
            <a:r>
              <a:rPr lang="en-US" sz="2000" b="1" dirty="0">
                <a:latin typeface="Times New Roman" panose="02020603050405020304" pitchFamily="18" charset="0"/>
                <a:cs typeface="Times New Roman" panose="02020603050405020304" pitchFamily="18" charset="0"/>
              </a:rPr>
              <a:t>1.Architecture of the LCG-Stack Model</a:t>
            </a:r>
          </a:p>
          <a:p>
            <a:pPr lvl="0">
              <a:lnSpc>
                <a:spcPct val="150000"/>
              </a:lnSpc>
            </a:pPr>
            <a:r>
              <a:rPr lang="en-US" sz="2000" b="1" dirty="0">
                <a:latin typeface="Times New Roman" panose="02020603050405020304" pitchFamily="18" charset="0"/>
                <a:cs typeface="Times New Roman" panose="02020603050405020304" pitchFamily="18" charset="0"/>
              </a:rPr>
              <a:t>Base Learners:</a:t>
            </a:r>
            <a:r>
              <a:rPr lang="en-US" sz="2000" dirty="0">
                <a:latin typeface="Times New Roman" panose="02020603050405020304" pitchFamily="18" charset="0"/>
                <a:cs typeface="Times New Roman" panose="02020603050405020304" pitchFamily="18" charset="0"/>
              </a:rPr>
              <a:t> Combines three complementary algorithms—Linear Regression (LR) for global linear trends, CatBoost (CB), and Gradient Boosting (GB) for complex non-linear relationships across heterogeneous urban datasets. </a:t>
            </a:r>
          </a:p>
          <a:p>
            <a:pPr lvl="0">
              <a:lnSpc>
                <a:spcPct val="150000"/>
              </a:lnSpc>
            </a:pPr>
            <a:r>
              <a:rPr lang="en-US" sz="2000" b="1" dirty="0">
                <a:latin typeface="Times New Roman" panose="02020603050405020304" pitchFamily="18" charset="0"/>
                <a:cs typeface="Times New Roman" panose="02020603050405020304" pitchFamily="18" charset="0"/>
              </a:rPr>
              <a:t>Meta-Learner:</a:t>
            </a:r>
            <a:r>
              <a:rPr lang="en-US" sz="2000" dirty="0">
                <a:latin typeface="Times New Roman" panose="02020603050405020304" pitchFamily="18" charset="0"/>
                <a:cs typeface="Times New Roman" panose="02020603050405020304" pitchFamily="18" charset="0"/>
              </a:rPr>
              <a:t> Employs a Linear Regression meta-learner to weigh and aggregate the predictions from the base learners into a final robust output. </a:t>
            </a:r>
          </a:p>
          <a:p>
            <a:pPr>
              <a:lnSpc>
                <a:spcPct val="150000"/>
              </a:lnSpc>
            </a:pPr>
            <a:r>
              <a:rPr lang="en-US" sz="2000" b="1" dirty="0">
                <a:latin typeface="Times New Roman" panose="02020603050405020304" pitchFamily="18" charset="0"/>
                <a:cs typeface="Times New Roman" panose="02020603050405020304" pitchFamily="18" charset="0"/>
              </a:rPr>
              <a:t>2. Training &amp; Validation Workflow</a:t>
            </a:r>
          </a:p>
          <a:p>
            <a:pPr lvl="0">
              <a:lnSpc>
                <a:spcPct val="150000"/>
              </a:lnSpc>
            </a:pPr>
            <a:r>
              <a:rPr lang="en-US" sz="2000" b="1" dirty="0">
                <a:latin typeface="Times New Roman" panose="02020603050405020304" pitchFamily="18" charset="0"/>
                <a:cs typeface="Times New Roman" panose="02020603050405020304" pitchFamily="18" charset="0"/>
              </a:rPr>
              <a:t>Out-of-Fold (OOF) Stacking Strategy:</a:t>
            </a:r>
            <a:r>
              <a:rPr lang="en-US" sz="2000" dirty="0">
                <a:latin typeface="Times New Roman" panose="02020603050405020304" pitchFamily="18" charset="0"/>
                <a:cs typeface="Times New Roman" panose="02020603050405020304" pitchFamily="18" charset="0"/>
              </a:rPr>
              <a:t> Implemented using a 5-fold cross-validated OOF procedure on the training data. Base-model predictions are generated iteratively to prevent data leakage and target overfitting before feeding them to the meta-learner. </a:t>
            </a:r>
          </a:p>
          <a:p>
            <a:pPr lvl="0">
              <a:lnSpc>
                <a:spcPct val="150000"/>
              </a:lnSpc>
            </a:pPr>
            <a:r>
              <a:rPr lang="en-US" sz="2000" b="1" dirty="0">
                <a:latin typeface="Times New Roman" panose="02020603050405020304" pitchFamily="18" charset="0"/>
                <a:cs typeface="Times New Roman" panose="02020603050405020304" pitchFamily="18" charset="0"/>
              </a:rPr>
              <a:t>Dataset Splitting:</a:t>
            </a:r>
            <a:r>
              <a:rPr lang="en-US" sz="2000" dirty="0">
                <a:latin typeface="Times New Roman" panose="02020603050405020304" pitchFamily="18" charset="0"/>
                <a:cs typeface="Times New Roman" panose="02020603050405020304" pitchFamily="18" charset="0"/>
              </a:rPr>
              <a:t> Data across air quality, weather, and energy domains were structured and divided into consistent training and testing subsets (80:20 split with random state 42) for reproducible evaluation. . </a:t>
            </a:r>
          </a:p>
        </p:txBody>
      </p:sp>
    </p:spTree>
    <p:extLst>
      <p:ext uri="{BB962C8B-B14F-4D97-AF65-F5344CB8AC3E}">
        <p14:creationId xmlns:p14="http://schemas.microsoft.com/office/powerpoint/2010/main" val="16723537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96137CB-9F1E-048E-1FCA-7A7DA34375B6}"/>
              </a:ext>
            </a:extLst>
          </p:cNvPr>
          <p:cNvSpPr txBox="1"/>
          <p:nvPr/>
        </p:nvSpPr>
        <p:spPr>
          <a:xfrm>
            <a:off x="1337187" y="1111045"/>
            <a:ext cx="9517626" cy="3592907"/>
          </a:xfrm>
          <a:prstGeom prst="rect">
            <a:avLst/>
          </a:prstGeom>
          <a:noFill/>
        </p:spPr>
        <p:txBody>
          <a:bodyPr wrap="square" rtlCol="0">
            <a:spAutoFit/>
          </a:bodyPr>
          <a:lstStyle/>
          <a:p>
            <a:pPr algn="just">
              <a:lnSpc>
                <a:spcPct val="150000"/>
              </a:lnSpc>
            </a:pPr>
            <a:r>
              <a:rPr lang="en-US" sz="2200" b="1" dirty="0">
                <a:latin typeface="Times New Roman" panose="02020603050405020304" pitchFamily="18" charset="0"/>
                <a:cs typeface="Times New Roman" panose="02020603050405020304" pitchFamily="18" charset="0"/>
              </a:rPr>
              <a:t>3. Implementation Environment &amp; Integration</a:t>
            </a:r>
          </a:p>
          <a:p>
            <a:pPr lvl="0" algn="just">
              <a:lnSpc>
                <a:spcPct val="150000"/>
              </a:lnSpc>
            </a:pPr>
            <a:r>
              <a:rPr lang="en-US" sz="2200" b="1" dirty="0">
                <a:latin typeface="Times New Roman" panose="02020603050405020304" pitchFamily="18" charset="0"/>
                <a:cs typeface="Times New Roman" panose="02020603050405020304" pitchFamily="18" charset="0"/>
              </a:rPr>
              <a:t>Tech Stack:</a:t>
            </a:r>
            <a:r>
              <a:rPr lang="en-US" sz="2200" dirty="0">
                <a:latin typeface="Times New Roman" panose="02020603050405020304" pitchFamily="18" charset="0"/>
                <a:cs typeface="Times New Roman" panose="02020603050405020304" pitchFamily="18" charset="0"/>
              </a:rPr>
              <a:t> Developed in Python using Scikit-learn (for preprocessing, baseline regression, and the Linear Regression meta-learner), </a:t>
            </a:r>
            <a:r>
              <a:rPr lang="en-US" sz="2200" dirty="0" err="1">
                <a:latin typeface="Times New Roman" panose="02020603050405020304" pitchFamily="18" charset="0"/>
                <a:cs typeface="Times New Roman" panose="02020603050405020304" pitchFamily="18" charset="0"/>
              </a:rPr>
              <a:t>CatBoost</a:t>
            </a:r>
            <a:r>
              <a:rPr lang="en-US" sz="2200" dirty="0">
                <a:latin typeface="Times New Roman" panose="02020603050405020304" pitchFamily="18" charset="0"/>
                <a:cs typeface="Times New Roman" panose="02020603050405020304" pitchFamily="18" charset="0"/>
              </a:rPr>
              <a:t>, and Gradient Boosting libraries, with Pandas and NumPy for data manipulation. </a:t>
            </a:r>
          </a:p>
          <a:p>
            <a:pPr lvl="0" algn="just">
              <a:lnSpc>
                <a:spcPct val="150000"/>
              </a:lnSpc>
            </a:pPr>
            <a:r>
              <a:rPr lang="en-US" sz="2200" b="1" dirty="0">
                <a:latin typeface="Times New Roman" panose="02020603050405020304" pitchFamily="18" charset="0"/>
                <a:cs typeface="Times New Roman" panose="02020603050405020304" pitchFamily="18" charset="0"/>
              </a:rPr>
              <a:t>Artifact Management &amp; Deployment:</a:t>
            </a:r>
            <a:r>
              <a:rPr lang="en-US" sz="2200" dirty="0">
                <a:latin typeface="Times New Roman" panose="02020603050405020304" pitchFamily="18" charset="0"/>
                <a:cs typeface="Times New Roman" panose="02020603050405020304" pitchFamily="18" charset="0"/>
              </a:rPr>
              <a:t> Trained models and preprocessing pipelines are serialized using </a:t>
            </a:r>
            <a:r>
              <a:rPr lang="en-US" sz="2200" dirty="0" err="1">
                <a:latin typeface="Times New Roman" panose="02020603050405020304" pitchFamily="18" charset="0"/>
                <a:cs typeface="Times New Roman" panose="02020603050405020304" pitchFamily="18" charset="0"/>
              </a:rPr>
              <a:t>Joblib</a:t>
            </a:r>
            <a:r>
              <a:rPr lang="en-US" sz="2200" dirty="0">
                <a:latin typeface="Times New Roman" panose="02020603050405020304" pitchFamily="18" charset="0"/>
                <a:cs typeface="Times New Roman" panose="02020603050405020304" pitchFamily="18" charset="0"/>
              </a:rPr>
              <a:t>, and fully integrated into an interactive </a:t>
            </a:r>
            <a:r>
              <a:rPr lang="en-US" sz="2200" dirty="0" err="1">
                <a:latin typeface="Times New Roman" panose="02020603050405020304" pitchFamily="18" charset="0"/>
                <a:cs typeface="Times New Roman" panose="02020603050405020304" pitchFamily="18" charset="0"/>
              </a:rPr>
              <a:t>Streamlit</a:t>
            </a:r>
            <a:r>
              <a:rPr lang="en-US" sz="2200" dirty="0">
                <a:latin typeface="Times New Roman" panose="02020603050405020304" pitchFamily="18" charset="0"/>
                <a:cs typeface="Times New Roman" panose="02020603050405020304" pitchFamily="18" charset="0"/>
              </a:rPr>
              <a:t> dashboard for real-time visualization, explainability, and decision support</a:t>
            </a:r>
            <a:endParaRPr lang="en-US" sz="2200" dirty="0"/>
          </a:p>
        </p:txBody>
      </p:sp>
    </p:spTree>
    <p:extLst>
      <p:ext uri="{BB962C8B-B14F-4D97-AF65-F5344CB8AC3E}">
        <p14:creationId xmlns:p14="http://schemas.microsoft.com/office/powerpoint/2010/main" val="40119444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8EB1A-A2C6-79CE-5B02-998FA1FFFD5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B861CA2-2C99-67F9-03C7-BEF921DD0E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658" y="75794"/>
            <a:ext cx="1908523" cy="956593"/>
          </a:xfrm>
          <a:prstGeom prst="rect">
            <a:avLst/>
          </a:prstGeom>
          <a:noFill/>
          <a:ln>
            <a:noFill/>
          </a:ln>
        </p:spPr>
      </p:pic>
      <p:sp>
        <p:nvSpPr>
          <p:cNvPr id="2" name="TextBox 1">
            <a:extLst>
              <a:ext uri="{FF2B5EF4-FFF2-40B4-BE49-F238E27FC236}">
                <a16:creationId xmlns:a16="http://schemas.microsoft.com/office/drawing/2014/main" id="{8A43B559-6E9D-C584-6C98-BD471B803880}"/>
              </a:ext>
            </a:extLst>
          </p:cNvPr>
          <p:cNvSpPr txBox="1"/>
          <p:nvPr/>
        </p:nvSpPr>
        <p:spPr>
          <a:xfrm>
            <a:off x="2762864" y="333919"/>
            <a:ext cx="7344697" cy="954107"/>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Experiments using the prescribed dataset(s)</a:t>
            </a:r>
          </a:p>
          <a:p>
            <a:endParaRPr lang="en-US" sz="28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5561602-01B8-13CC-FBD5-77C54FF48F8F}"/>
              </a:ext>
            </a:extLst>
          </p:cNvPr>
          <p:cNvSpPr txBox="1"/>
          <p:nvPr/>
        </p:nvSpPr>
        <p:spPr>
          <a:xfrm>
            <a:off x="943897" y="1288026"/>
            <a:ext cx="10550013" cy="5447645"/>
          </a:xfrm>
          <a:prstGeom prst="rect">
            <a:avLst/>
          </a:prstGeom>
          <a:noFill/>
        </p:spPr>
        <p:txBody>
          <a:bodyPr wrap="square" rtlCol="0">
            <a:spAutoFit/>
          </a:bodyPr>
          <a:lstStyle/>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Air Quality Dataset — 500 records, used for Pollution Score prediction. </a:t>
            </a: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Synthetic Weather Dataset — 96,429 records, used for Temperature prediction. </a:t>
            </a: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Energy Consumption Dataset — 1,000 records, used for Energy Consumption prediction. </a:t>
            </a: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Performed data preprocessing, exploratory data analysis, feature engineering, and feature selection for each dataset. </a:t>
            </a: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Evaluated </a:t>
            </a:r>
            <a:r>
              <a:rPr lang="en-US" sz="2000" b="1" dirty="0">
                <a:latin typeface="Times New Roman" panose="02020603050405020304" pitchFamily="18" charset="0"/>
                <a:cs typeface="Times New Roman" panose="02020603050405020304" pitchFamily="18" charset="0"/>
              </a:rPr>
              <a:t>Linear Regression, Decision Tree, and Random Forest </a:t>
            </a:r>
            <a:r>
              <a:rPr lang="en-US" sz="2000" dirty="0">
                <a:latin typeface="Times New Roman" panose="02020603050405020304" pitchFamily="18" charset="0"/>
                <a:cs typeface="Times New Roman" panose="02020603050405020304" pitchFamily="18" charset="0"/>
              </a:rPr>
              <a:t>as baseline models. </a:t>
            </a: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Developed the proposed </a:t>
            </a:r>
            <a:r>
              <a:rPr lang="en-US" sz="2000" b="1" dirty="0">
                <a:latin typeface="Times New Roman" panose="02020603050405020304" pitchFamily="18" charset="0"/>
                <a:cs typeface="Times New Roman" panose="02020603050405020304" pitchFamily="18" charset="0"/>
              </a:rPr>
              <a:t>LR–CatBoost–Gradient Boosting stacking ensemble using 5-fold Out-of-Fold (OOF) stacking with a Linear Regression meta-learner. </a:t>
            </a: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Evaluated models using MAE, MSE, RMSE, R², Median Absolute Error, Explained Variance, Maximum Error, NRMSE, Adjusted R², and MAPE where applicable. </a:t>
            </a: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Applied SHAP-based global and instance-level explainability to the proposed hybrid model.</a:t>
            </a:r>
          </a:p>
          <a:p>
            <a:endParaRPr lang="en-US" dirty="0"/>
          </a:p>
        </p:txBody>
      </p:sp>
    </p:spTree>
    <p:extLst>
      <p:ext uri="{BB962C8B-B14F-4D97-AF65-F5344CB8AC3E}">
        <p14:creationId xmlns:p14="http://schemas.microsoft.com/office/powerpoint/2010/main" val="29918014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D8C19-CC02-D7C7-EC66-7FE3A9F5861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22E2270-267A-1A3C-1D0D-9FEE1CD427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658" y="75794"/>
            <a:ext cx="2065456" cy="1035251"/>
          </a:xfrm>
          <a:prstGeom prst="rect">
            <a:avLst/>
          </a:prstGeom>
          <a:noFill/>
          <a:ln>
            <a:noFill/>
          </a:ln>
        </p:spPr>
      </p:pic>
      <p:sp>
        <p:nvSpPr>
          <p:cNvPr id="2" name="TextBox 1">
            <a:extLst>
              <a:ext uri="{FF2B5EF4-FFF2-40B4-BE49-F238E27FC236}">
                <a16:creationId xmlns:a16="http://schemas.microsoft.com/office/drawing/2014/main" id="{89D53B3F-8352-4947-864B-65181E2BE021}"/>
              </a:ext>
            </a:extLst>
          </p:cNvPr>
          <p:cNvSpPr txBox="1"/>
          <p:nvPr/>
        </p:nvSpPr>
        <p:spPr>
          <a:xfrm>
            <a:off x="3500283" y="463058"/>
            <a:ext cx="4788311" cy="800219"/>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Training and Testing Results</a:t>
            </a:r>
          </a:p>
          <a:p>
            <a:endParaRPr lang="en-US" dirty="0"/>
          </a:p>
        </p:txBody>
      </p:sp>
      <p:sp>
        <p:nvSpPr>
          <p:cNvPr id="3" name="TextBox 2">
            <a:extLst>
              <a:ext uri="{FF2B5EF4-FFF2-40B4-BE49-F238E27FC236}">
                <a16:creationId xmlns:a16="http://schemas.microsoft.com/office/drawing/2014/main" id="{6EA7A88F-38B6-8445-5376-A154987466F8}"/>
              </a:ext>
            </a:extLst>
          </p:cNvPr>
          <p:cNvSpPr txBox="1"/>
          <p:nvPr/>
        </p:nvSpPr>
        <p:spPr>
          <a:xfrm>
            <a:off x="899650" y="1263277"/>
            <a:ext cx="9989575" cy="4985980"/>
          </a:xfrm>
          <a:prstGeom prst="rect">
            <a:avLst/>
          </a:prstGeom>
          <a:noFill/>
        </p:spPr>
        <p:txBody>
          <a:bodyPr wrap="square" rtlCol="0">
            <a:spAutoFit/>
          </a:bodyPr>
          <a:lstStyle/>
          <a:p>
            <a:pPr lvl="0">
              <a:lnSpc>
                <a:spcPct val="150000"/>
              </a:lnSpc>
            </a:pPr>
            <a:r>
              <a:rPr lang="en-US" sz="2000" dirty="0">
                <a:latin typeface="Times New Roman" panose="02020603050405020304" pitchFamily="18" charset="0"/>
                <a:cs typeface="Times New Roman" panose="02020603050405020304" pitchFamily="18" charset="0"/>
              </a:rPr>
              <a:t>The datasets were divided into training and testing sets for model development and independent evaluation. </a:t>
            </a: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Air Quality: 400 training records and 100 testing records. </a:t>
            </a: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Weather: 77,143 training records and 19,286 testing records. </a:t>
            </a: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Energy: 800 training records and 200 testing records. </a:t>
            </a: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Baseline models and the proposed hybrid model were evaluated on the held-out test sets. </a:t>
            </a: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Performance was assessed using MAE, MSE, RMSE, and R², along with additional evaluation metrics. </a:t>
            </a: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results showed domain-dependent model performance; the proposed hybrid model was competitive but did not consistently outperform all baseline models.</a:t>
            </a:r>
          </a:p>
          <a:p>
            <a:endParaRPr lang="en-US" dirty="0"/>
          </a:p>
        </p:txBody>
      </p:sp>
    </p:spTree>
    <p:extLst>
      <p:ext uri="{BB962C8B-B14F-4D97-AF65-F5344CB8AC3E}">
        <p14:creationId xmlns:p14="http://schemas.microsoft.com/office/powerpoint/2010/main" val="11020590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47318-6835-1035-867D-A8746C854F6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EAB8D1D-1006-38A6-41FA-8FCB25D213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659" y="75795"/>
            <a:ext cx="1863880" cy="934217"/>
          </a:xfrm>
          <a:prstGeom prst="rect">
            <a:avLst/>
          </a:prstGeom>
          <a:noFill/>
          <a:ln>
            <a:noFill/>
          </a:ln>
        </p:spPr>
      </p:pic>
      <p:sp>
        <p:nvSpPr>
          <p:cNvPr id="2" name="TextBox 1">
            <a:extLst>
              <a:ext uri="{FF2B5EF4-FFF2-40B4-BE49-F238E27FC236}">
                <a16:creationId xmlns:a16="http://schemas.microsoft.com/office/drawing/2014/main" id="{9EDB8E54-C366-A392-5FE5-B949E20015AC}"/>
              </a:ext>
            </a:extLst>
          </p:cNvPr>
          <p:cNvSpPr txBox="1"/>
          <p:nvPr/>
        </p:nvSpPr>
        <p:spPr>
          <a:xfrm>
            <a:off x="2979173" y="203178"/>
            <a:ext cx="5968181" cy="1231106"/>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Comparison with relevant existing models from the literature</a:t>
            </a:r>
          </a:p>
          <a:p>
            <a:endParaRPr lang="en-US" dirty="0"/>
          </a:p>
        </p:txBody>
      </p:sp>
      <p:graphicFrame>
        <p:nvGraphicFramePr>
          <p:cNvPr id="3" name="Table 2">
            <a:extLst>
              <a:ext uri="{FF2B5EF4-FFF2-40B4-BE49-F238E27FC236}">
                <a16:creationId xmlns:a16="http://schemas.microsoft.com/office/drawing/2014/main" id="{A31C8D27-9DDD-6228-19CE-DA014A267DC2}"/>
              </a:ext>
            </a:extLst>
          </p:cNvPr>
          <p:cNvGraphicFramePr>
            <a:graphicFrameLocks noGrp="1"/>
          </p:cNvGraphicFramePr>
          <p:nvPr/>
        </p:nvGraphicFramePr>
        <p:xfrm>
          <a:off x="599766" y="1158981"/>
          <a:ext cx="10726993" cy="4905562"/>
        </p:xfrm>
        <a:graphic>
          <a:graphicData uri="http://schemas.openxmlformats.org/drawingml/2006/table">
            <a:tbl>
              <a:tblPr>
                <a:tableStyleId>{22838BEF-8BB2-4498-84A7-C5851F593DF1}</a:tableStyleId>
              </a:tblPr>
              <a:tblGrid>
                <a:gridCol w="796415">
                  <a:extLst>
                    <a:ext uri="{9D8B030D-6E8A-4147-A177-3AD203B41FA5}">
                      <a16:colId xmlns:a16="http://schemas.microsoft.com/office/drawing/2014/main" val="2530799964"/>
                    </a:ext>
                  </a:extLst>
                </a:gridCol>
                <a:gridCol w="2920180">
                  <a:extLst>
                    <a:ext uri="{9D8B030D-6E8A-4147-A177-3AD203B41FA5}">
                      <a16:colId xmlns:a16="http://schemas.microsoft.com/office/drawing/2014/main" val="3978523278"/>
                    </a:ext>
                  </a:extLst>
                </a:gridCol>
                <a:gridCol w="2880852">
                  <a:extLst>
                    <a:ext uri="{9D8B030D-6E8A-4147-A177-3AD203B41FA5}">
                      <a16:colId xmlns:a16="http://schemas.microsoft.com/office/drawing/2014/main" val="1044532074"/>
                    </a:ext>
                  </a:extLst>
                </a:gridCol>
                <a:gridCol w="1455174">
                  <a:extLst>
                    <a:ext uri="{9D8B030D-6E8A-4147-A177-3AD203B41FA5}">
                      <a16:colId xmlns:a16="http://schemas.microsoft.com/office/drawing/2014/main" val="756585854"/>
                    </a:ext>
                  </a:extLst>
                </a:gridCol>
                <a:gridCol w="1238865">
                  <a:extLst>
                    <a:ext uri="{9D8B030D-6E8A-4147-A177-3AD203B41FA5}">
                      <a16:colId xmlns:a16="http://schemas.microsoft.com/office/drawing/2014/main" val="1792875526"/>
                    </a:ext>
                  </a:extLst>
                </a:gridCol>
                <a:gridCol w="1435507">
                  <a:extLst>
                    <a:ext uri="{9D8B030D-6E8A-4147-A177-3AD203B41FA5}">
                      <a16:colId xmlns:a16="http://schemas.microsoft.com/office/drawing/2014/main" val="1177110053"/>
                    </a:ext>
                  </a:extLst>
                </a:gridCol>
              </a:tblGrid>
              <a:tr h="267975">
                <a:tc>
                  <a:txBody>
                    <a:bodyPr/>
                    <a:lstStyle/>
                    <a:p>
                      <a:pPr algn="ctr">
                        <a:buNone/>
                      </a:pPr>
                      <a:r>
                        <a:rPr lang="en-US" sz="1600" b="1" dirty="0">
                          <a:latin typeface="Times New Roman" panose="02020603050405020304" pitchFamily="18" charset="0"/>
                          <a:cs typeface="Times New Roman" panose="02020603050405020304" pitchFamily="18" charset="0"/>
                        </a:rPr>
                        <a:t>ID</a:t>
                      </a:r>
                    </a:p>
                  </a:txBody>
                  <a:tcPr marL="41840" marR="41840" marT="20920" marB="20920" anchor="ctr">
                    <a:solidFill>
                      <a:schemeClr val="accent1">
                        <a:lumMod val="60000"/>
                        <a:lumOff val="40000"/>
                      </a:schemeClr>
                    </a:solidFill>
                  </a:tcPr>
                </a:tc>
                <a:tc>
                  <a:txBody>
                    <a:bodyPr/>
                    <a:lstStyle/>
                    <a:p>
                      <a:pPr algn="ctr">
                        <a:buNone/>
                      </a:pPr>
                      <a:r>
                        <a:rPr lang="en-US" sz="1600" b="1" dirty="0">
                          <a:latin typeface="Times New Roman" panose="02020603050405020304" pitchFamily="18" charset="0"/>
                          <a:cs typeface="Times New Roman" panose="02020603050405020304" pitchFamily="18" charset="0"/>
                        </a:rPr>
                        <a:t>Hybrid / Model</a:t>
                      </a:r>
                    </a:p>
                  </a:txBody>
                  <a:tcPr marL="41840" marR="41840" marT="20920" marB="20920" anchor="ctr">
                    <a:solidFill>
                      <a:schemeClr val="accent1">
                        <a:lumMod val="60000"/>
                        <a:lumOff val="40000"/>
                      </a:schemeClr>
                    </a:solidFill>
                  </a:tcPr>
                </a:tc>
                <a:tc>
                  <a:txBody>
                    <a:bodyPr/>
                    <a:lstStyle/>
                    <a:p>
                      <a:pPr algn="ctr">
                        <a:buNone/>
                      </a:pPr>
                      <a:r>
                        <a:rPr lang="en-US" sz="1600" b="1">
                          <a:latin typeface="Times New Roman" panose="02020603050405020304" pitchFamily="18" charset="0"/>
                          <a:cs typeface="Times New Roman" panose="02020603050405020304" pitchFamily="18" charset="0"/>
                        </a:rPr>
                        <a:t>Main idea</a:t>
                      </a:r>
                    </a:p>
                  </a:txBody>
                  <a:tcPr marL="41840" marR="41840" marT="20920" marB="20920" anchor="ctr">
                    <a:solidFill>
                      <a:schemeClr val="accent1">
                        <a:lumMod val="60000"/>
                        <a:lumOff val="40000"/>
                      </a:schemeClr>
                    </a:solidFill>
                  </a:tcPr>
                </a:tc>
                <a:tc>
                  <a:txBody>
                    <a:bodyPr/>
                    <a:lstStyle/>
                    <a:p>
                      <a:pPr algn="ctr">
                        <a:buNone/>
                      </a:pPr>
                      <a:r>
                        <a:rPr lang="en-US" sz="1600" b="1">
                          <a:latin typeface="Times New Roman" panose="02020603050405020304" pitchFamily="18" charset="0"/>
                          <a:cs typeface="Times New Roman" panose="02020603050405020304" pitchFamily="18" charset="0"/>
                        </a:rPr>
                        <a:t>Energy RMSE</a:t>
                      </a:r>
                    </a:p>
                  </a:txBody>
                  <a:tcPr marL="41840" marR="41840" marT="20920" marB="20920" anchor="ctr">
                    <a:solidFill>
                      <a:schemeClr val="accent1">
                        <a:lumMod val="60000"/>
                        <a:lumOff val="40000"/>
                      </a:schemeClr>
                    </a:solidFill>
                  </a:tcPr>
                </a:tc>
                <a:tc>
                  <a:txBody>
                    <a:bodyPr/>
                    <a:lstStyle/>
                    <a:p>
                      <a:pPr algn="ctr">
                        <a:buNone/>
                      </a:pPr>
                      <a:r>
                        <a:rPr lang="en-US" sz="1600" b="1">
                          <a:latin typeface="Times New Roman" panose="02020603050405020304" pitchFamily="18" charset="0"/>
                          <a:cs typeface="Times New Roman" panose="02020603050405020304" pitchFamily="18" charset="0"/>
                        </a:rPr>
                        <a:t>Energy R²</a:t>
                      </a:r>
                    </a:p>
                  </a:txBody>
                  <a:tcPr marL="41840" marR="41840" marT="20920" marB="20920" anchor="ctr">
                    <a:solidFill>
                      <a:schemeClr val="accent1">
                        <a:lumMod val="60000"/>
                        <a:lumOff val="40000"/>
                      </a:schemeClr>
                    </a:solidFill>
                  </a:tcPr>
                </a:tc>
                <a:tc>
                  <a:txBody>
                    <a:bodyPr/>
                    <a:lstStyle/>
                    <a:p>
                      <a:pPr algn="ctr">
                        <a:buNone/>
                      </a:pPr>
                      <a:r>
                        <a:rPr lang="en-US" sz="1600" b="1" dirty="0">
                          <a:latin typeface="Times New Roman" panose="02020603050405020304" pitchFamily="18" charset="0"/>
                          <a:cs typeface="Times New Roman" panose="02020603050405020304" pitchFamily="18" charset="0"/>
                        </a:rPr>
                        <a:t>Decision</a:t>
                      </a:r>
                    </a:p>
                  </a:txBody>
                  <a:tcPr marL="41840" marR="41840" marT="20920" marB="20920" anchor="ctr">
                    <a:solidFill>
                      <a:schemeClr val="accent1">
                        <a:lumMod val="60000"/>
                        <a:lumOff val="40000"/>
                      </a:schemeClr>
                    </a:solidFill>
                  </a:tcPr>
                </a:tc>
                <a:extLst>
                  <a:ext uri="{0D108BD9-81ED-4DB2-BD59-A6C34878D82A}">
                    <a16:rowId xmlns:a16="http://schemas.microsoft.com/office/drawing/2014/main" val="708843289"/>
                  </a:ext>
                </a:extLst>
              </a:tr>
              <a:tr h="515024">
                <a:tc>
                  <a:txBody>
                    <a:bodyPr/>
                    <a:lstStyle/>
                    <a:p>
                      <a:pPr algn="l">
                        <a:buNone/>
                      </a:pPr>
                      <a:r>
                        <a:rPr lang="en-US" sz="1400" dirty="0">
                          <a:latin typeface="Times New Roman" panose="02020603050405020304" pitchFamily="18" charset="0"/>
                          <a:cs typeface="Times New Roman" panose="02020603050405020304" pitchFamily="18" charset="0"/>
                        </a:rPr>
                        <a:t>C4</a:t>
                      </a:r>
                    </a:p>
                  </a:txBody>
                  <a:tcPr marL="41840" marR="41840" marT="20920" marB="20920" anchor="ctr"/>
                </a:tc>
                <a:tc>
                  <a:txBody>
                    <a:bodyPr/>
                    <a:lstStyle/>
                    <a:p>
                      <a:pPr algn="l">
                        <a:buNone/>
                      </a:pPr>
                      <a:r>
                        <a:rPr lang="en-US" sz="1400" dirty="0">
                          <a:latin typeface="Times New Roman" panose="02020603050405020304" pitchFamily="18" charset="0"/>
                          <a:cs typeface="Times New Roman" panose="02020603050405020304" pitchFamily="18" charset="0"/>
                        </a:rPr>
                        <a:t>Weather–Energy Fusion + Contextual Interactions</a:t>
                      </a:r>
                    </a:p>
                  </a:txBody>
                  <a:tcPr marL="41840" marR="41840" marT="20920" marB="20920" anchor="ctr"/>
                </a:tc>
                <a:tc>
                  <a:txBody>
                    <a:bodyPr/>
                    <a:lstStyle/>
                    <a:p>
                      <a:pPr algn="l">
                        <a:buNone/>
                      </a:pPr>
                      <a:r>
                        <a:rPr lang="en-US" sz="1400" dirty="0">
                          <a:latin typeface="Times New Roman" panose="02020603050405020304" pitchFamily="18" charset="0"/>
                          <a:cs typeface="Times New Roman" panose="02020603050405020304" pitchFamily="18" charset="0"/>
                        </a:rPr>
                        <a:t>Energy prediction enhanced using Weather context</a:t>
                      </a:r>
                    </a:p>
                  </a:txBody>
                  <a:tcPr marL="41840" marR="41840" marT="20920" marB="20920" anchor="ctr"/>
                </a:tc>
                <a:tc>
                  <a:txBody>
                    <a:bodyPr/>
                    <a:lstStyle/>
                    <a:p>
                      <a:pPr algn="l">
                        <a:buNone/>
                      </a:pPr>
                      <a:r>
                        <a:rPr lang="en-US" sz="1400">
                          <a:latin typeface="Times New Roman" panose="02020603050405020304" pitchFamily="18" charset="0"/>
                          <a:cs typeface="Times New Roman" panose="02020603050405020304" pitchFamily="18" charset="0"/>
                        </a:rPr>
                        <a:t>5.3271</a:t>
                      </a:r>
                    </a:p>
                  </a:txBody>
                  <a:tcPr marL="41840" marR="41840" marT="20920" marB="20920" anchor="ctr"/>
                </a:tc>
                <a:tc>
                  <a:txBody>
                    <a:bodyPr/>
                    <a:lstStyle/>
                    <a:p>
                      <a:pPr algn="l">
                        <a:buNone/>
                      </a:pPr>
                      <a:r>
                        <a:rPr lang="en-US" sz="1400">
                          <a:latin typeface="Times New Roman" panose="02020603050405020304" pitchFamily="18" charset="0"/>
                          <a:cs typeface="Times New Roman" panose="02020603050405020304" pitchFamily="18" charset="0"/>
                        </a:rPr>
                        <a:t>0.5667</a:t>
                      </a:r>
                    </a:p>
                  </a:txBody>
                  <a:tcPr marL="41840" marR="41840" marT="20920" marB="20920" anchor="ctr"/>
                </a:tc>
                <a:tc>
                  <a:txBody>
                    <a:bodyPr/>
                    <a:lstStyle/>
                    <a:p>
                      <a:pPr algn="l">
                        <a:buNone/>
                      </a:pPr>
                      <a:r>
                        <a:rPr lang="en-US" sz="1400" dirty="0">
                          <a:latin typeface="Times New Roman" panose="02020603050405020304" pitchFamily="18" charset="0"/>
                          <a:cs typeface="Times New Roman" panose="02020603050405020304" pitchFamily="18" charset="0"/>
                        </a:rPr>
                        <a:t> Rejected</a:t>
                      </a:r>
                    </a:p>
                  </a:txBody>
                  <a:tcPr marL="41840" marR="41840" marT="20920" marB="20920" anchor="ctr"/>
                </a:tc>
                <a:extLst>
                  <a:ext uri="{0D108BD9-81ED-4DB2-BD59-A6C34878D82A}">
                    <a16:rowId xmlns:a16="http://schemas.microsoft.com/office/drawing/2014/main" val="2181924592"/>
                  </a:ext>
                </a:extLst>
              </a:tr>
              <a:tr h="486057">
                <a:tc>
                  <a:txBody>
                    <a:bodyPr/>
                    <a:lstStyle/>
                    <a:p>
                      <a:pPr algn="l">
                        <a:buNone/>
                      </a:pPr>
                      <a:r>
                        <a:rPr lang="en-US" sz="1400">
                          <a:latin typeface="Times New Roman" panose="02020603050405020304" pitchFamily="18" charset="0"/>
                          <a:cs typeface="Times New Roman" panose="02020603050405020304" pitchFamily="18" charset="0"/>
                        </a:rPr>
                        <a:t>C4-v2</a:t>
                      </a:r>
                    </a:p>
                  </a:txBody>
                  <a:tcPr marL="41840" marR="41840" marT="20920" marB="20920" anchor="ctr"/>
                </a:tc>
                <a:tc>
                  <a:txBody>
                    <a:bodyPr/>
                    <a:lstStyle/>
                    <a:p>
                      <a:pPr algn="l">
                        <a:buNone/>
                      </a:pPr>
                      <a:r>
                        <a:rPr lang="en-US" sz="1400" dirty="0">
                          <a:latin typeface="Times New Roman" panose="02020603050405020304" pitchFamily="18" charset="0"/>
                          <a:cs typeface="Times New Roman" panose="02020603050405020304" pitchFamily="18" charset="0"/>
                        </a:rPr>
                        <a:t>Weather–Energy Fusion + Interactions</a:t>
                      </a:r>
                    </a:p>
                  </a:txBody>
                  <a:tcPr marL="41840" marR="41840" marT="20920" marB="20920" anchor="ctr"/>
                </a:tc>
                <a:tc>
                  <a:txBody>
                    <a:bodyPr/>
                    <a:lstStyle/>
                    <a:p>
                      <a:pPr algn="l">
                        <a:buNone/>
                      </a:pPr>
                      <a:r>
                        <a:rPr lang="en-US" sz="1400" dirty="0">
                          <a:latin typeface="Times New Roman" panose="02020603050405020304" pitchFamily="18" charset="0"/>
                          <a:cs typeface="Times New Roman" panose="02020603050405020304" pitchFamily="18" charset="0"/>
                        </a:rPr>
                        <a:t>Adds interaction features</a:t>
                      </a:r>
                    </a:p>
                  </a:txBody>
                  <a:tcPr marL="41840" marR="41840" marT="20920" marB="20920" anchor="ctr"/>
                </a:tc>
                <a:tc>
                  <a:txBody>
                    <a:bodyPr/>
                    <a:lstStyle/>
                    <a:p>
                      <a:pPr algn="l">
                        <a:buNone/>
                      </a:pPr>
                      <a:r>
                        <a:rPr lang="en-US" sz="1400" dirty="0">
                          <a:latin typeface="Times New Roman" panose="02020603050405020304" pitchFamily="18" charset="0"/>
                          <a:cs typeface="Times New Roman" panose="02020603050405020304" pitchFamily="18" charset="0"/>
                        </a:rPr>
                        <a:t>5.5513</a:t>
                      </a:r>
                    </a:p>
                  </a:txBody>
                  <a:tcPr marL="41840" marR="41840" marT="20920" marB="20920" anchor="ctr"/>
                </a:tc>
                <a:tc>
                  <a:txBody>
                    <a:bodyPr/>
                    <a:lstStyle/>
                    <a:p>
                      <a:pPr algn="l">
                        <a:buNone/>
                      </a:pPr>
                      <a:r>
                        <a:rPr lang="en-US" sz="1400">
                          <a:latin typeface="Times New Roman" panose="02020603050405020304" pitchFamily="18" charset="0"/>
                          <a:cs typeface="Times New Roman" panose="02020603050405020304" pitchFamily="18" charset="0"/>
                        </a:rPr>
                        <a:t>0.5295</a:t>
                      </a:r>
                    </a:p>
                  </a:txBody>
                  <a:tcPr marL="41840" marR="41840" marT="20920" marB="20920" anchor="ctr"/>
                </a:tc>
                <a:tc>
                  <a:txBody>
                    <a:bodyPr/>
                    <a:lstStyle/>
                    <a:p>
                      <a:pPr algn="l">
                        <a:buNone/>
                      </a:pPr>
                      <a:r>
                        <a:rPr lang="en-US" sz="1400" dirty="0">
                          <a:latin typeface="Times New Roman" panose="02020603050405020304" pitchFamily="18" charset="0"/>
                          <a:cs typeface="Times New Roman" panose="02020603050405020304" pitchFamily="18" charset="0"/>
                        </a:rPr>
                        <a:t> Rejected</a:t>
                      </a:r>
                    </a:p>
                  </a:txBody>
                  <a:tcPr marL="41840" marR="41840" marT="20920" marB="20920" anchor="ctr"/>
                </a:tc>
                <a:extLst>
                  <a:ext uri="{0D108BD9-81ED-4DB2-BD59-A6C34878D82A}">
                    <a16:rowId xmlns:a16="http://schemas.microsoft.com/office/drawing/2014/main" val="1733323112"/>
                  </a:ext>
                </a:extLst>
              </a:tr>
              <a:tr h="486057">
                <a:tc>
                  <a:txBody>
                    <a:bodyPr/>
                    <a:lstStyle/>
                    <a:p>
                      <a:pPr algn="l">
                        <a:buNone/>
                      </a:pPr>
                      <a:r>
                        <a:rPr lang="en-US" sz="1400">
                          <a:latin typeface="Times New Roman" panose="02020603050405020304" pitchFamily="18" charset="0"/>
                          <a:cs typeface="Times New Roman" panose="02020603050405020304" pitchFamily="18" charset="0"/>
                        </a:rPr>
                        <a:t>C7</a:t>
                      </a:r>
                    </a:p>
                  </a:txBody>
                  <a:tcPr marL="41840" marR="41840" marT="20920" marB="20920" anchor="ctr"/>
                </a:tc>
                <a:tc>
                  <a:txBody>
                    <a:bodyPr/>
                    <a:lstStyle/>
                    <a:p>
                      <a:pPr algn="l">
                        <a:buNone/>
                      </a:pPr>
                      <a:r>
                        <a:rPr lang="en-US" sz="1400" dirty="0">
                          <a:latin typeface="Times New Roman" panose="02020603050405020304" pitchFamily="18" charset="0"/>
                          <a:cs typeface="Times New Roman" panose="02020603050405020304" pitchFamily="18" charset="0"/>
                        </a:rPr>
                        <a:t>Weather–Energy Alignment + LR/RF</a:t>
                      </a:r>
                    </a:p>
                  </a:txBody>
                  <a:tcPr marL="41840" marR="41840" marT="20920" marB="20920" anchor="ctr"/>
                </a:tc>
                <a:tc>
                  <a:txBody>
                    <a:bodyPr/>
                    <a:lstStyle/>
                    <a:p>
                      <a:pPr algn="l">
                        <a:buNone/>
                      </a:pPr>
                      <a:r>
                        <a:rPr lang="en-US" sz="1400" dirty="0">
                          <a:latin typeface="Times New Roman" panose="02020603050405020304" pitchFamily="18" charset="0"/>
                          <a:cs typeface="Times New Roman" panose="02020603050405020304" pitchFamily="18" charset="0"/>
                        </a:rPr>
                        <a:t>Leakage-safe weather-energy fusion</a:t>
                      </a:r>
                    </a:p>
                  </a:txBody>
                  <a:tcPr marL="41840" marR="41840" marT="20920" marB="20920" anchor="ctr"/>
                </a:tc>
                <a:tc>
                  <a:txBody>
                    <a:bodyPr/>
                    <a:lstStyle/>
                    <a:p>
                      <a:pPr algn="l">
                        <a:buNone/>
                      </a:pPr>
                      <a:r>
                        <a:rPr lang="en-US" sz="1400" dirty="0">
                          <a:latin typeface="Times New Roman" panose="02020603050405020304" pitchFamily="18" charset="0"/>
                          <a:cs typeface="Times New Roman" panose="02020603050405020304" pitchFamily="18" charset="0"/>
                        </a:rPr>
                        <a:t>5.2798</a:t>
                      </a:r>
                    </a:p>
                  </a:txBody>
                  <a:tcPr marL="41840" marR="41840" marT="20920" marB="20920" anchor="ctr"/>
                </a:tc>
                <a:tc>
                  <a:txBody>
                    <a:bodyPr/>
                    <a:lstStyle/>
                    <a:p>
                      <a:pPr algn="l">
                        <a:buNone/>
                      </a:pPr>
                      <a:r>
                        <a:rPr lang="en-US" sz="1400">
                          <a:latin typeface="Times New Roman" panose="02020603050405020304" pitchFamily="18" charset="0"/>
                          <a:cs typeface="Times New Roman" panose="02020603050405020304" pitchFamily="18" charset="0"/>
                        </a:rPr>
                        <a:t>0.5744</a:t>
                      </a:r>
                    </a:p>
                  </a:txBody>
                  <a:tcPr marL="41840" marR="41840" marT="20920" marB="20920" anchor="ctr"/>
                </a:tc>
                <a:tc>
                  <a:txBody>
                    <a:bodyPr/>
                    <a:lstStyle/>
                    <a:p>
                      <a:pPr algn="l">
                        <a:buNone/>
                      </a:pPr>
                      <a:r>
                        <a:rPr lang="en-US" sz="1400" dirty="0">
                          <a:latin typeface="Times New Roman" panose="02020603050405020304" pitchFamily="18" charset="0"/>
                          <a:cs typeface="Times New Roman" panose="02020603050405020304" pitchFamily="18" charset="0"/>
                        </a:rPr>
                        <a:t> Rejected</a:t>
                      </a:r>
                    </a:p>
                  </a:txBody>
                  <a:tcPr marL="41840" marR="41840" marT="20920" marB="20920" anchor="ctr"/>
                </a:tc>
                <a:extLst>
                  <a:ext uri="{0D108BD9-81ED-4DB2-BD59-A6C34878D82A}">
                    <a16:rowId xmlns:a16="http://schemas.microsoft.com/office/drawing/2014/main" val="3571236952"/>
                  </a:ext>
                </a:extLst>
              </a:tr>
              <a:tr h="486057">
                <a:tc>
                  <a:txBody>
                    <a:bodyPr/>
                    <a:lstStyle/>
                    <a:p>
                      <a:pPr algn="l">
                        <a:buNone/>
                      </a:pPr>
                      <a:r>
                        <a:rPr lang="en-US" sz="1400" dirty="0">
                          <a:latin typeface="Times New Roman" panose="02020603050405020304" pitchFamily="18" charset="0"/>
                          <a:cs typeface="Times New Roman" panose="02020603050405020304" pitchFamily="18" charset="0"/>
                        </a:rPr>
                        <a:t>C8</a:t>
                      </a:r>
                    </a:p>
                  </a:txBody>
                  <a:tcPr marL="41840" marR="41840" marT="20920" marB="20920" anchor="ctr"/>
                </a:tc>
                <a:tc>
                  <a:txBody>
                    <a:bodyPr/>
                    <a:lstStyle/>
                    <a:p>
                      <a:pPr algn="l">
                        <a:buNone/>
                      </a:pPr>
                      <a:r>
                        <a:rPr lang="en-US" sz="1400" dirty="0">
                          <a:latin typeface="Times New Roman" panose="02020603050405020304" pitchFamily="18" charset="0"/>
                          <a:cs typeface="Times New Roman" panose="02020603050405020304" pitchFamily="18" charset="0"/>
                        </a:rPr>
                        <a:t>Air + Weather + Energy Context</a:t>
                      </a:r>
                    </a:p>
                  </a:txBody>
                  <a:tcPr marL="41840" marR="41840" marT="20920" marB="20920" anchor="ctr"/>
                </a:tc>
                <a:tc>
                  <a:txBody>
                    <a:bodyPr/>
                    <a:lstStyle/>
                    <a:p>
                      <a:pPr algn="l">
                        <a:buNone/>
                      </a:pPr>
                      <a:r>
                        <a:rPr lang="en-US" sz="1400" dirty="0">
                          <a:latin typeface="Times New Roman" panose="02020603050405020304" pitchFamily="18" charset="0"/>
                          <a:cs typeface="Times New Roman" panose="02020603050405020304" pitchFamily="18" charset="0"/>
                        </a:rPr>
                        <a:t>3-domain contextual prediction</a:t>
                      </a:r>
                    </a:p>
                  </a:txBody>
                  <a:tcPr marL="41840" marR="41840" marT="20920" marB="20920" anchor="ctr"/>
                </a:tc>
                <a:tc>
                  <a:txBody>
                    <a:bodyPr/>
                    <a:lstStyle/>
                    <a:p>
                      <a:pPr algn="l">
                        <a:buNone/>
                      </a:pPr>
                      <a:r>
                        <a:rPr lang="en-US" sz="1400" dirty="0">
                          <a:latin typeface="Times New Roman" panose="02020603050405020304" pitchFamily="18" charset="0"/>
                          <a:cs typeface="Times New Roman" panose="02020603050405020304" pitchFamily="18" charset="0"/>
                        </a:rPr>
                        <a:t>5.2788</a:t>
                      </a:r>
                    </a:p>
                  </a:txBody>
                  <a:tcPr marL="41840" marR="41840" marT="20920" marB="20920" anchor="ctr"/>
                </a:tc>
                <a:tc>
                  <a:txBody>
                    <a:bodyPr/>
                    <a:lstStyle/>
                    <a:p>
                      <a:pPr algn="l">
                        <a:buNone/>
                      </a:pPr>
                      <a:r>
                        <a:rPr lang="en-US" sz="1400" dirty="0">
                          <a:latin typeface="Times New Roman" panose="02020603050405020304" pitchFamily="18" charset="0"/>
                          <a:cs typeface="Times New Roman" panose="02020603050405020304" pitchFamily="18" charset="0"/>
                        </a:rPr>
                        <a:t>0.5746</a:t>
                      </a:r>
                    </a:p>
                  </a:txBody>
                  <a:tcPr marL="41840" marR="41840" marT="20920" marB="20920" anchor="ctr"/>
                </a:tc>
                <a:tc>
                  <a:txBody>
                    <a:bodyPr/>
                    <a:lstStyle/>
                    <a:p>
                      <a:pPr algn="l">
                        <a:buNone/>
                      </a:pPr>
                      <a:r>
                        <a:rPr lang="en-US" sz="1400" dirty="0">
                          <a:latin typeface="Times New Roman" panose="02020603050405020304" pitchFamily="18" charset="0"/>
                          <a:cs typeface="Times New Roman" panose="02020603050405020304" pitchFamily="18" charset="0"/>
                        </a:rPr>
                        <a:t> Rejected</a:t>
                      </a:r>
                    </a:p>
                  </a:txBody>
                  <a:tcPr marL="41840" marR="41840" marT="20920" marB="20920" anchor="ctr"/>
                </a:tc>
                <a:extLst>
                  <a:ext uri="{0D108BD9-81ED-4DB2-BD59-A6C34878D82A}">
                    <a16:rowId xmlns:a16="http://schemas.microsoft.com/office/drawing/2014/main" val="1645597537"/>
                  </a:ext>
                </a:extLst>
              </a:tr>
              <a:tr h="515024">
                <a:tc>
                  <a:txBody>
                    <a:bodyPr/>
                    <a:lstStyle/>
                    <a:p>
                      <a:pPr algn="l">
                        <a:buNone/>
                      </a:pPr>
                      <a:r>
                        <a:rPr lang="en-US" sz="1400">
                          <a:latin typeface="Times New Roman" panose="02020603050405020304" pitchFamily="18" charset="0"/>
                          <a:cs typeface="Times New Roman" panose="02020603050405020304" pitchFamily="18" charset="0"/>
                        </a:rPr>
                        <a:t>C9</a:t>
                      </a:r>
                    </a:p>
                  </a:txBody>
                  <a:tcPr marL="41840" marR="41840" marT="20920" marB="20920" anchor="ctr"/>
                </a:tc>
                <a:tc>
                  <a:txBody>
                    <a:bodyPr/>
                    <a:lstStyle/>
                    <a:p>
                      <a:pPr algn="l">
                        <a:buNone/>
                      </a:pPr>
                      <a:r>
                        <a:rPr lang="en-US" sz="1400">
                          <a:latin typeface="Times New Roman" panose="02020603050405020304" pitchFamily="18" charset="0"/>
                          <a:cs typeface="Times New Roman" panose="02020603050405020304" pitchFamily="18" charset="0"/>
                        </a:rPr>
                        <a:t>RF → XGBoost Residual</a:t>
                      </a:r>
                    </a:p>
                  </a:txBody>
                  <a:tcPr marL="41840" marR="41840" marT="20920" marB="20920" anchor="ctr"/>
                </a:tc>
                <a:tc>
                  <a:txBody>
                    <a:bodyPr/>
                    <a:lstStyle/>
                    <a:p>
                      <a:pPr algn="l">
                        <a:buNone/>
                      </a:pPr>
                      <a:r>
                        <a:rPr lang="en-US" sz="1400" dirty="0">
                          <a:latin typeface="Times New Roman" panose="02020603050405020304" pitchFamily="18" charset="0"/>
                          <a:cs typeface="Times New Roman" panose="02020603050405020304" pitchFamily="18" charset="0"/>
                        </a:rPr>
                        <a:t>RF prediction corrected using XGBoost residual model</a:t>
                      </a:r>
                    </a:p>
                  </a:txBody>
                  <a:tcPr marL="41840" marR="41840" marT="20920" marB="20920" anchor="ctr"/>
                </a:tc>
                <a:tc>
                  <a:txBody>
                    <a:bodyPr/>
                    <a:lstStyle/>
                    <a:p>
                      <a:pPr algn="l">
                        <a:buNone/>
                      </a:pPr>
                      <a:r>
                        <a:rPr lang="en-US" sz="1400" dirty="0">
                          <a:latin typeface="Times New Roman" panose="02020603050405020304" pitchFamily="18" charset="0"/>
                          <a:cs typeface="Times New Roman" panose="02020603050405020304" pitchFamily="18" charset="0"/>
                        </a:rPr>
                        <a:t>5.7466</a:t>
                      </a:r>
                    </a:p>
                  </a:txBody>
                  <a:tcPr marL="41840" marR="41840" marT="20920" marB="20920" anchor="ctr"/>
                </a:tc>
                <a:tc>
                  <a:txBody>
                    <a:bodyPr/>
                    <a:lstStyle/>
                    <a:p>
                      <a:pPr algn="l">
                        <a:buNone/>
                      </a:pPr>
                      <a:r>
                        <a:rPr lang="en-US" sz="1400">
                          <a:latin typeface="Times New Roman" panose="02020603050405020304" pitchFamily="18" charset="0"/>
                          <a:cs typeface="Times New Roman" panose="02020603050405020304" pitchFamily="18" charset="0"/>
                        </a:rPr>
                        <a:t>0.4958</a:t>
                      </a:r>
                    </a:p>
                  </a:txBody>
                  <a:tcPr marL="41840" marR="41840" marT="20920" marB="20920" anchor="ctr"/>
                </a:tc>
                <a:tc>
                  <a:txBody>
                    <a:bodyPr/>
                    <a:lstStyle/>
                    <a:p>
                      <a:pPr algn="l">
                        <a:buNone/>
                      </a:pPr>
                      <a:r>
                        <a:rPr lang="en-US" sz="1400" dirty="0">
                          <a:latin typeface="Times New Roman" panose="02020603050405020304" pitchFamily="18" charset="0"/>
                          <a:cs typeface="Times New Roman" panose="02020603050405020304" pitchFamily="18" charset="0"/>
                        </a:rPr>
                        <a:t> Rejected</a:t>
                      </a:r>
                    </a:p>
                  </a:txBody>
                  <a:tcPr marL="41840" marR="41840" marT="20920" marB="20920" anchor="ctr"/>
                </a:tc>
                <a:extLst>
                  <a:ext uri="{0D108BD9-81ED-4DB2-BD59-A6C34878D82A}">
                    <a16:rowId xmlns:a16="http://schemas.microsoft.com/office/drawing/2014/main" val="3896778050"/>
                  </a:ext>
                </a:extLst>
              </a:tr>
              <a:tr h="396172">
                <a:tc>
                  <a:txBody>
                    <a:bodyPr/>
                    <a:lstStyle/>
                    <a:p>
                      <a:pPr algn="l">
                        <a:buNone/>
                      </a:pPr>
                      <a:r>
                        <a:rPr lang="en-US" sz="1400">
                          <a:latin typeface="Times New Roman" panose="02020603050405020304" pitchFamily="18" charset="0"/>
                          <a:cs typeface="Times New Roman" panose="02020603050405020304" pitchFamily="18" charset="0"/>
                        </a:rPr>
                        <a:t>C10</a:t>
                      </a:r>
                    </a:p>
                  </a:txBody>
                  <a:tcPr marL="41840" marR="41840" marT="20920" marB="20920" anchor="ctr"/>
                </a:tc>
                <a:tc>
                  <a:txBody>
                    <a:bodyPr/>
                    <a:lstStyle/>
                    <a:p>
                      <a:pPr algn="l">
                        <a:buNone/>
                      </a:pPr>
                      <a:r>
                        <a:rPr lang="en-US" sz="1400">
                          <a:latin typeface="Times New Roman" panose="02020603050405020304" pitchFamily="18" charset="0"/>
                          <a:cs typeface="Times New Roman" panose="02020603050405020304" pitchFamily="18" charset="0"/>
                        </a:rPr>
                        <a:t>Standalone XGBoost</a:t>
                      </a:r>
                    </a:p>
                  </a:txBody>
                  <a:tcPr marL="41840" marR="41840" marT="20920" marB="20920" anchor="ctr"/>
                </a:tc>
                <a:tc>
                  <a:txBody>
                    <a:bodyPr/>
                    <a:lstStyle/>
                    <a:p>
                      <a:pPr algn="l">
                        <a:buNone/>
                      </a:pPr>
                      <a:r>
                        <a:rPr lang="en-US" sz="1400">
                          <a:latin typeface="Times New Roman" panose="02020603050405020304" pitchFamily="18" charset="0"/>
                          <a:cs typeface="Times New Roman" panose="02020603050405020304" pitchFamily="18" charset="0"/>
                        </a:rPr>
                        <a:t>Gradient-boosting candidate</a:t>
                      </a:r>
                    </a:p>
                  </a:txBody>
                  <a:tcPr marL="41840" marR="41840" marT="20920" marB="20920" anchor="ctr"/>
                </a:tc>
                <a:tc>
                  <a:txBody>
                    <a:bodyPr/>
                    <a:lstStyle/>
                    <a:p>
                      <a:pPr algn="l">
                        <a:buNone/>
                      </a:pPr>
                      <a:r>
                        <a:rPr lang="en-US" sz="1400">
                          <a:latin typeface="Times New Roman" panose="02020603050405020304" pitchFamily="18" charset="0"/>
                          <a:cs typeface="Times New Roman" panose="02020603050405020304" pitchFamily="18" charset="0"/>
                        </a:rPr>
                        <a:t>5.4896</a:t>
                      </a:r>
                    </a:p>
                  </a:txBody>
                  <a:tcPr marL="41840" marR="41840" marT="20920" marB="20920" anchor="ctr"/>
                </a:tc>
                <a:tc>
                  <a:txBody>
                    <a:bodyPr/>
                    <a:lstStyle/>
                    <a:p>
                      <a:pPr algn="l">
                        <a:buNone/>
                      </a:pPr>
                      <a:r>
                        <a:rPr lang="en-US" sz="1400">
                          <a:latin typeface="Times New Roman" panose="02020603050405020304" pitchFamily="18" charset="0"/>
                          <a:cs typeface="Times New Roman" panose="02020603050405020304" pitchFamily="18" charset="0"/>
                        </a:rPr>
                        <a:t>0.5399</a:t>
                      </a:r>
                    </a:p>
                  </a:txBody>
                  <a:tcPr marL="41840" marR="41840" marT="20920" marB="20920" anchor="ctr"/>
                </a:tc>
                <a:tc>
                  <a:txBody>
                    <a:bodyPr/>
                    <a:lstStyle/>
                    <a:p>
                      <a:pPr algn="l">
                        <a:buNone/>
                      </a:pPr>
                      <a:r>
                        <a:rPr lang="en-US" sz="1400" dirty="0">
                          <a:latin typeface="Times New Roman" panose="02020603050405020304" pitchFamily="18" charset="0"/>
                          <a:cs typeface="Times New Roman" panose="02020603050405020304" pitchFamily="18" charset="0"/>
                        </a:rPr>
                        <a:t> Rejected</a:t>
                      </a:r>
                    </a:p>
                  </a:txBody>
                  <a:tcPr marL="41840" marR="41840" marT="20920" marB="20920" anchor="ctr"/>
                </a:tc>
                <a:extLst>
                  <a:ext uri="{0D108BD9-81ED-4DB2-BD59-A6C34878D82A}">
                    <a16:rowId xmlns:a16="http://schemas.microsoft.com/office/drawing/2014/main" val="1240017703"/>
                  </a:ext>
                </a:extLst>
              </a:tr>
              <a:tr h="277320">
                <a:tc>
                  <a:txBody>
                    <a:bodyPr/>
                    <a:lstStyle/>
                    <a:p>
                      <a:pPr algn="l">
                        <a:buNone/>
                      </a:pPr>
                      <a:r>
                        <a:rPr lang="en-US" sz="1400">
                          <a:latin typeface="Times New Roman" panose="02020603050405020304" pitchFamily="18" charset="0"/>
                          <a:cs typeface="Times New Roman" panose="02020603050405020304" pitchFamily="18" charset="0"/>
                        </a:rPr>
                        <a:t>C11</a:t>
                      </a:r>
                    </a:p>
                  </a:txBody>
                  <a:tcPr marL="41840" marR="41840" marT="20920" marB="20920" anchor="ctr"/>
                </a:tc>
                <a:tc>
                  <a:txBody>
                    <a:bodyPr/>
                    <a:lstStyle/>
                    <a:p>
                      <a:pPr algn="l">
                        <a:buNone/>
                      </a:pPr>
                      <a:r>
                        <a:rPr lang="en-US" sz="1400">
                          <a:latin typeface="Times New Roman" panose="02020603050405020304" pitchFamily="18" charset="0"/>
                          <a:cs typeface="Times New Roman" panose="02020603050405020304" pitchFamily="18" charset="0"/>
                        </a:rPr>
                        <a:t>XGBoost + MLP/DNN</a:t>
                      </a:r>
                    </a:p>
                  </a:txBody>
                  <a:tcPr marL="41840" marR="41840" marT="20920" marB="20920" anchor="ctr"/>
                </a:tc>
                <a:tc>
                  <a:txBody>
                    <a:bodyPr/>
                    <a:lstStyle/>
                    <a:p>
                      <a:pPr algn="l">
                        <a:buNone/>
                      </a:pPr>
                      <a:r>
                        <a:rPr lang="en-US" sz="1400">
                          <a:latin typeface="Times New Roman" panose="02020603050405020304" pitchFamily="18" charset="0"/>
                          <a:cs typeface="Times New Roman" panose="02020603050405020304" pitchFamily="18" charset="0"/>
                        </a:rPr>
                        <a:t>Tree model + neural network</a:t>
                      </a:r>
                    </a:p>
                  </a:txBody>
                  <a:tcPr marL="41840" marR="41840" marT="20920" marB="20920" anchor="ctr"/>
                </a:tc>
                <a:tc>
                  <a:txBody>
                    <a:bodyPr/>
                    <a:lstStyle/>
                    <a:p>
                      <a:pPr algn="l">
                        <a:buNone/>
                      </a:pPr>
                      <a:r>
                        <a:rPr lang="en-US" sz="1400">
                          <a:latin typeface="Times New Roman" panose="02020603050405020304" pitchFamily="18" charset="0"/>
                          <a:cs typeface="Times New Roman" panose="02020603050405020304" pitchFamily="18" charset="0"/>
                        </a:rPr>
                        <a:t>5.4814</a:t>
                      </a:r>
                    </a:p>
                  </a:txBody>
                  <a:tcPr marL="41840" marR="41840" marT="20920" marB="20920" anchor="ctr"/>
                </a:tc>
                <a:tc>
                  <a:txBody>
                    <a:bodyPr/>
                    <a:lstStyle/>
                    <a:p>
                      <a:pPr algn="l">
                        <a:buNone/>
                      </a:pPr>
                      <a:r>
                        <a:rPr lang="en-US" sz="1400">
                          <a:latin typeface="Times New Roman" panose="02020603050405020304" pitchFamily="18" charset="0"/>
                          <a:cs typeface="Times New Roman" panose="02020603050405020304" pitchFamily="18" charset="0"/>
                        </a:rPr>
                        <a:t>0.5413</a:t>
                      </a:r>
                    </a:p>
                  </a:txBody>
                  <a:tcPr marL="41840" marR="41840" marT="20920" marB="20920" anchor="ctr"/>
                </a:tc>
                <a:tc>
                  <a:txBody>
                    <a:bodyPr/>
                    <a:lstStyle/>
                    <a:p>
                      <a:pPr algn="l">
                        <a:buNone/>
                      </a:pPr>
                      <a:r>
                        <a:rPr lang="en-US" sz="1400" dirty="0">
                          <a:latin typeface="Times New Roman" panose="02020603050405020304" pitchFamily="18" charset="0"/>
                          <a:cs typeface="Times New Roman" panose="02020603050405020304" pitchFamily="18" charset="0"/>
                        </a:rPr>
                        <a:t> Rejected</a:t>
                      </a:r>
                    </a:p>
                  </a:txBody>
                  <a:tcPr marL="41840" marR="41840" marT="20920" marB="20920" anchor="ctr"/>
                </a:tc>
                <a:extLst>
                  <a:ext uri="{0D108BD9-81ED-4DB2-BD59-A6C34878D82A}">
                    <a16:rowId xmlns:a16="http://schemas.microsoft.com/office/drawing/2014/main" val="3786031648"/>
                  </a:ext>
                </a:extLst>
              </a:tr>
              <a:tr h="486057">
                <a:tc>
                  <a:txBody>
                    <a:bodyPr/>
                    <a:lstStyle/>
                    <a:p>
                      <a:pPr algn="l">
                        <a:buNone/>
                      </a:pPr>
                      <a:r>
                        <a:rPr lang="en-US" sz="1400">
                          <a:latin typeface="Times New Roman" panose="02020603050405020304" pitchFamily="18" charset="0"/>
                          <a:cs typeface="Times New Roman" panose="02020603050405020304" pitchFamily="18" charset="0"/>
                        </a:rPr>
                        <a:t>C12-LR</a:t>
                      </a:r>
                    </a:p>
                  </a:txBody>
                  <a:tcPr marL="41840" marR="41840" marT="20920" marB="20920" anchor="ctr"/>
                </a:tc>
                <a:tc>
                  <a:txBody>
                    <a:bodyPr/>
                    <a:lstStyle/>
                    <a:p>
                      <a:pPr algn="l">
                        <a:buNone/>
                      </a:pPr>
                      <a:r>
                        <a:rPr lang="en-US" sz="1400">
                          <a:latin typeface="Times New Roman" panose="02020603050405020304" pitchFamily="18" charset="0"/>
                          <a:cs typeface="Times New Roman" panose="02020603050405020304" pitchFamily="18" charset="0"/>
                        </a:rPr>
                        <a:t>Leakage-safe Weather–Energy Fusion + LR</a:t>
                      </a:r>
                    </a:p>
                  </a:txBody>
                  <a:tcPr marL="41840" marR="41840" marT="20920" marB="20920" anchor="ctr"/>
                </a:tc>
                <a:tc>
                  <a:txBody>
                    <a:bodyPr/>
                    <a:lstStyle/>
                    <a:p>
                      <a:pPr algn="l">
                        <a:buNone/>
                      </a:pPr>
                      <a:r>
                        <a:rPr lang="en-US" sz="1400">
                          <a:latin typeface="Times New Roman" panose="02020603050405020304" pitchFamily="18" charset="0"/>
                          <a:cs typeface="Times New Roman" panose="02020603050405020304" pitchFamily="18" charset="0"/>
                        </a:rPr>
                        <a:t>Cross-domain fusion</a:t>
                      </a:r>
                    </a:p>
                  </a:txBody>
                  <a:tcPr marL="41840" marR="41840" marT="20920" marB="20920" anchor="ctr"/>
                </a:tc>
                <a:tc>
                  <a:txBody>
                    <a:bodyPr/>
                    <a:lstStyle/>
                    <a:p>
                      <a:pPr algn="l">
                        <a:buNone/>
                      </a:pPr>
                      <a:r>
                        <a:rPr lang="en-US" sz="1400">
                          <a:latin typeface="Times New Roman" panose="02020603050405020304" pitchFamily="18" charset="0"/>
                          <a:cs typeface="Times New Roman" panose="02020603050405020304" pitchFamily="18" charset="0"/>
                        </a:rPr>
                        <a:t>5.2738</a:t>
                      </a:r>
                    </a:p>
                  </a:txBody>
                  <a:tcPr marL="41840" marR="41840" marT="20920" marB="20920" anchor="ctr"/>
                </a:tc>
                <a:tc>
                  <a:txBody>
                    <a:bodyPr/>
                    <a:lstStyle/>
                    <a:p>
                      <a:pPr algn="l">
                        <a:buNone/>
                      </a:pPr>
                      <a:r>
                        <a:rPr lang="en-US" sz="1400">
                          <a:latin typeface="Times New Roman" panose="02020603050405020304" pitchFamily="18" charset="0"/>
                          <a:cs typeface="Times New Roman" panose="02020603050405020304" pitchFamily="18" charset="0"/>
                        </a:rPr>
                        <a:t>0.5754</a:t>
                      </a:r>
                    </a:p>
                  </a:txBody>
                  <a:tcPr marL="41840" marR="41840" marT="20920" marB="20920" anchor="ctr"/>
                </a:tc>
                <a:tc>
                  <a:txBody>
                    <a:bodyPr/>
                    <a:lstStyle/>
                    <a:p>
                      <a:pPr algn="l">
                        <a:buNone/>
                      </a:pPr>
                      <a:r>
                        <a:rPr lang="en-US" sz="1400" dirty="0">
                          <a:latin typeface="Times New Roman" panose="02020603050405020304" pitchFamily="18" charset="0"/>
                          <a:cs typeface="Times New Roman" panose="02020603050405020304" pitchFamily="18" charset="0"/>
                        </a:rPr>
                        <a:t> Rejected</a:t>
                      </a:r>
                    </a:p>
                  </a:txBody>
                  <a:tcPr marL="41840" marR="41840" marT="20920" marB="20920" anchor="ctr"/>
                </a:tc>
                <a:extLst>
                  <a:ext uri="{0D108BD9-81ED-4DB2-BD59-A6C34878D82A}">
                    <a16:rowId xmlns:a16="http://schemas.microsoft.com/office/drawing/2014/main" val="1025625793"/>
                  </a:ext>
                </a:extLst>
              </a:tr>
              <a:tr h="486057">
                <a:tc>
                  <a:txBody>
                    <a:bodyPr/>
                    <a:lstStyle/>
                    <a:p>
                      <a:pPr algn="l">
                        <a:buNone/>
                      </a:pPr>
                      <a:r>
                        <a:rPr lang="en-US" sz="1400">
                          <a:latin typeface="Times New Roman" panose="02020603050405020304" pitchFamily="18" charset="0"/>
                          <a:cs typeface="Times New Roman" panose="02020603050405020304" pitchFamily="18" charset="0"/>
                        </a:rPr>
                        <a:t>C12-RF</a:t>
                      </a:r>
                    </a:p>
                  </a:txBody>
                  <a:tcPr marL="41840" marR="41840" marT="20920" marB="20920" anchor="ctr"/>
                </a:tc>
                <a:tc>
                  <a:txBody>
                    <a:bodyPr/>
                    <a:lstStyle/>
                    <a:p>
                      <a:pPr algn="l">
                        <a:buNone/>
                      </a:pPr>
                      <a:r>
                        <a:rPr lang="en-US" sz="1400">
                          <a:latin typeface="Times New Roman" panose="02020603050405020304" pitchFamily="18" charset="0"/>
                          <a:cs typeface="Times New Roman" panose="02020603050405020304" pitchFamily="18" charset="0"/>
                        </a:rPr>
                        <a:t>Leakage-safe Weather–Energy Fusion + RF</a:t>
                      </a:r>
                    </a:p>
                  </a:txBody>
                  <a:tcPr marL="41840" marR="41840" marT="20920" marB="20920" anchor="ctr"/>
                </a:tc>
                <a:tc>
                  <a:txBody>
                    <a:bodyPr/>
                    <a:lstStyle/>
                    <a:p>
                      <a:pPr algn="l">
                        <a:buNone/>
                      </a:pPr>
                      <a:r>
                        <a:rPr lang="en-US" sz="1400" dirty="0">
                          <a:latin typeface="Times New Roman" panose="02020603050405020304" pitchFamily="18" charset="0"/>
                          <a:cs typeface="Times New Roman" panose="02020603050405020304" pitchFamily="18" charset="0"/>
                        </a:rPr>
                        <a:t>Same fusion with RF</a:t>
                      </a:r>
                    </a:p>
                  </a:txBody>
                  <a:tcPr marL="41840" marR="41840" marT="20920" marB="20920" anchor="ctr"/>
                </a:tc>
                <a:tc>
                  <a:txBody>
                    <a:bodyPr/>
                    <a:lstStyle/>
                    <a:p>
                      <a:pPr algn="l">
                        <a:buNone/>
                      </a:pPr>
                      <a:r>
                        <a:rPr lang="en-US" sz="1400">
                          <a:latin typeface="Times New Roman" panose="02020603050405020304" pitchFamily="18" charset="0"/>
                          <a:cs typeface="Times New Roman" panose="02020603050405020304" pitchFamily="18" charset="0"/>
                        </a:rPr>
                        <a:t>5.5959</a:t>
                      </a:r>
                    </a:p>
                  </a:txBody>
                  <a:tcPr marL="41840" marR="41840" marT="20920" marB="20920" anchor="ctr"/>
                </a:tc>
                <a:tc>
                  <a:txBody>
                    <a:bodyPr/>
                    <a:lstStyle/>
                    <a:p>
                      <a:pPr algn="l">
                        <a:buNone/>
                      </a:pPr>
                      <a:r>
                        <a:rPr lang="en-US" sz="1400">
                          <a:latin typeface="Times New Roman" panose="02020603050405020304" pitchFamily="18" charset="0"/>
                          <a:cs typeface="Times New Roman" panose="02020603050405020304" pitchFamily="18" charset="0"/>
                        </a:rPr>
                        <a:t>0.5219</a:t>
                      </a:r>
                    </a:p>
                  </a:txBody>
                  <a:tcPr marL="41840" marR="41840" marT="20920" marB="20920" anchor="ctr"/>
                </a:tc>
                <a:tc>
                  <a:txBody>
                    <a:bodyPr/>
                    <a:lstStyle/>
                    <a:p>
                      <a:pPr algn="l">
                        <a:buNone/>
                      </a:pPr>
                      <a:r>
                        <a:rPr lang="en-US" sz="1400" dirty="0">
                          <a:latin typeface="Times New Roman" panose="02020603050405020304" pitchFamily="18" charset="0"/>
                          <a:cs typeface="Times New Roman" panose="02020603050405020304" pitchFamily="18" charset="0"/>
                        </a:rPr>
                        <a:t> Rejected</a:t>
                      </a:r>
                    </a:p>
                  </a:txBody>
                  <a:tcPr marL="41840" marR="41840" marT="20920" marB="20920" anchor="ctr"/>
                </a:tc>
                <a:extLst>
                  <a:ext uri="{0D108BD9-81ED-4DB2-BD59-A6C34878D82A}">
                    <a16:rowId xmlns:a16="http://schemas.microsoft.com/office/drawing/2014/main" val="1464466986"/>
                  </a:ext>
                </a:extLst>
              </a:tr>
              <a:tr h="486057">
                <a:tc>
                  <a:txBody>
                    <a:bodyPr/>
                    <a:lstStyle/>
                    <a:p>
                      <a:pPr algn="l">
                        <a:buNone/>
                      </a:pPr>
                      <a:r>
                        <a:rPr lang="en-US" sz="1400">
                          <a:latin typeface="Times New Roman" panose="02020603050405020304" pitchFamily="18" charset="0"/>
                          <a:cs typeface="Times New Roman" panose="02020603050405020304" pitchFamily="18" charset="0"/>
                        </a:rPr>
                        <a:t>C13</a:t>
                      </a:r>
                    </a:p>
                  </a:txBody>
                  <a:tcPr marL="41840" marR="41840" marT="20920" marB="20920" anchor="ctr"/>
                </a:tc>
                <a:tc>
                  <a:txBody>
                    <a:bodyPr/>
                    <a:lstStyle/>
                    <a:p>
                      <a:pPr algn="l">
                        <a:buNone/>
                      </a:pPr>
                      <a:r>
                        <a:rPr lang="en-US" sz="1400">
                          <a:latin typeface="Times New Roman" panose="02020603050405020304" pitchFamily="18" charset="0"/>
                          <a:cs typeface="Times New Roman" panose="02020603050405020304" pitchFamily="18" charset="0"/>
                        </a:rPr>
                        <a:t>ExtraTrees + RF OOF Stack</a:t>
                      </a:r>
                    </a:p>
                  </a:txBody>
                  <a:tcPr marL="41840" marR="41840" marT="20920" marB="20920" anchor="ctr"/>
                </a:tc>
                <a:tc>
                  <a:txBody>
                    <a:bodyPr/>
                    <a:lstStyle/>
                    <a:p>
                      <a:pPr algn="l">
                        <a:buNone/>
                      </a:pPr>
                      <a:r>
                        <a:rPr lang="en-US" sz="1400">
                          <a:latin typeface="Times New Roman" panose="02020603050405020304" pitchFamily="18" charset="0"/>
                          <a:cs typeface="Times New Roman" panose="02020603050405020304" pitchFamily="18" charset="0"/>
                        </a:rPr>
                        <a:t>Tree-based stacking</a:t>
                      </a:r>
                    </a:p>
                  </a:txBody>
                  <a:tcPr marL="41840" marR="41840" marT="20920" marB="20920" anchor="ctr"/>
                </a:tc>
                <a:tc>
                  <a:txBody>
                    <a:bodyPr/>
                    <a:lstStyle/>
                    <a:p>
                      <a:pPr algn="l">
                        <a:buNone/>
                      </a:pPr>
                      <a:r>
                        <a:rPr lang="en-US" sz="1400">
                          <a:latin typeface="Times New Roman" panose="02020603050405020304" pitchFamily="18" charset="0"/>
                          <a:cs typeface="Times New Roman" panose="02020603050405020304" pitchFamily="18" charset="0"/>
                        </a:rPr>
                        <a:t>5.4618</a:t>
                      </a:r>
                    </a:p>
                  </a:txBody>
                  <a:tcPr marL="41840" marR="41840" marT="20920" marB="20920" anchor="ctr"/>
                </a:tc>
                <a:tc>
                  <a:txBody>
                    <a:bodyPr/>
                    <a:lstStyle/>
                    <a:p>
                      <a:pPr algn="l">
                        <a:buNone/>
                      </a:pPr>
                      <a:r>
                        <a:rPr lang="en-US" sz="1400">
                          <a:latin typeface="Times New Roman" panose="02020603050405020304" pitchFamily="18" charset="0"/>
                          <a:cs typeface="Times New Roman" panose="02020603050405020304" pitchFamily="18" charset="0"/>
                        </a:rPr>
                        <a:t>0.5446</a:t>
                      </a:r>
                    </a:p>
                  </a:txBody>
                  <a:tcPr marL="41840" marR="41840" marT="20920" marB="20920" anchor="ctr"/>
                </a:tc>
                <a:tc>
                  <a:txBody>
                    <a:bodyPr/>
                    <a:lstStyle/>
                    <a:p>
                      <a:pPr algn="l">
                        <a:buNone/>
                      </a:pPr>
                      <a:r>
                        <a:rPr lang="en-US" sz="1400" dirty="0">
                          <a:latin typeface="Times New Roman" panose="02020603050405020304" pitchFamily="18" charset="0"/>
                          <a:cs typeface="Times New Roman" panose="02020603050405020304" pitchFamily="18" charset="0"/>
                        </a:rPr>
                        <a:t> Rejected</a:t>
                      </a:r>
                    </a:p>
                  </a:txBody>
                  <a:tcPr marL="41840" marR="41840" marT="20920" marB="20920" anchor="ctr"/>
                </a:tc>
                <a:extLst>
                  <a:ext uri="{0D108BD9-81ED-4DB2-BD59-A6C34878D82A}">
                    <a16:rowId xmlns:a16="http://schemas.microsoft.com/office/drawing/2014/main" val="1678536712"/>
                  </a:ext>
                </a:extLst>
              </a:tr>
            </a:tbl>
          </a:graphicData>
        </a:graphic>
      </p:graphicFrame>
    </p:spTree>
    <p:extLst>
      <p:ext uri="{BB962C8B-B14F-4D97-AF65-F5344CB8AC3E}">
        <p14:creationId xmlns:p14="http://schemas.microsoft.com/office/powerpoint/2010/main" val="36323352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6AEA0-9E5F-2DA9-E317-425B8BAC2C8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1C014D0-CB97-2B8B-1C4D-0BAB24B7E9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659" y="75795"/>
            <a:ext cx="1863880" cy="934217"/>
          </a:xfrm>
          <a:prstGeom prst="rect">
            <a:avLst/>
          </a:prstGeom>
          <a:noFill/>
          <a:ln>
            <a:noFill/>
          </a:ln>
        </p:spPr>
      </p:pic>
      <p:sp>
        <p:nvSpPr>
          <p:cNvPr id="2" name="TextBox 1">
            <a:extLst>
              <a:ext uri="{FF2B5EF4-FFF2-40B4-BE49-F238E27FC236}">
                <a16:creationId xmlns:a16="http://schemas.microsoft.com/office/drawing/2014/main" id="{C575A185-0EFC-D298-6DE6-9DD96354CE71}"/>
              </a:ext>
            </a:extLst>
          </p:cNvPr>
          <p:cNvSpPr txBox="1"/>
          <p:nvPr/>
        </p:nvSpPr>
        <p:spPr>
          <a:xfrm>
            <a:off x="2979173" y="203178"/>
            <a:ext cx="5968181" cy="1231106"/>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Comparison with relevant existing models from the literature</a:t>
            </a:r>
          </a:p>
          <a:p>
            <a:endParaRPr lang="en-US" dirty="0"/>
          </a:p>
        </p:txBody>
      </p:sp>
      <p:graphicFrame>
        <p:nvGraphicFramePr>
          <p:cNvPr id="6" name="Table 5">
            <a:extLst>
              <a:ext uri="{FF2B5EF4-FFF2-40B4-BE49-F238E27FC236}">
                <a16:creationId xmlns:a16="http://schemas.microsoft.com/office/drawing/2014/main" id="{61A7BB8A-908A-75D1-4C56-16D3D9E856C0}"/>
              </a:ext>
            </a:extLst>
          </p:cNvPr>
          <p:cNvGraphicFramePr>
            <a:graphicFrameLocks noGrp="1"/>
          </p:cNvGraphicFramePr>
          <p:nvPr>
            <p:extLst>
              <p:ext uri="{D42A27DB-BD31-4B8C-83A1-F6EECF244321}">
                <p14:modId xmlns:p14="http://schemas.microsoft.com/office/powerpoint/2010/main" val="2053998087"/>
              </p:ext>
            </p:extLst>
          </p:nvPr>
        </p:nvGraphicFramePr>
        <p:xfrm>
          <a:off x="501444" y="1219201"/>
          <a:ext cx="11189112" cy="4522878"/>
        </p:xfrm>
        <a:graphic>
          <a:graphicData uri="http://schemas.openxmlformats.org/drawingml/2006/table">
            <a:tbl>
              <a:tblPr>
                <a:tableStyleId>{22838BEF-8BB2-4498-84A7-C5851F593DF1}</a:tableStyleId>
              </a:tblPr>
              <a:tblGrid>
                <a:gridCol w="1514168">
                  <a:extLst>
                    <a:ext uri="{9D8B030D-6E8A-4147-A177-3AD203B41FA5}">
                      <a16:colId xmlns:a16="http://schemas.microsoft.com/office/drawing/2014/main" val="287276007"/>
                    </a:ext>
                  </a:extLst>
                </a:gridCol>
                <a:gridCol w="2713704">
                  <a:extLst>
                    <a:ext uri="{9D8B030D-6E8A-4147-A177-3AD203B41FA5}">
                      <a16:colId xmlns:a16="http://schemas.microsoft.com/office/drawing/2014/main" val="2303959294"/>
                    </a:ext>
                  </a:extLst>
                </a:gridCol>
                <a:gridCol w="2094271">
                  <a:extLst>
                    <a:ext uri="{9D8B030D-6E8A-4147-A177-3AD203B41FA5}">
                      <a16:colId xmlns:a16="http://schemas.microsoft.com/office/drawing/2014/main" val="1605692402"/>
                    </a:ext>
                  </a:extLst>
                </a:gridCol>
                <a:gridCol w="1651819">
                  <a:extLst>
                    <a:ext uri="{9D8B030D-6E8A-4147-A177-3AD203B41FA5}">
                      <a16:colId xmlns:a16="http://schemas.microsoft.com/office/drawing/2014/main" val="4148152707"/>
                    </a:ext>
                  </a:extLst>
                </a:gridCol>
                <a:gridCol w="1445342">
                  <a:extLst>
                    <a:ext uri="{9D8B030D-6E8A-4147-A177-3AD203B41FA5}">
                      <a16:colId xmlns:a16="http://schemas.microsoft.com/office/drawing/2014/main" val="4065374322"/>
                    </a:ext>
                  </a:extLst>
                </a:gridCol>
                <a:gridCol w="1769808">
                  <a:extLst>
                    <a:ext uri="{9D8B030D-6E8A-4147-A177-3AD203B41FA5}">
                      <a16:colId xmlns:a16="http://schemas.microsoft.com/office/drawing/2014/main" val="923182526"/>
                    </a:ext>
                  </a:extLst>
                </a:gridCol>
              </a:tblGrid>
              <a:tr h="225037">
                <a:tc>
                  <a:txBody>
                    <a:bodyPr/>
                    <a:lstStyle/>
                    <a:p>
                      <a:pPr algn="ctr">
                        <a:buNone/>
                      </a:pPr>
                      <a:r>
                        <a:rPr lang="en-US" sz="1600" b="1" dirty="0"/>
                        <a:t>ID</a:t>
                      </a:r>
                      <a:endParaRPr lang="en-US" sz="1600" b="1" dirty="0">
                        <a:latin typeface="Times New Roman" panose="02020603050405020304" pitchFamily="18" charset="0"/>
                        <a:cs typeface="Times New Roman" panose="02020603050405020304" pitchFamily="18" charset="0"/>
                      </a:endParaRPr>
                    </a:p>
                  </a:txBody>
                  <a:tcPr marL="45326" marR="45326" marT="22663" marB="22663" anchor="ctr">
                    <a:solidFill>
                      <a:schemeClr val="accent1">
                        <a:lumMod val="60000"/>
                        <a:lumOff val="40000"/>
                      </a:schemeClr>
                    </a:solidFill>
                  </a:tcPr>
                </a:tc>
                <a:tc>
                  <a:txBody>
                    <a:bodyPr/>
                    <a:lstStyle/>
                    <a:p>
                      <a:pPr algn="ctr">
                        <a:buNone/>
                      </a:pPr>
                      <a:r>
                        <a:rPr lang="en-US" sz="1600" b="1"/>
                        <a:t>Hybrid / Model</a:t>
                      </a:r>
                      <a:endParaRPr lang="en-US" sz="1600" b="1">
                        <a:latin typeface="Times New Roman" panose="02020603050405020304" pitchFamily="18" charset="0"/>
                        <a:cs typeface="Times New Roman" panose="02020603050405020304" pitchFamily="18" charset="0"/>
                      </a:endParaRPr>
                    </a:p>
                  </a:txBody>
                  <a:tcPr marL="45326" marR="45326" marT="22663" marB="22663" anchor="ctr">
                    <a:solidFill>
                      <a:schemeClr val="accent1">
                        <a:lumMod val="60000"/>
                        <a:lumOff val="40000"/>
                      </a:schemeClr>
                    </a:solidFill>
                  </a:tcPr>
                </a:tc>
                <a:tc>
                  <a:txBody>
                    <a:bodyPr/>
                    <a:lstStyle/>
                    <a:p>
                      <a:pPr algn="ctr">
                        <a:buNone/>
                      </a:pPr>
                      <a:r>
                        <a:rPr lang="en-US" sz="1600" b="1"/>
                        <a:t>Main idea</a:t>
                      </a:r>
                      <a:endParaRPr lang="en-US" sz="1600" b="1">
                        <a:latin typeface="Times New Roman" panose="02020603050405020304" pitchFamily="18" charset="0"/>
                        <a:cs typeface="Times New Roman" panose="02020603050405020304" pitchFamily="18" charset="0"/>
                      </a:endParaRPr>
                    </a:p>
                  </a:txBody>
                  <a:tcPr marL="45326" marR="45326" marT="22663" marB="22663" anchor="ctr">
                    <a:solidFill>
                      <a:schemeClr val="accent1">
                        <a:lumMod val="60000"/>
                        <a:lumOff val="40000"/>
                      </a:schemeClr>
                    </a:solidFill>
                  </a:tcPr>
                </a:tc>
                <a:tc>
                  <a:txBody>
                    <a:bodyPr/>
                    <a:lstStyle/>
                    <a:p>
                      <a:pPr algn="ctr">
                        <a:buNone/>
                      </a:pPr>
                      <a:r>
                        <a:rPr lang="en-US" sz="1600" b="1"/>
                        <a:t>Energy RMSE</a:t>
                      </a:r>
                      <a:endParaRPr lang="en-US" sz="1600" b="1">
                        <a:latin typeface="Times New Roman" panose="02020603050405020304" pitchFamily="18" charset="0"/>
                        <a:cs typeface="Times New Roman" panose="02020603050405020304" pitchFamily="18" charset="0"/>
                      </a:endParaRPr>
                    </a:p>
                  </a:txBody>
                  <a:tcPr marL="45326" marR="45326" marT="22663" marB="22663" anchor="ctr">
                    <a:solidFill>
                      <a:schemeClr val="accent1">
                        <a:lumMod val="60000"/>
                        <a:lumOff val="40000"/>
                      </a:schemeClr>
                    </a:solidFill>
                  </a:tcPr>
                </a:tc>
                <a:tc>
                  <a:txBody>
                    <a:bodyPr/>
                    <a:lstStyle/>
                    <a:p>
                      <a:pPr algn="ctr">
                        <a:buNone/>
                      </a:pPr>
                      <a:r>
                        <a:rPr lang="en-US" sz="1600" b="1"/>
                        <a:t>Energy R²</a:t>
                      </a:r>
                      <a:endParaRPr lang="en-US" sz="1600" b="1">
                        <a:latin typeface="Times New Roman" panose="02020603050405020304" pitchFamily="18" charset="0"/>
                        <a:cs typeface="Times New Roman" panose="02020603050405020304" pitchFamily="18" charset="0"/>
                      </a:endParaRPr>
                    </a:p>
                  </a:txBody>
                  <a:tcPr marL="45326" marR="45326" marT="22663" marB="22663" anchor="ctr">
                    <a:solidFill>
                      <a:schemeClr val="accent1">
                        <a:lumMod val="60000"/>
                        <a:lumOff val="40000"/>
                      </a:schemeClr>
                    </a:solidFill>
                  </a:tcPr>
                </a:tc>
                <a:tc>
                  <a:txBody>
                    <a:bodyPr/>
                    <a:lstStyle/>
                    <a:p>
                      <a:pPr algn="ctr">
                        <a:buNone/>
                      </a:pPr>
                      <a:r>
                        <a:rPr lang="en-US" sz="1600" b="1" dirty="0"/>
                        <a:t>Decision</a:t>
                      </a:r>
                      <a:endParaRPr lang="en-US" sz="1600" b="1" dirty="0">
                        <a:latin typeface="Times New Roman" panose="02020603050405020304" pitchFamily="18" charset="0"/>
                        <a:cs typeface="Times New Roman" panose="02020603050405020304" pitchFamily="18" charset="0"/>
                      </a:endParaRPr>
                    </a:p>
                  </a:txBody>
                  <a:tcPr marL="45326" marR="45326" marT="22663" marB="22663" anchor="ctr">
                    <a:solidFill>
                      <a:schemeClr val="accent1">
                        <a:lumMod val="60000"/>
                        <a:lumOff val="40000"/>
                      </a:schemeClr>
                    </a:solidFill>
                  </a:tcPr>
                </a:tc>
                <a:extLst>
                  <a:ext uri="{0D108BD9-81ED-4DB2-BD59-A6C34878D82A}">
                    <a16:rowId xmlns:a16="http://schemas.microsoft.com/office/drawing/2014/main" val="3763919496"/>
                  </a:ext>
                </a:extLst>
              </a:tr>
              <a:tr h="435186">
                <a:tc>
                  <a:txBody>
                    <a:bodyPr/>
                    <a:lstStyle/>
                    <a:p>
                      <a:pPr algn="l">
                        <a:buNone/>
                      </a:pPr>
                      <a:r>
                        <a:rPr lang="en-US" sz="1400" dirty="0"/>
                        <a:t>C14-P</a:t>
                      </a:r>
                      <a:endParaRPr lang="en-US" sz="1400" dirty="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gn="l">
                        <a:buNone/>
                      </a:pPr>
                      <a:r>
                        <a:rPr lang="en-US" sz="1400" dirty="0"/>
                        <a:t>Polynomial Ridge</a:t>
                      </a:r>
                      <a:endParaRPr lang="en-US" sz="1400" dirty="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gn="l">
                        <a:buNone/>
                      </a:pPr>
                      <a:r>
                        <a:rPr lang="en-US" sz="1400"/>
                        <a:t>Nonlinear polynomial + Ridge</a:t>
                      </a:r>
                      <a:endParaRPr lang="en-US" sz="140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gn="l">
                        <a:buNone/>
                      </a:pPr>
                      <a:r>
                        <a:rPr lang="en-US" sz="1400"/>
                        <a:t>5.6812</a:t>
                      </a:r>
                      <a:endParaRPr lang="en-US" sz="140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gn="l">
                        <a:buNone/>
                      </a:pPr>
                      <a:r>
                        <a:rPr lang="en-US" sz="1400"/>
                        <a:t>0.5072</a:t>
                      </a:r>
                      <a:endParaRPr lang="en-US" sz="140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gn="l">
                        <a:buNone/>
                      </a:pPr>
                      <a:r>
                        <a:rPr lang="en-US" sz="1400" dirty="0"/>
                        <a:t> Rejected</a:t>
                      </a:r>
                      <a:endParaRPr lang="en-US" sz="1400" dirty="0">
                        <a:latin typeface="Times New Roman" panose="02020603050405020304" pitchFamily="18" charset="0"/>
                        <a:cs typeface="Times New Roman" panose="02020603050405020304" pitchFamily="18" charset="0"/>
                      </a:endParaRPr>
                    </a:p>
                  </a:txBody>
                  <a:tcPr marL="45326" marR="45326" marT="22663" marB="22663" anchor="ctr"/>
                </a:tc>
                <a:extLst>
                  <a:ext uri="{0D108BD9-81ED-4DB2-BD59-A6C34878D82A}">
                    <a16:rowId xmlns:a16="http://schemas.microsoft.com/office/drawing/2014/main" val="3067422328"/>
                  </a:ext>
                </a:extLst>
              </a:tr>
              <a:tr h="435186">
                <a:tc>
                  <a:txBody>
                    <a:bodyPr/>
                    <a:lstStyle/>
                    <a:p>
                      <a:pPr algn="l">
                        <a:buNone/>
                      </a:pPr>
                      <a:r>
                        <a:rPr lang="en-US" sz="1400"/>
                        <a:t>C14-SVR</a:t>
                      </a:r>
                      <a:endParaRPr lang="en-US" sz="140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gn="l">
                        <a:buNone/>
                      </a:pPr>
                      <a:r>
                        <a:rPr lang="en-US" sz="1400" dirty="0"/>
                        <a:t>SVR</a:t>
                      </a:r>
                      <a:endParaRPr lang="en-US" sz="1400" dirty="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gn="l">
                        <a:buNone/>
                      </a:pPr>
                      <a:r>
                        <a:rPr lang="en-US" sz="1400"/>
                        <a:t>Kernel-based nonlinear regression</a:t>
                      </a:r>
                      <a:endParaRPr lang="en-US" sz="140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gn="l">
                        <a:buNone/>
                      </a:pPr>
                      <a:r>
                        <a:rPr lang="en-US" sz="1400"/>
                        <a:t>5.6938</a:t>
                      </a:r>
                      <a:endParaRPr lang="en-US" sz="140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gn="l">
                        <a:buNone/>
                      </a:pPr>
                      <a:r>
                        <a:rPr lang="en-US" sz="1400"/>
                        <a:t>0.5051</a:t>
                      </a:r>
                      <a:endParaRPr lang="en-US" sz="140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gn="l">
                        <a:buNone/>
                      </a:pPr>
                      <a:r>
                        <a:rPr lang="en-US" sz="1400" dirty="0"/>
                        <a:t> Rejected</a:t>
                      </a:r>
                      <a:endParaRPr lang="en-US" sz="1400" dirty="0">
                        <a:latin typeface="Times New Roman" panose="02020603050405020304" pitchFamily="18" charset="0"/>
                        <a:cs typeface="Times New Roman" panose="02020603050405020304" pitchFamily="18" charset="0"/>
                      </a:endParaRPr>
                    </a:p>
                  </a:txBody>
                  <a:tcPr marL="45326" marR="45326" marT="22663" marB="22663" anchor="ctr"/>
                </a:tc>
                <a:extLst>
                  <a:ext uri="{0D108BD9-81ED-4DB2-BD59-A6C34878D82A}">
                    <a16:rowId xmlns:a16="http://schemas.microsoft.com/office/drawing/2014/main" val="31255857"/>
                  </a:ext>
                </a:extLst>
              </a:tr>
              <a:tr h="435186">
                <a:tc>
                  <a:txBody>
                    <a:bodyPr/>
                    <a:lstStyle/>
                    <a:p>
                      <a:pPr algn="l">
                        <a:buNone/>
                      </a:pPr>
                      <a:r>
                        <a:rPr lang="en-US" sz="1400" dirty="0"/>
                        <a:t>C14-HGB</a:t>
                      </a:r>
                      <a:endParaRPr lang="en-US" sz="1400" dirty="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gn="l">
                        <a:buNone/>
                      </a:pPr>
                      <a:r>
                        <a:rPr lang="en-US" sz="1400"/>
                        <a:t>HistGradientBoosting</a:t>
                      </a:r>
                      <a:endParaRPr lang="en-US" sz="140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gn="l">
                        <a:buNone/>
                      </a:pPr>
                      <a:r>
                        <a:rPr lang="en-US" sz="1400"/>
                        <a:t>Histogram gradient boosting</a:t>
                      </a:r>
                      <a:endParaRPr lang="en-US" sz="140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gn="l">
                        <a:buNone/>
                      </a:pPr>
                      <a:r>
                        <a:rPr lang="en-US" sz="1400" dirty="0"/>
                        <a:t>5.6480</a:t>
                      </a:r>
                      <a:endParaRPr lang="en-US" sz="1400" dirty="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gn="l">
                        <a:buNone/>
                      </a:pPr>
                      <a:r>
                        <a:rPr lang="en-US" sz="1400" dirty="0"/>
                        <a:t>0.5130</a:t>
                      </a:r>
                      <a:endParaRPr lang="en-US" sz="1400" dirty="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gn="l">
                        <a:buNone/>
                      </a:pPr>
                      <a:r>
                        <a:rPr lang="en-US" sz="1400" dirty="0"/>
                        <a:t> Rejected</a:t>
                      </a:r>
                      <a:endParaRPr lang="en-US" sz="1400" dirty="0">
                        <a:latin typeface="Times New Roman" panose="02020603050405020304" pitchFamily="18" charset="0"/>
                        <a:cs typeface="Times New Roman" panose="02020603050405020304" pitchFamily="18" charset="0"/>
                      </a:endParaRPr>
                    </a:p>
                  </a:txBody>
                  <a:tcPr marL="45326" marR="45326" marT="22663" marB="22663" anchor="ctr"/>
                </a:tc>
                <a:extLst>
                  <a:ext uri="{0D108BD9-81ED-4DB2-BD59-A6C34878D82A}">
                    <a16:rowId xmlns:a16="http://schemas.microsoft.com/office/drawing/2014/main" val="1461544901"/>
                  </a:ext>
                </a:extLst>
              </a:tr>
              <a:tr h="410643">
                <a:tc>
                  <a:txBody>
                    <a:bodyPr/>
                    <a:lstStyle/>
                    <a:p>
                      <a:pPr algn="l">
                        <a:buNone/>
                      </a:pPr>
                      <a:r>
                        <a:rPr lang="en-US" sz="1400"/>
                        <a:t>HRLM-W</a:t>
                      </a:r>
                      <a:endParaRPr lang="en-US" sz="140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gn="l">
                        <a:buNone/>
                      </a:pPr>
                      <a:r>
                        <a:rPr lang="en-US" sz="1400"/>
                        <a:t>LR + RF Residual — Weather</a:t>
                      </a:r>
                      <a:endParaRPr lang="en-US" sz="140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gn="l">
                        <a:buNone/>
                      </a:pPr>
                      <a:r>
                        <a:rPr lang="en-US" sz="1400"/>
                        <a:t>Residual correction</a:t>
                      </a:r>
                      <a:endParaRPr lang="en-US" sz="140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gn="l">
                        <a:buNone/>
                      </a:pPr>
                      <a:r>
                        <a:rPr lang="en-US" sz="1400"/>
                        <a:t>3.7284</a:t>
                      </a:r>
                      <a:endParaRPr lang="en-US" sz="140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gn="l">
                        <a:buNone/>
                      </a:pPr>
                      <a:r>
                        <a:rPr lang="en-US" sz="1400"/>
                        <a:t>0.8276</a:t>
                      </a:r>
                      <a:endParaRPr lang="en-US" sz="140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gn="l">
                        <a:buNone/>
                      </a:pPr>
                      <a:r>
                        <a:rPr lang="en-US" sz="1400" dirty="0"/>
                        <a:t> Rejected later</a:t>
                      </a:r>
                      <a:endParaRPr lang="en-US" sz="1400" dirty="0">
                        <a:latin typeface="Times New Roman" panose="02020603050405020304" pitchFamily="18" charset="0"/>
                        <a:cs typeface="Times New Roman" panose="02020603050405020304" pitchFamily="18" charset="0"/>
                      </a:endParaRPr>
                    </a:p>
                  </a:txBody>
                  <a:tcPr marL="45326" marR="45326" marT="22663" marB="22663" anchor="ctr"/>
                </a:tc>
                <a:extLst>
                  <a:ext uri="{0D108BD9-81ED-4DB2-BD59-A6C34878D82A}">
                    <a16:rowId xmlns:a16="http://schemas.microsoft.com/office/drawing/2014/main" val="2340851364"/>
                  </a:ext>
                </a:extLst>
              </a:tr>
              <a:tr h="410643">
                <a:tc>
                  <a:txBody>
                    <a:bodyPr/>
                    <a:lstStyle/>
                    <a:p>
                      <a:pPr algn="l">
                        <a:buNone/>
                      </a:pPr>
                      <a:r>
                        <a:rPr lang="en-US" sz="1400"/>
                        <a:t>HRLM-E</a:t>
                      </a:r>
                      <a:endParaRPr lang="en-US" sz="140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gn="l">
                        <a:buNone/>
                      </a:pPr>
                      <a:r>
                        <a:rPr lang="en-US" sz="1400"/>
                        <a:t>LR + RF Residual — Energy</a:t>
                      </a:r>
                      <a:endParaRPr lang="en-US" sz="140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gn="l">
                        <a:buNone/>
                      </a:pPr>
                      <a:r>
                        <a:rPr lang="en-US" sz="1400" dirty="0"/>
                        <a:t>Residual correction</a:t>
                      </a:r>
                      <a:endParaRPr lang="en-US" sz="1400" dirty="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gn="l">
                        <a:buNone/>
                      </a:pPr>
                      <a:r>
                        <a:rPr lang="en-US" sz="1400"/>
                        <a:t>5.4333</a:t>
                      </a:r>
                      <a:endParaRPr lang="en-US" sz="140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gn="l">
                        <a:buNone/>
                      </a:pPr>
                      <a:r>
                        <a:rPr lang="en-US" sz="1400" dirty="0"/>
                        <a:t>0.5493</a:t>
                      </a:r>
                      <a:endParaRPr lang="en-US" sz="1400" dirty="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gn="l">
                        <a:buNone/>
                      </a:pPr>
                      <a:r>
                        <a:rPr lang="en-US" sz="1400" dirty="0"/>
                        <a:t> Rejected</a:t>
                      </a:r>
                      <a:endParaRPr lang="en-US" sz="1400" dirty="0">
                        <a:latin typeface="Times New Roman" panose="02020603050405020304" pitchFamily="18" charset="0"/>
                        <a:cs typeface="Times New Roman" panose="02020603050405020304" pitchFamily="18" charset="0"/>
                      </a:endParaRPr>
                    </a:p>
                  </a:txBody>
                  <a:tcPr marL="45326" marR="45326" marT="22663" marB="22663" anchor="ctr"/>
                </a:tc>
                <a:extLst>
                  <a:ext uri="{0D108BD9-81ED-4DB2-BD59-A6C34878D82A}">
                    <a16:rowId xmlns:a16="http://schemas.microsoft.com/office/drawing/2014/main" val="2007015329"/>
                  </a:ext>
                </a:extLst>
              </a:tr>
              <a:tr h="435186">
                <a:tc>
                  <a:txBody>
                    <a:bodyPr/>
                    <a:lstStyle/>
                    <a:p>
                      <a:pPr algn="l">
                        <a:buNone/>
                      </a:pPr>
                      <a:r>
                        <a:rPr lang="en-US" sz="1400"/>
                        <a:t>LR + CB</a:t>
                      </a:r>
                      <a:endParaRPr lang="en-US" sz="140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gn="l">
                        <a:buNone/>
                      </a:pPr>
                      <a:r>
                        <a:rPr lang="en-US" sz="1400"/>
                        <a:t>LR + CatBoost OOF Stack</a:t>
                      </a:r>
                      <a:endParaRPr lang="en-US" sz="140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gn="l">
                        <a:buNone/>
                      </a:pPr>
                      <a:r>
                        <a:rPr lang="en-US" sz="1400"/>
                        <a:t>Linear + nonlinear stacking</a:t>
                      </a:r>
                      <a:endParaRPr lang="en-US" sz="140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gn="l">
                        <a:buNone/>
                      </a:pPr>
                      <a:r>
                        <a:rPr lang="en-US" sz="1400"/>
                        <a:t>5.1737</a:t>
                      </a:r>
                      <a:endParaRPr lang="en-US" sz="140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gn="l">
                        <a:buNone/>
                      </a:pPr>
                      <a:r>
                        <a:rPr lang="en-US" sz="1400"/>
                        <a:t>0.5913</a:t>
                      </a:r>
                      <a:endParaRPr lang="en-US" sz="140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gn="l">
                        <a:buNone/>
                      </a:pPr>
                      <a:r>
                        <a:rPr lang="en-US" sz="1400" dirty="0"/>
                        <a:t> Rejected</a:t>
                      </a:r>
                      <a:endParaRPr lang="en-US" sz="1400" dirty="0">
                        <a:latin typeface="Times New Roman" panose="02020603050405020304" pitchFamily="18" charset="0"/>
                        <a:cs typeface="Times New Roman" panose="02020603050405020304" pitchFamily="18" charset="0"/>
                      </a:endParaRPr>
                    </a:p>
                  </a:txBody>
                  <a:tcPr marL="45326" marR="45326" marT="22663" marB="22663" anchor="ctr"/>
                </a:tc>
                <a:extLst>
                  <a:ext uri="{0D108BD9-81ED-4DB2-BD59-A6C34878D82A}">
                    <a16:rowId xmlns:a16="http://schemas.microsoft.com/office/drawing/2014/main" val="3165646741"/>
                  </a:ext>
                </a:extLst>
              </a:tr>
              <a:tr h="435186">
                <a:tc>
                  <a:txBody>
                    <a:bodyPr/>
                    <a:lstStyle/>
                    <a:p>
                      <a:pPr algn="l">
                        <a:buNone/>
                      </a:pPr>
                      <a:r>
                        <a:rPr lang="en-US" sz="1400"/>
                        <a:t>LR + GB</a:t>
                      </a:r>
                      <a:endParaRPr lang="en-US" sz="140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gn="l">
                        <a:buNone/>
                      </a:pPr>
                      <a:r>
                        <a:rPr lang="en-US" sz="1400"/>
                        <a:t>LR + Gradient Boosting OOF Stack</a:t>
                      </a:r>
                      <a:endParaRPr lang="en-US" sz="140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gn="l">
                        <a:buNone/>
                      </a:pPr>
                      <a:r>
                        <a:rPr lang="en-US" sz="1400"/>
                        <a:t>Linear + boosting stacking</a:t>
                      </a:r>
                      <a:endParaRPr lang="en-US" sz="140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gn="l">
                        <a:buNone/>
                      </a:pPr>
                      <a:r>
                        <a:rPr lang="en-US" sz="1400"/>
                        <a:t>5.2029</a:t>
                      </a:r>
                      <a:endParaRPr lang="en-US" sz="140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gn="l">
                        <a:buNone/>
                      </a:pPr>
                      <a:r>
                        <a:rPr lang="en-US" sz="1400"/>
                        <a:t>0.5867</a:t>
                      </a:r>
                      <a:endParaRPr lang="en-US" sz="140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gn="l">
                        <a:buNone/>
                      </a:pPr>
                      <a:r>
                        <a:rPr lang="en-US" sz="1400" dirty="0"/>
                        <a:t> Rejected</a:t>
                      </a:r>
                      <a:endParaRPr lang="en-US" sz="1400" dirty="0">
                        <a:latin typeface="Times New Roman" panose="02020603050405020304" pitchFamily="18" charset="0"/>
                        <a:cs typeface="Times New Roman" panose="02020603050405020304" pitchFamily="18" charset="0"/>
                      </a:endParaRPr>
                    </a:p>
                  </a:txBody>
                  <a:tcPr marL="45326" marR="45326" marT="22663" marB="22663" anchor="ctr"/>
                </a:tc>
                <a:extLst>
                  <a:ext uri="{0D108BD9-81ED-4DB2-BD59-A6C34878D82A}">
                    <a16:rowId xmlns:a16="http://schemas.microsoft.com/office/drawing/2014/main" val="3948425808"/>
                  </a:ext>
                </a:extLst>
              </a:tr>
              <a:tr h="304630">
                <a:tc>
                  <a:txBody>
                    <a:bodyPr/>
                    <a:lstStyle/>
                    <a:p>
                      <a:pPr algn="l">
                        <a:buNone/>
                      </a:pPr>
                      <a:r>
                        <a:rPr lang="en-US" sz="1400"/>
                        <a:t>LR + CB + RF</a:t>
                      </a:r>
                      <a:endParaRPr lang="en-US" sz="140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gn="l">
                        <a:buNone/>
                      </a:pPr>
                      <a:r>
                        <a:rPr lang="en-US" sz="1400"/>
                        <a:t>3-model OOF Stack</a:t>
                      </a:r>
                      <a:endParaRPr lang="en-US" sz="140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gn="l">
                        <a:buNone/>
                      </a:pPr>
                      <a:r>
                        <a:rPr lang="en-US" sz="1400"/>
                        <a:t>LR + CatBoost + RF</a:t>
                      </a:r>
                      <a:endParaRPr lang="en-US" sz="140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gn="l">
                        <a:buNone/>
                      </a:pPr>
                      <a:r>
                        <a:rPr lang="en-US" sz="1400"/>
                        <a:t>5.1778</a:t>
                      </a:r>
                      <a:endParaRPr lang="en-US" sz="140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gn="l">
                        <a:buNone/>
                      </a:pPr>
                      <a:r>
                        <a:rPr lang="en-US" sz="1400"/>
                        <a:t>0.5907</a:t>
                      </a:r>
                      <a:endParaRPr lang="en-US" sz="140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gn="l">
                        <a:buNone/>
                      </a:pPr>
                      <a:r>
                        <a:rPr lang="en-US" sz="1400" dirty="0"/>
                        <a:t> Rejected</a:t>
                      </a:r>
                      <a:endParaRPr lang="en-US" sz="1400" dirty="0">
                        <a:latin typeface="Times New Roman" panose="02020603050405020304" pitchFamily="18" charset="0"/>
                        <a:cs typeface="Times New Roman" panose="02020603050405020304" pitchFamily="18" charset="0"/>
                      </a:endParaRPr>
                    </a:p>
                  </a:txBody>
                  <a:tcPr marL="45326" marR="45326" marT="22663" marB="22663" anchor="ctr"/>
                </a:tc>
                <a:extLst>
                  <a:ext uri="{0D108BD9-81ED-4DB2-BD59-A6C34878D82A}">
                    <a16:rowId xmlns:a16="http://schemas.microsoft.com/office/drawing/2014/main" val="677924936"/>
                  </a:ext>
                </a:extLst>
              </a:tr>
              <a:tr h="410643">
                <a:tc>
                  <a:txBody>
                    <a:bodyPr/>
                    <a:lstStyle/>
                    <a:p>
                      <a:pPr algn="l">
                        <a:buNone/>
                      </a:pPr>
                      <a:r>
                        <a:rPr lang="en-US" sz="1400"/>
                        <a:t>75/25 Blend</a:t>
                      </a:r>
                      <a:endParaRPr lang="en-US" sz="140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gn="l">
                        <a:buNone/>
                      </a:pPr>
                      <a:r>
                        <a:rPr lang="en-US" sz="1400"/>
                        <a:t>LR–CatBoost weighted blend</a:t>
                      </a:r>
                      <a:endParaRPr lang="en-US" sz="140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gn="l">
                        <a:buNone/>
                      </a:pPr>
                      <a:r>
                        <a:rPr lang="en-US" sz="1400"/>
                        <a:t>Fixed weighted ensemble</a:t>
                      </a:r>
                      <a:endParaRPr lang="en-US" sz="140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gn="l">
                        <a:buNone/>
                      </a:pPr>
                      <a:r>
                        <a:rPr lang="en-US" sz="1400"/>
                        <a:t>—</a:t>
                      </a:r>
                      <a:endParaRPr lang="en-US" sz="140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gn="l">
                        <a:buNone/>
                      </a:pPr>
                      <a:r>
                        <a:rPr lang="en-US" sz="1400"/>
                        <a:t>0.5917</a:t>
                      </a:r>
                      <a:endParaRPr lang="en-US" sz="140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gn="l">
                        <a:buNone/>
                      </a:pPr>
                      <a:r>
                        <a:rPr lang="en-US" sz="1400" dirty="0"/>
                        <a:t> Rejected</a:t>
                      </a:r>
                      <a:endParaRPr lang="en-US" sz="1400" dirty="0">
                        <a:latin typeface="Times New Roman" panose="02020603050405020304" pitchFamily="18" charset="0"/>
                        <a:cs typeface="Times New Roman" panose="02020603050405020304" pitchFamily="18" charset="0"/>
                      </a:endParaRPr>
                    </a:p>
                  </a:txBody>
                  <a:tcPr marL="45326" marR="45326" marT="22663" marB="22663" anchor="ctr"/>
                </a:tc>
                <a:extLst>
                  <a:ext uri="{0D108BD9-81ED-4DB2-BD59-A6C34878D82A}">
                    <a16:rowId xmlns:a16="http://schemas.microsoft.com/office/drawing/2014/main" val="3187490209"/>
                  </a:ext>
                </a:extLst>
              </a:tr>
              <a:tr h="410643">
                <a:tc>
                  <a:txBody>
                    <a:bodyPr/>
                    <a:lstStyle/>
                    <a:p>
                      <a:pPr algn="l">
                        <a:buNone/>
                      </a:pPr>
                      <a:r>
                        <a:rPr lang="en-US" sz="1400"/>
                        <a:t>LCG-Stack</a:t>
                      </a:r>
                      <a:endParaRPr lang="en-US" sz="140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gn="l">
                        <a:buNone/>
                      </a:pPr>
                      <a:r>
                        <a:rPr lang="en-US" sz="1400" dirty="0"/>
                        <a:t>LR + CatBoost + GB + LR Meta</a:t>
                      </a:r>
                      <a:endParaRPr lang="en-US" sz="1400" dirty="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gn="l">
                        <a:buNone/>
                      </a:pPr>
                      <a:r>
                        <a:rPr lang="en-US" sz="1400"/>
                        <a:t>OOF stacking</a:t>
                      </a:r>
                      <a:endParaRPr lang="en-US" sz="140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gn="l">
                        <a:buNone/>
                      </a:pPr>
                      <a:r>
                        <a:rPr lang="en-US" sz="1400"/>
                        <a:t>5.1543</a:t>
                      </a:r>
                      <a:endParaRPr lang="en-US" sz="140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gn="l">
                        <a:buNone/>
                      </a:pPr>
                      <a:r>
                        <a:rPr lang="en-US" sz="1400"/>
                        <a:t>0.5944</a:t>
                      </a:r>
                      <a:endParaRPr lang="en-US" sz="140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gn="l">
                        <a:buNone/>
                      </a:pPr>
                      <a:r>
                        <a:rPr lang="en-US" sz="1400" dirty="0"/>
                        <a:t> FINAL</a:t>
                      </a:r>
                      <a:endParaRPr lang="en-US" sz="1400" dirty="0">
                        <a:latin typeface="Times New Roman" panose="02020603050405020304" pitchFamily="18" charset="0"/>
                        <a:cs typeface="Times New Roman" panose="02020603050405020304" pitchFamily="18" charset="0"/>
                      </a:endParaRPr>
                    </a:p>
                  </a:txBody>
                  <a:tcPr marL="45326" marR="45326" marT="22663" marB="22663" anchor="ctr"/>
                </a:tc>
                <a:extLst>
                  <a:ext uri="{0D108BD9-81ED-4DB2-BD59-A6C34878D82A}">
                    <a16:rowId xmlns:a16="http://schemas.microsoft.com/office/drawing/2014/main" val="153160662"/>
                  </a:ext>
                </a:extLst>
              </a:tr>
            </a:tbl>
          </a:graphicData>
        </a:graphic>
      </p:graphicFrame>
    </p:spTree>
    <p:extLst>
      <p:ext uri="{BB962C8B-B14F-4D97-AF65-F5344CB8AC3E}">
        <p14:creationId xmlns:p14="http://schemas.microsoft.com/office/powerpoint/2010/main" val="10239212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DA7C4-5C8D-6220-2316-6A1EF90C842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69900F7-F0D4-7297-CFD0-299C2D853C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658" y="75794"/>
            <a:ext cx="2065456" cy="1035251"/>
          </a:xfrm>
          <a:prstGeom prst="rect">
            <a:avLst/>
          </a:prstGeom>
          <a:noFill/>
          <a:ln>
            <a:noFill/>
          </a:ln>
        </p:spPr>
      </p:pic>
      <p:sp>
        <p:nvSpPr>
          <p:cNvPr id="2" name="TextBox 1">
            <a:extLst>
              <a:ext uri="{FF2B5EF4-FFF2-40B4-BE49-F238E27FC236}">
                <a16:creationId xmlns:a16="http://schemas.microsoft.com/office/drawing/2014/main" id="{C81D74DD-B409-8BC9-7B72-7DC0ECDE364D}"/>
              </a:ext>
            </a:extLst>
          </p:cNvPr>
          <p:cNvSpPr txBox="1"/>
          <p:nvPr/>
        </p:nvSpPr>
        <p:spPr>
          <a:xfrm>
            <a:off x="2979174" y="182573"/>
            <a:ext cx="6577781" cy="1384995"/>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Performance metrics and comparative results</a:t>
            </a:r>
          </a:p>
          <a:p>
            <a:pPr algn="ctr"/>
            <a:endParaRPr lang="en-US" sz="28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08867E9-162E-93AC-7A58-BB62E69ED5DD}"/>
                  </a:ext>
                </a:extLst>
              </p:cNvPr>
              <p:cNvSpPr txBox="1"/>
              <p:nvPr/>
            </p:nvSpPr>
            <p:spPr>
              <a:xfrm>
                <a:off x="639098" y="1111045"/>
                <a:ext cx="10117394" cy="5928611"/>
              </a:xfrm>
              <a:prstGeom prst="rect">
                <a:avLst/>
              </a:prstGeom>
              <a:noFill/>
            </p:spPr>
            <p:txBody>
              <a:bodyPr wrap="square" rtlCol="0">
                <a:spAutoFit/>
              </a:bodyPr>
              <a:lstStyle/>
              <a:p>
                <a:pPr>
                  <a:lnSpc>
                    <a:spcPct val="150000"/>
                  </a:lnSpc>
                </a:pPr>
                <a:r>
                  <a:rPr lang="en-US" sz="1400" b="1" dirty="0">
                    <a:latin typeface="Times New Roman" panose="02020603050405020304" pitchFamily="18" charset="0"/>
                    <a:cs typeface="Times New Roman" panose="02020603050405020304" pitchFamily="18" charset="0"/>
                  </a:rPr>
                  <a:t>1. Air Quality Dataset (Target: Pollution_Score)</a:t>
                </a:r>
              </a:p>
              <a:p>
                <a:pPr lvl="0">
                  <a:lnSpc>
                    <a:spcPct val="150000"/>
                  </a:lnSpc>
                </a:pPr>
                <a:r>
                  <a:rPr lang="en-US" sz="1400" b="1" dirty="0">
                    <a:latin typeface="Times New Roman" panose="02020603050405020304" pitchFamily="18" charset="0"/>
                    <a:cs typeface="Times New Roman" panose="02020603050405020304" pitchFamily="18" charset="0"/>
                  </a:rPr>
                  <a:t>Top Performers:</a:t>
                </a:r>
                <a:r>
                  <a:rPr lang="en-US" sz="1400" dirty="0">
                    <a:latin typeface="Times New Roman" panose="02020603050405020304" pitchFamily="18" charset="0"/>
                    <a:cs typeface="Times New Roman" panose="02020603050405020304" pitchFamily="18" charset="0"/>
                  </a:rPr>
                  <a:t> Linear Regression and the Proposed Hybrid (LCG-Stack) achieved near-perfect predictive accuracy (</a:t>
                </a:r>
                <a14:m>
                  <m:oMath xmlns:m="http://schemas.openxmlformats.org/officeDocument/2006/math">
                    <m:r>
                      <m:rPr>
                        <m:nor/>
                      </m:rPr>
                      <a:rPr lang="en-US" sz="1400" i="0">
                        <a:latin typeface="Times New Roman" panose="02020603050405020304" pitchFamily="18" charset="0"/>
                        <a:cs typeface="Times New Roman" panose="02020603050405020304" pitchFamily="18" charset="0"/>
                      </a:rPr>
                      <m:t>MAE</m:t>
                    </m:r>
                    <m:r>
                      <a:rPr lang="en-US" sz="1400">
                        <a:latin typeface="Cambria Math" panose="02040503050406030204" pitchFamily="18" charset="0"/>
                      </a:rPr>
                      <m:t>=0.00</m:t>
                    </m:r>
                  </m:oMath>
                </a14:m>
                <a:r>
                  <a:rPr lang="en-US" sz="1400" dirty="0">
                    <a:latin typeface="Times New Roman" panose="02020603050405020304" pitchFamily="18" charset="0"/>
                    <a:cs typeface="Times New Roman" panose="02020603050405020304" pitchFamily="18" charset="0"/>
                  </a:rPr>
                  <a:t>, </a:t>
                </a:r>
                <a14:m>
                  <m:oMath xmlns:m="http://schemas.openxmlformats.org/officeDocument/2006/math">
                    <m:r>
                      <m:rPr>
                        <m:nor/>
                      </m:rPr>
                      <a:rPr lang="en-US" sz="1400" i="0">
                        <a:latin typeface="Times New Roman" panose="02020603050405020304" pitchFamily="18" charset="0"/>
                        <a:cs typeface="Times New Roman" panose="02020603050405020304" pitchFamily="18" charset="0"/>
                      </a:rPr>
                      <m:t>RMSE</m:t>
                    </m:r>
                    <m:r>
                      <a:rPr lang="en-US" sz="1400">
                        <a:latin typeface="Cambria Math" panose="02040503050406030204" pitchFamily="18" charset="0"/>
                      </a:rPr>
                      <m:t>=0.00</m:t>
                    </m:r>
                  </m:oMath>
                </a14:m>
                <a:r>
                  <a:rPr lang="en-US" sz="1400" dirty="0">
                    <a:latin typeface="Times New Roman" panose="02020603050405020304" pitchFamily="18" charset="0"/>
                    <a:cs typeface="Times New Roman" panose="02020603050405020304" pitchFamily="18" charset="0"/>
                  </a:rPr>
                  <a:t>, </a:t>
                </a:r>
                <a14:m>
                  <m:oMath xmlns:m="http://schemas.openxmlformats.org/officeDocument/2006/math">
                    <m:sSup>
                      <m:sSupPr>
                        <m:ctrlPr>
                          <a:rPr lang="en-US" sz="1400" i="1">
                            <a:latin typeface="Cambria Math" panose="02040503050406030204" pitchFamily="18" charset="0"/>
                          </a:rPr>
                        </m:ctrlPr>
                      </m:sSupPr>
                      <m:e>
                        <m:r>
                          <a:rPr lang="en-US" sz="1400" i="1">
                            <a:latin typeface="Cambria Math" panose="02040503050406030204" pitchFamily="18" charset="0"/>
                          </a:rPr>
                          <m:t>𝑅</m:t>
                        </m:r>
                      </m:e>
                      <m:sup>
                        <m:r>
                          <a:rPr lang="en-US" sz="1400">
                            <a:latin typeface="Cambria Math" panose="02040503050406030204" pitchFamily="18" charset="0"/>
                          </a:rPr>
                          <m:t>2</m:t>
                        </m:r>
                      </m:sup>
                    </m:sSup>
                    <m:r>
                      <a:rPr lang="en-US" sz="1400">
                        <a:latin typeface="Cambria Math" panose="02040503050406030204" pitchFamily="18" charset="0"/>
                      </a:rPr>
                      <m:t>=1.0000</m:t>
                    </m:r>
                  </m:oMath>
                </a14:m>
                <a:r>
                  <a:rPr lang="en-US" sz="1400" dirty="0">
                    <a:latin typeface="Times New Roman" panose="02020603050405020304" pitchFamily="18" charset="0"/>
                    <a:cs typeface="Times New Roman" panose="02020603050405020304" pitchFamily="18" charset="0"/>
                  </a:rPr>
                  <a:t>).</a:t>
                </a:r>
              </a:p>
              <a:p>
                <a:pPr lvl="0">
                  <a:lnSpc>
                    <a:spcPct val="150000"/>
                  </a:lnSpc>
                </a:pPr>
                <a:r>
                  <a:rPr lang="en-US" sz="1400" b="1" dirty="0">
                    <a:latin typeface="Times New Roman" panose="02020603050405020304" pitchFamily="18" charset="0"/>
                    <a:cs typeface="Times New Roman" panose="02020603050405020304" pitchFamily="18" charset="0"/>
                  </a:rPr>
                  <a:t>Baseline Models:</a:t>
                </a:r>
                <a:r>
                  <a:rPr lang="en-US" sz="1400" dirty="0">
                    <a:latin typeface="Times New Roman" panose="02020603050405020304" pitchFamily="18" charset="0"/>
                    <a:cs typeface="Times New Roman" panose="02020603050405020304" pitchFamily="18" charset="0"/>
                  </a:rPr>
                  <a:t> Random Forest achieved an </a:t>
                </a:r>
                <a14:m>
                  <m:oMath xmlns:m="http://schemas.openxmlformats.org/officeDocument/2006/math">
                    <m:sSup>
                      <m:sSupPr>
                        <m:ctrlPr>
                          <a:rPr lang="en-US" sz="1400" i="1">
                            <a:latin typeface="Cambria Math" panose="02040503050406030204" pitchFamily="18" charset="0"/>
                          </a:rPr>
                        </m:ctrlPr>
                      </m:sSupPr>
                      <m:e>
                        <m:r>
                          <a:rPr lang="en-US" sz="1400" i="1">
                            <a:latin typeface="Cambria Math" panose="02040503050406030204" pitchFamily="18" charset="0"/>
                          </a:rPr>
                          <m:t>𝑅</m:t>
                        </m:r>
                      </m:e>
                      <m:sup>
                        <m:r>
                          <a:rPr lang="en-US" sz="1400">
                            <a:latin typeface="Cambria Math" panose="02040503050406030204" pitchFamily="18" charset="0"/>
                          </a:rPr>
                          <m:t>2</m:t>
                        </m:r>
                      </m:sup>
                    </m:sSup>
                  </m:oMath>
                </a14:m>
                <a:r>
                  <a:rPr lang="en-US" sz="1400" dirty="0">
                    <a:latin typeface="Times New Roman" panose="02020603050405020304" pitchFamily="18" charset="0"/>
                    <a:cs typeface="Times New Roman" panose="02020603050405020304" pitchFamily="18" charset="0"/>
                  </a:rPr>
                  <a:t>of </a:t>
                </a:r>
                <a14:m>
                  <m:oMath xmlns:m="http://schemas.openxmlformats.org/officeDocument/2006/math">
                    <m:r>
                      <a:rPr lang="en-US" sz="1400">
                        <a:latin typeface="Cambria Math" panose="02040503050406030204" pitchFamily="18" charset="0"/>
                      </a:rPr>
                      <m:t>0.9830</m:t>
                    </m:r>
                  </m:oMath>
                </a14:m>
                <a:r>
                  <a:rPr lang="en-US" sz="1400" dirty="0">
                    <a:latin typeface="Times New Roman" panose="02020603050405020304" pitchFamily="18" charset="0"/>
                    <a:cs typeface="Times New Roman" panose="02020603050405020304" pitchFamily="18" charset="0"/>
                  </a:rPr>
                  <a:t>(</a:t>
                </a:r>
                <a14:m>
                  <m:oMath xmlns:m="http://schemas.openxmlformats.org/officeDocument/2006/math">
                    <m:r>
                      <m:rPr>
                        <m:nor/>
                      </m:rPr>
                      <a:rPr lang="en-US" sz="1400" i="0">
                        <a:latin typeface="Times New Roman" panose="02020603050405020304" pitchFamily="18" charset="0"/>
                        <a:cs typeface="Times New Roman" panose="02020603050405020304" pitchFamily="18" charset="0"/>
                      </a:rPr>
                      <m:t>RMSE</m:t>
                    </m:r>
                    <m:r>
                      <a:rPr lang="en-US" sz="1400">
                        <a:latin typeface="Cambria Math" panose="02040503050406030204" pitchFamily="18" charset="0"/>
                      </a:rPr>
                      <m:t>=0.1114</m:t>
                    </m:r>
                  </m:oMath>
                </a14:m>
                <a:r>
                  <a:rPr lang="en-US" sz="1400" dirty="0">
                    <a:latin typeface="Times New Roman" panose="02020603050405020304" pitchFamily="18" charset="0"/>
                    <a:cs typeface="Times New Roman" panose="02020603050405020304" pitchFamily="18" charset="0"/>
                  </a:rPr>
                  <a:t>), while Decision Tree yielded an </a:t>
                </a:r>
                <a14:m>
                  <m:oMath xmlns:m="http://schemas.openxmlformats.org/officeDocument/2006/math">
                    <m:sSup>
                      <m:sSupPr>
                        <m:ctrlPr>
                          <a:rPr lang="en-US" sz="1400" i="1">
                            <a:latin typeface="Cambria Math" panose="02040503050406030204" pitchFamily="18" charset="0"/>
                          </a:rPr>
                        </m:ctrlPr>
                      </m:sSupPr>
                      <m:e>
                        <m:r>
                          <a:rPr lang="en-US" sz="1400" i="1">
                            <a:latin typeface="Cambria Math" panose="02040503050406030204" pitchFamily="18" charset="0"/>
                          </a:rPr>
                          <m:t>𝑅</m:t>
                        </m:r>
                      </m:e>
                      <m:sup>
                        <m:r>
                          <a:rPr lang="en-US" sz="1400">
                            <a:latin typeface="Cambria Math" panose="02040503050406030204" pitchFamily="18" charset="0"/>
                          </a:rPr>
                          <m:t>2</m:t>
                        </m:r>
                      </m:sup>
                    </m:sSup>
                  </m:oMath>
                </a14:m>
                <a:r>
                  <a:rPr lang="en-US" sz="1400" dirty="0">
                    <a:latin typeface="Times New Roman" panose="02020603050405020304" pitchFamily="18" charset="0"/>
                    <a:cs typeface="Times New Roman" panose="02020603050405020304" pitchFamily="18" charset="0"/>
                  </a:rPr>
                  <a:t>of </a:t>
                </a:r>
                <a14:m>
                  <m:oMath xmlns:m="http://schemas.openxmlformats.org/officeDocument/2006/math">
                    <m:r>
                      <a:rPr lang="en-US" sz="1400">
                        <a:latin typeface="Cambria Math" panose="02040503050406030204" pitchFamily="18" charset="0"/>
                      </a:rPr>
                      <m:t>0.9490</m:t>
                    </m:r>
                  </m:oMath>
                </a14:m>
                <a:r>
                  <a:rPr lang="en-US" sz="1400" dirty="0">
                    <a:latin typeface="Times New Roman" panose="02020603050405020304" pitchFamily="18" charset="0"/>
                    <a:cs typeface="Times New Roman" panose="02020603050405020304" pitchFamily="18" charset="0"/>
                  </a:rPr>
                  <a:t>(</a:t>
                </a:r>
                <a14:m>
                  <m:oMath xmlns:m="http://schemas.openxmlformats.org/officeDocument/2006/math">
                    <m:r>
                      <m:rPr>
                        <m:nor/>
                      </m:rPr>
                      <a:rPr lang="en-US" sz="1400" i="0">
                        <a:latin typeface="Times New Roman" panose="02020603050405020304" pitchFamily="18" charset="0"/>
                        <a:cs typeface="Times New Roman" panose="02020603050405020304" pitchFamily="18" charset="0"/>
                      </a:rPr>
                      <m:t>RMSE</m:t>
                    </m:r>
                    <m:r>
                      <a:rPr lang="en-US" sz="1400">
                        <a:latin typeface="Cambria Math" panose="02040503050406030204" pitchFamily="18" charset="0"/>
                      </a:rPr>
                      <m:t>=0.1931</m:t>
                    </m:r>
                  </m:oMath>
                </a14:m>
                <a:r>
                  <a:rPr lang="en-US" sz="1400" dirty="0">
                    <a:latin typeface="Times New Roman" panose="02020603050405020304" pitchFamily="18" charset="0"/>
                    <a:cs typeface="Times New Roman" panose="02020603050405020304" pitchFamily="18" charset="0"/>
                  </a:rPr>
                  <a:t>).</a:t>
                </a:r>
              </a:p>
              <a:p>
                <a:pPr lvl="0">
                  <a:lnSpc>
                    <a:spcPct val="150000"/>
                  </a:lnSpc>
                </a:pPr>
                <a:r>
                  <a:rPr lang="en-US" sz="1400" i="1" dirty="0">
                    <a:latin typeface="Times New Roman" panose="02020603050405020304" pitchFamily="18" charset="0"/>
                    <a:cs typeface="Times New Roman" panose="02020603050405020304" pitchFamily="18" charset="0"/>
                  </a:rPr>
                  <a:t>Note:</a:t>
                </a:r>
                <a:r>
                  <a:rPr lang="en-US" sz="1400" dirty="0">
                    <a:latin typeface="Times New Roman" panose="02020603050405020304" pitchFamily="18" charset="0"/>
                    <a:cs typeface="Times New Roman" panose="02020603050405020304" pitchFamily="18" charset="0"/>
                  </a:rPr>
                  <a:t> These near-perfect results on the 500-record dataset should be interpreted with caution due to sample size constraints.</a:t>
                </a:r>
              </a:p>
              <a:p>
                <a:pPr>
                  <a:lnSpc>
                    <a:spcPct val="150000"/>
                  </a:lnSpc>
                </a:pPr>
                <a:r>
                  <a:rPr lang="en-US" sz="1400" b="1" dirty="0">
                    <a:latin typeface="Times New Roman" panose="02020603050405020304" pitchFamily="18" charset="0"/>
                    <a:cs typeface="Times New Roman" panose="02020603050405020304" pitchFamily="18" charset="0"/>
                  </a:rPr>
                  <a:t>2. Weather Dataset (Target: Temperature °C)</a:t>
                </a:r>
              </a:p>
              <a:p>
                <a:pPr lvl="0">
                  <a:lnSpc>
                    <a:spcPct val="150000"/>
                  </a:lnSpc>
                </a:pPr>
                <a:r>
                  <a:rPr lang="en-US" sz="1400" b="1" dirty="0">
                    <a:latin typeface="Times New Roman" panose="02020603050405020304" pitchFamily="18" charset="0"/>
                    <a:cs typeface="Times New Roman" panose="02020603050405020304" pitchFamily="18" charset="0"/>
                  </a:rPr>
                  <a:t>Top Performer:</a:t>
                </a:r>
                <a:r>
                  <a:rPr lang="en-US" sz="1400" dirty="0">
                    <a:latin typeface="Times New Roman" panose="02020603050405020304" pitchFamily="18" charset="0"/>
                    <a:cs typeface="Times New Roman" panose="02020603050405020304" pitchFamily="18" charset="0"/>
                  </a:rPr>
                  <a:t> Random Forest achieved the best performance with an </a:t>
                </a:r>
                <a14:m>
                  <m:oMath xmlns:m="http://schemas.openxmlformats.org/officeDocument/2006/math">
                    <m:r>
                      <m:rPr>
                        <m:nor/>
                      </m:rPr>
                      <a:rPr lang="en-US" sz="1400" i="0">
                        <a:latin typeface="Times New Roman" panose="02020603050405020304" pitchFamily="18" charset="0"/>
                        <a:cs typeface="Times New Roman" panose="02020603050405020304" pitchFamily="18" charset="0"/>
                      </a:rPr>
                      <m:t>RMSE</m:t>
                    </m:r>
                    <m:r>
                      <a:rPr lang="en-US" sz="1400">
                        <a:latin typeface="Cambria Math" panose="02040503050406030204" pitchFamily="18" charset="0"/>
                      </a:rPr>
                      <m:t>=1.9453</m:t>
                    </m:r>
                  </m:oMath>
                </a14:m>
                <a:r>
                  <a:rPr lang="en-US" sz="1400" dirty="0">
                    <a:latin typeface="Times New Roman" panose="02020603050405020304" pitchFamily="18" charset="0"/>
                    <a:cs typeface="Times New Roman" panose="02020603050405020304" pitchFamily="18" charset="0"/>
                  </a:rPr>
                  <a:t>, </a:t>
                </a:r>
                <a14:m>
                  <m:oMath xmlns:m="http://schemas.openxmlformats.org/officeDocument/2006/math">
                    <m:sSup>
                      <m:sSupPr>
                        <m:ctrlPr>
                          <a:rPr lang="en-US" sz="1400" i="1">
                            <a:latin typeface="Cambria Math" panose="02040503050406030204" pitchFamily="18" charset="0"/>
                          </a:rPr>
                        </m:ctrlPr>
                      </m:sSupPr>
                      <m:e>
                        <m:r>
                          <a:rPr lang="en-US" sz="1400" i="1">
                            <a:latin typeface="Cambria Math" panose="02040503050406030204" pitchFamily="18" charset="0"/>
                          </a:rPr>
                          <m:t>𝑅</m:t>
                        </m:r>
                      </m:e>
                      <m:sup>
                        <m:r>
                          <a:rPr lang="en-US" sz="1400">
                            <a:latin typeface="Cambria Math" panose="02040503050406030204" pitchFamily="18" charset="0"/>
                          </a:rPr>
                          <m:t>2</m:t>
                        </m:r>
                      </m:sup>
                    </m:sSup>
                    <m:r>
                      <a:rPr lang="en-US" sz="1400">
                        <a:latin typeface="Cambria Math" panose="02040503050406030204" pitchFamily="18" charset="0"/>
                      </a:rPr>
                      <m:t>=0.9587</m:t>
                    </m:r>
                  </m:oMath>
                </a14:m>
                <a:r>
                  <a:rPr lang="en-US" sz="1400" dirty="0">
                    <a:latin typeface="Times New Roman" panose="02020603050405020304" pitchFamily="18" charset="0"/>
                    <a:cs typeface="Times New Roman" panose="02020603050405020304" pitchFamily="18" charset="0"/>
                  </a:rPr>
                  <a:t>, and lowest NRMSE of </a:t>
                </a:r>
                <a14:m>
                  <m:oMath xmlns:m="http://schemas.openxmlformats.org/officeDocument/2006/math">
                    <m:r>
                      <a:rPr lang="en-US" sz="1400">
                        <a:latin typeface="Cambria Math" panose="02040503050406030204" pitchFamily="18" charset="0"/>
                      </a:rPr>
                      <m:t>3.3034%</m:t>
                    </m:r>
                  </m:oMath>
                </a14:m>
                <a:r>
                  <a:rPr lang="en-US" sz="1400" dirty="0">
                    <a:latin typeface="Times New Roman" panose="02020603050405020304" pitchFamily="18" charset="0"/>
                    <a:cs typeface="Times New Roman" panose="02020603050405020304" pitchFamily="18" charset="0"/>
                  </a:rPr>
                  <a:t>.</a:t>
                </a:r>
              </a:p>
              <a:p>
                <a:pPr lvl="0">
                  <a:lnSpc>
                    <a:spcPct val="150000"/>
                  </a:lnSpc>
                </a:pPr>
                <a:r>
                  <a:rPr lang="en-US" sz="1400" b="1" dirty="0">
                    <a:latin typeface="Times New Roman" panose="02020603050405020304" pitchFamily="18" charset="0"/>
                    <a:cs typeface="Times New Roman" panose="02020603050405020304" pitchFamily="18" charset="0"/>
                  </a:rPr>
                  <a:t>Proposed Hybrid (LinCatGB-Stack):</a:t>
                </a:r>
                <a:r>
                  <a:rPr lang="en-US" sz="1400" dirty="0">
                    <a:latin typeface="Times New Roman" panose="02020603050405020304" pitchFamily="18" charset="0"/>
                    <a:cs typeface="Times New Roman" panose="02020603050405020304" pitchFamily="18" charset="0"/>
                  </a:rPr>
                  <a:t> Outperformed Decision Tree and Linear Regression with an </a:t>
                </a:r>
                <a14:m>
                  <m:oMath xmlns:m="http://schemas.openxmlformats.org/officeDocument/2006/math">
                    <m:r>
                      <m:rPr>
                        <m:nor/>
                      </m:rPr>
                      <a:rPr lang="en-US" sz="1400" i="0">
                        <a:latin typeface="Times New Roman" panose="02020603050405020304" pitchFamily="18" charset="0"/>
                        <a:cs typeface="Times New Roman" panose="02020603050405020304" pitchFamily="18" charset="0"/>
                      </a:rPr>
                      <m:t>RMSE</m:t>
                    </m:r>
                    <m:r>
                      <a:rPr lang="en-US" sz="1400">
                        <a:latin typeface="Cambria Math" panose="02040503050406030204" pitchFamily="18" charset="0"/>
                      </a:rPr>
                      <m:t>=2.4234</m:t>
                    </m:r>
                  </m:oMath>
                </a14:m>
                <a:r>
                  <a:rPr lang="en-US" sz="1400" dirty="0">
                    <a:latin typeface="Times New Roman" panose="02020603050405020304" pitchFamily="18" charset="0"/>
                    <a:cs typeface="Times New Roman" panose="02020603050405020304" pitchFamily="18" charset="0"/>
                  </a:rPr>
                  <a:t>, </a:t>
                </a:r>
                <a14:m>
                  <m:oMath xmlns:m="http://schemas.openxmlformats.org/officeDocument/2006/math">
                    <m:sSup>
                      <m:sSupPr>
                        <m:ctrlPr>
                          <a:rPr lang="en-US" sz="1400" i="1">
                            <a:latin typeface="Cambria Math" panose="02040503050406030204" pitchFamily="18" charset="0"/>
                          </a:rPr>
                        </m:ctrlPr>
                      </m:sSupPr>
                      <m:e>
                        <m:r>
                          <a:rPr lang="en-US" sz="1400" i="1">
                            <a:latin typeface="Cambria Math" panose="02040503050406030204" pitchFamily="18" charset="0"/>
                          </a:rPr>
                          <m:t>𝑅</m:t>
                        </m:r>
                      </m:e>
                      <m:sup>
                        <m:r>
                          <a:rPr lang="en-US" sz="1400">
                            <a:latin typeface="Cambria Math" panose="02040503050406030204" pitchFamily="18" charset="0"/>
                          </a:rPr>
                          <m:t>2</m:t>
                        </m:r>
                      </m:sup>
                    </m:sSup>
                    <m:r>
                      <a:rPr lang="en-US" sz="1400">
                        <a:latin typeface="Cambria Math" panose="02040503050406030204" pitchFamily="18" charset="0"/>
                      </a:rPr>
                      <m:t>=0.9360</m:t>
                    </m:r>
                  </m:oMath>
                </a14:m>
                <a:r>
                  <a:rPr lang="en-US" sz="1400" dirty="0">
                    <a:latin typeface="Times New Roman" panose="02020603050405020304" pitchFamily="18" charset="0"/>
                    <a:cs typeface="Times New Roman" panose="02020603050405020304" pitchFamily="18" charset="0"/>
                  </a:rPr>
                  <a:t>, and NRMSE of </a:t>
                </a:r>
                <a14:m>
                  <m:oMath xmlns:m="http://schemas.openxmlformats.org/officeDocument/2006/math">
                    <m:r>
                      <a:rPr lang="en-US" sz="1400">
                        <a:latin typeface="Cambria Math" panose="02040503050406030204" pitchFamily="18" charset="0"/>
                      </a:rPr>
                      <m:t>4.1152%</m:t>
                    </m:r>
                  </m:oMath>
                </a14:m>
                <a:r>
                  <a:rPr lang="en-US" sz="1400" dirty="0">
                    <a:latin typeface="Times New Roman" panose="02020603050405020304" pitchFamily="18" charset="0"/>
                    <a:cs typeface="Times New Roman" panose="02020603050405020304" pitchFamily="18" charset="0"/>
                  </a:rPr>
                  <a:t>.</a:t>
                </a:r>
              </a:p>
              <a:p>
                <a:pPr lvl="0">
                  <a:lnSpc>
                    <a:spcPct val="150000"/>
                  </a:lnSpc>
                </a:pPr>
                <a:r>
                  <a:rPr lang="en-US" sz="1400" b="1" dirty="0">
                    <a:latin typeface="Times New Roman" panose="02020603050405020304" pitchFamily="18" charset="0"/>
                    <a:cs typeface="Times New Roman" panose="02020603050405020304" pitchFamily="18" charset="0"/>
                  </a:rPr>
                  <a:t>Baselines:</a:t>
                </a:r>
                <a:r>
                  <a:rPr lang="en-US" sz="1400" dirty="0">
                    <a:latin typeface="Times New Roman" panose="02020603050405020304" pitchFamily="18" charset="0"/>
                    <a:cs typeface="Times New Roman" panose="02020603050405020304" pitchFamily="18" charset="0"/>
                  </a:rPr>
                  <a:t> Decision Tree achieved </a:t>
                </a:r>
                <a14:m>
                  <m:oMath xmlns:m="http://schemas.openxmlformats.org/officeDocument/2006/math">
                    <m:sSup>
                      <m:sSupPr>
                        <m:ctrlPr>
                          <a:rPr lang="en-US" sz="1400" i="1">
                            <a:latin typeface="Cambria Math" panose="02040503050406030204" pitchFamily="18" charset="0"/>
                          </a:rPr>
                        </m:ctrlPr>
                      </m:sSupPr>
                      <m:e>
                        <m:r>
                          <a:rPr lang="en-US" sz="1400" i="1">
                            <a:latin typeface="Cambria Math" panose="02040503050406030204" pitchFamily="18" charset="0"/>
                          </a:rPr>
                          <m:t>𝑅</m:t>
                        </m:r>
                      </m:e>
                      <m:sup>
                        <m:r>
                          <a:rPr lang="en-US" sz="1400">
                            <a:latin typeface="Cambria Math" panose="02040503050406030204" pitchFamily="18" charset="0"/>
                          </a:rPr>
                          <m:t>2</m:t>
                        </m:r>
                      </m:sup>
                    </m:sSup>
                    <m:r>
                      <a:rPr lang="en-US" sz="1400">
                        <a:latin typeface="Cambria Math" panose="02040503050406030204" pitchFamily="18" charset="0"/>
                      </a:rPr>
                      <m:t>=0.9176</m:t>
                    </m:r>
                  </m:oMath>
                </a14:m>
                <a:r>
                  <a:rPr lang="en-US" sz="1400" dirty="0">
                    <a:latin typeface="Times New Roman" panose="02020603050405020304" pitchFamily="18" charset="0"/>
                    <a:cs typeface="Times New Roman" panose="02020603050405020304" pitchFamily="18" charset="0"/>
                  </a:rPr>
                  <a:t>(</a:t>
                </a:r>
                <a14:m>
                  <m:oMath xmlns:m="http://schemas.openxmlformats.org/officeDocument/2006/math">
                    <m:r>
                      <m:rPr>
                        <m:nor/>
                      </m:rPr>
                      <a:rPr lang="en-US" sz="1400" i="0">
                        <a:latin typeface="Times New Roman" panose="02020603050405020304" pitchFamily="18" charset="0"/>
                        <a:cs typeface="Times New Roman" panose="02020603050405020304" pitchFamily="18" charset="0"/>
                      </a:rPr>
                      <m:t>RMSE</m:t>
                    </m:r>
                    <m:r>
                      <a:rPr lang="en-US" sz="1400">
                        <a:latin typeface="Cambria Math" panose="02040503050406030204" pitchFamily="18" charset="0"/>
                      </a:rPr>
                      <m:t>=2.7494</m:t>
                    </m:r>
                  </m:oMath>
                </a14:m>
                <a:r>
                  <a:rPr lang="en-US" sz="1400" dirty="0">
                    <a:latin typeface="Times New Roman" panose="02020603050405020304" pitchFamily="18" charset="0"/>
                    <a:cs typeface="Times New Roman" panose="02020603050405020304" pitchFamily="18" charset="0"/>
                  </a:rPr>
                  <a:t>), while Linear Regression recorded </a:t>
                </a:r>
                <a14:m>
                  <m:oMath xmlns:m="http://schemas.openxmlformats.org/officeDocument/2006/math">
                    <m:sSup>
                      <m:sSupPr>
                        <m:ctrlPr>
                          <a:rPr lang="en-US" sz="1400" i="1">
                            <a:latin typeface="Cambria Math" panose="02040503050406030204" pitchFamily="18" charset="0"/>
                          </a:rPr>
                        </m:ctrlPr>
                      </m:sSupPr>
                      <m:e>
                        <m:r>
                          <a:rPr lang="en-US" sz="1400" i="1">
                            <a:latin typeface="Cambria Math" panose="02040503050406030204" pitchFamily="18" charset="0"/>
                          </a:rPr>
                          <m:t>𝑅</m:t>
                        </m:r>
                      </m:e>
                      <m:sup>
                        <m:r>
                          <a:rPr lang="en-US" sz="1400">
                            <a:latin typeface="Cambria Math" panose="02040503050406030204" pitchFamily="18" charset="0"/>
                          </a:rPr>
                          <m:t>2</m:t>
                        </m:r>
                      </m:sup>
                    </m:sSup>
                    <m:r>
                      <a:rPr lang="en-US" sz="1400">
                        <a:latin typeface="Cambria Math" panose="02040503050406030204" pitchFamily="18" charset="0"/>
                      </a:rPr>
                      <m:t>=0.8123</m:t>
                    </m:r>
                  </m:oMath>
                </a14:m>
                <a:r>
                  <a:rPr lang="en-US" sz="1400" dirty="0">
                    <a:latin typeface="Times New Roman" panose="02020603050405020304" pitchFamily="18" charset="0"/>
                    <a:cs typeface="Times New Roman" panose="02020603050405020304" pitchFamily="18" charset="0"/>
                  </a:rPr>
                  <a:t>(</a:t>
                </a:r>
                <a14:m>
                  <m:oMath xmlns:m="http://schemas.openxmlformats.org/officeDocument/2006/math">
                    <m:r>
                      <m:rPr>
                        <m:nor/>
                      </m:rPr>
                      <a:rPr lang="en-US" sz="1400" i="0">
                        <a:latin typeface="Times New Roman" panose="02020603050405020304" pitchFamily="18" charset="0"/>
                        <a:cs typeface="Times New Roman" panose="02020603050405020304" pitchFamily="18" charset="0"/>
                      </a:rPr>
                      <m:t>RMSE</m:t>
                    </m:r>
                    <m:r>
                      <a:rPr lang="en-US" sz="1400">
                        <a:latin typeface="Cambria Math" panose="02040503050406030204" pitchFamily="18" charset="0"/>
                      </a:rPr>
                      <m:t>=4.1484</m:t>
                    </m:r>
                  </m:oMath>
                </a14:m>
                <a:r>
                  <a:rPr lang="en-US" sz="1400" dirty="0">
                    <a:latin typeface="Times New Roman" panose="02020603050405020304" pitchFamily="18" charset="0"/>
                    <a:cs typeface="Times New Roman" panose="02020603050405020304" pitchFamily="18" charset="0"/>
                  </a:rPr>
                  <a:t>).</a:t>
                </a:r>
              </a:p>
              <a:p>
                <a:pPr>
                  <a:lnSpc>
                    <a:spcPct val="150000"/>
                  </a:lnSpc>
                </a:pPr>
                <a:r>
                  <a:rPr lang="en-US" sz="1400" b="1" dirty="0">
                    <a:latin typeface="Times New Roman" panose="02020603050405020304" pitchFamily="18" charset="0"/>
                    <a:cs typeface="Times New Roman" panose="02020603050405020304" pitchFamily="18" charset="0"/>
                  </a:rPr>
                  <a:t>3. Energy Consumption Dataset (Target: Energy Consumption)</a:t>
                </a:r>
              </a:p>
              <a:p>
                <a:pPr lvl="0">
                  <a:lnSpc>
                    <a:spcPct val="150000"/>
                  </a:lnSpc>
                </a:pPr>
                <a:r>
                  <a:rPr lang="en-US" sz="1400" b="1" dirty="0">
                    <a:latin typeface="Times New Roman" panose="02020603050405020304" pitchFamily="18" charset="0"/>
                    <a:cs typeface="Times New Roman" panose="02020603050405020304" pitchFamily="18" charset="0"/>
                  </a:rPr>
                  <a:t>Top Performers:</a:t>
                </a:r>
                <a:r>
                  <a:rPr lang="en-US" sz="1400" dirty="0">
                    <a:latin typeface="Times New Roman" panose="02020603050405020304" pitchFamily="18" charset="0"/>
                    <a:cs typeface="Times New Roman" panose="02020603050405020304" pitchFamily="18" charset="0"/>
                  </a:rPr>
                  <a:t> Linear Regression and the Proposed Hybrid (LinCatGB-Stack) achieved the strongest metrics for this domain, with Linear Regression recording </a:t>
                </a:r>
                <a14:m>
                  <m:oMath xmlns:m="http://schemas.openxmlformats.org/officeDocument/2006/math">
                    <m:r>
                      <m:rPr>
                        <m:nor/>
                      </m:rPr>
                      <a:rPr lang="en-US" sz="1400" i="0">
                        <a:latin typeface="Times New Roman" panose="02020603050405020304" pitchFamily="18" charset="0"/>
                        <a:cs typeface="Times New Roman" panose="02020603050405020304" pitchFamily="18" charset="0"/>
                      </a:rPr>
                      <m:t>RMSE</m:t>
                    </m:r>
                    <m:r>
                      <a:rPr lang="en-US" sz="1400">
                        <a:latin typeface="Cambria Math" panose="02040503050406030204" pitchFamily="18" charset="0"/>
                      </a:rPr>
                      <m:t>=5.1640</m:t>
                    </m:r>
                  </m:oMath>
                </a14:m>
                <a:r>
                  <a:rPr lang="en-US" sz="1400" dirty="0">
                    <a:latin typeface="Times New Roman" panose="02020603050405020304" pitchFamily="18" charset="0"/>
                    <a:cs typeface="Times New Roman" panose="02020603050405020304" pitchFamily="18" charset="0"/>
                  </a:rPr>
                  <a:t>, </a:t>
                </a:r>
                <a14:m>
                  <m:oMath xmlns:m="http://schemas.openxmlformats.org/officeDocument/2006/math">
                    <m:sSup>
                      <m:sSupPr>
                        <m:ctrlPr>
                          <a:rPr lang="en-US" sz="1400" i="1">
                            <a:latin typeface="Cambria Math" panose="02040503050406030204" pitchFamily="18" charset="0"/>
                          </a:rPr>
                        </m:ctrlPr>
                      </m:sSupPr>
                      <m:e>
                        <m:r>
                          <a:rPr lang="en-US" sz="1400" i="1">
                            <a:latin typeface="Cambria Math" panose="02040503050406030204" pitchFamily="18" charset="0"/>
                          </a:rPr>
                          <m:t>𝑅</m:t>
                        </m:r>
                      </m:e>
                      <m:sup>
                        <m:r>
                          <a:rPr lang="en-US" sz="1400">
                            <a:latin typeface="Cambria Math" panose="02040503050406030204" pitchFamily="18" charset="0"/>
                          </a:rPr>
                          <m:t>2</m:t>
                        </m:r>
                      </m:sup>
                    </m:sSup>
                    <m:r>
                      <a:rPr lang="en-US" sz="1400">
                        <a:latin typeface="Cambria Math" panose="02040503050406030204" pitchFamily="18" charset="0"/>
                      </a:rPr>
                      <m:t>=0.5929</m:t>
                    </m:r>
                  </m:oMath>
                </a14:m>
                <a:r>
                  <a:rPr lang="en-US" sz="1400" dirty="0">
                    <a:latin typeface="Times New Roman" panose="02020603050405020304" pitchFamily="18" charset="0"/>
                    <a:cs typeface="Times New Roman" panose="02020603050405020304" pitchFamily="18" charset="0"/>
                  </a:rPr>
                  <a:t>and the Proposed Hybrid recording </a:t>
                </a:r>
                <a14:m>
                  <m:oMath xmlns:m="http://schemas.openxmlformats.org/officeDocument/2006/math">
                    <m:r>
                      <m:rPr>
                        <m:nor/>
                      </m:rPr>
                      <a:rPr lang="en-US" sz="1400" i="0">
                        <a:latin typeface="Times New Roman" panose="02020603050405020304" pitchFamily="18" charset="0"/>
                        <a:cs typeface="Times New Roman" panose="02020603050405020304" pitchFamily="18" charset="0"/>
                      </a:rPr>
                      <m:t>RMSE</m:t>
                    </m:r>
                    <m:r>
                      <a:rPr lang="en-US" sz="1400">
                        <a:latin typeface="Cambria Math" panose="02040503050406030204" pitchFamily="18" charset="0"/>
                      </a:rPr>
                      <m:t>=5.1962</m:t>
                    </m:r>
                  </m:oMath>
                </a14:m>
                <a:r>
                  <a:rPr lang="en-US" sz="1400" dirty="0">
                    <a:latin typeface="Times New Roman" panose="02020603050405020304" pitchFamily="18" charset="0"/>
                    <a:cs typeface="Times New Roman" panose="02020603050405020304" pitchFamily="18" charset="0"/>
                  </a:rPr>
                  <a:t>, </a:t>
                </a:r>
                <a14:m>
                  <m:oMath xmlns:m="http://schemas.openxmlformats.org/officeDocument/2006/math">
                    <m:sSup>
                      <m:sSupPr>
                        <m:ctrlPr>
                          <a:rPr lang="en-US" sz="1400" i="1">
                            <a:latin typeface="Cambria Math" panose="02040503050406030204" pitchFamily="18" charset="0"/>
                          </a:rPr>
                        </m:ctrlPr>
                      </m:sSupPr>
                      <m:e>
                        <m:r>
                          <a:rPr lang="en-US" sz="1400" i="1">
                            <a:latin typeface="Cambria Math" panose="02040503050406030204" pitchFamily="18" charset="0"/>
                          </a:rPr>
                          <m:t>𝑅</m:t>
                        </m:r>
                      </m:e>
                      <m:sup>
                        <m:r>
                          <a:rPr lang="en-US" sz="1400">
                            <a:latin typeface="Cambria Math" panose="02040503050406030204" pitchFamily="18" charset="0"/>
                          </a:rPr>
                          <m:t>2</m:t>
                        </m:r>
                      </m:sup>
                    </m:sSup>
                    <m:r>
                      <a:rPr lang="en-US" sz="1400">
                        <a:latin typeface="Cambria Math" panose="02040503050406030204" pitchFamily="18" charset="0"/>
                      </a:rPr>
                      <m:t>=0.5878</m:t>
                    </m:r>
                  </m:oMath>
                </a14:m>
                <a:r>
                  <a:rPr lang="en-US" sz="1400" dirty="0">
                    <a:latin typeface="Times New Roman" panose="02020603050405020304" pitchFamily="18" charset="0"/>
                    <a:cs typeface="Times New Roman" panose="02020603050405020304" pitchFamily="18" charset="0"/>
                  </a:rPr>
                  <a:t>.</a:t>
                </a:r>
              </a:p>
              <a:p>
                <a:pPr lvl="0">
                  <a:lnSpc>
                    <a:spcPct val="150000"/>
                  </a:lnSpc>
                </a:pPr>
                <a:r>
                  <a:rPr lang="en-US" sz="1400" b="1" dirty="0">
                    <a:latin typeface="Times New Roman" panose="02020603050405020304" pitchFamily="18" charset="0"/>
                    <a:cs typeface="Times New Roman" panose="02020603050405020304" pitchFamily="18" charset="0"/>
                  </a:rPr>
                  <a:t>Baselines:</a:t>
                </a:r>
                <a:r>
                  <a:rPr lang="en-US" sz="1400" dirty="0">
                    <a:latin typeface="Times New Roman" panose="02020603050405020304" pitchFamily="18" charset="0"/>
                    <a:cs typeface="Times New Roman" panose="02020603050405020304" pitchFamily="18" charset="0"/>
                  </a:rPr>
                  <a:t> Random Forest achieved </a:t>
                </a:r>
                <a14:m>
                  <m:oMath xmlns:m="http://schemas.openxmlformats.org/officeDocument/2006/math">
                    <m:r>
                      <m:rPr>
                        <m:nor/>
                      </m:rPr>
                      <a:rPr lang="en-US" sz="1400" i="0">
                        <a:latin typeface="Times New Roman" panose="02020603050405020304" pitchFamily="18" charset="0"/>
                        <a:cs typeface="Times New Roman" panose="02020603050405020304" pitchFamily="18" charset="0"/>
                      </a:rPr>
                      <m:t>RMSE</m:t>
                    </m:r>
                    <m:r>
                      <a:rPr lang="en-US" sz="1400">
                        <a:latin typeface="Cambria Math" panose="02040503050406030204" pitchFamily="18" charset="0"/>
                      </a:rPr>
                      <m:t>=5.4161</m:t>
                    </m:r>
                  </m:oMath>
                </a14:m>
                <a:r>
                  <a:rPr lang="en-US" sz="1400" dirty="0">
                    <a:latin typeface="Times New Roman" panose="02020603050405020304" pitchFamily="18" charset="0"/>
                    <a:cs typeface="Times New Roman" panose="02020603050405020304" pitchFamily="18" charset="0"/>
                  </a:rPr>
                  <a:t>(</a:t>
                </a:r>
                <a14:m>
                  <m:oMath xmlns:m="http://schemas.openxmlformats.org/officeDocument/2006/math">
                    <m:sSup>
                      <m:sSupPr>
                        <m:ctrlPr>
                          <a:rPr lang="en-US" sz="1400" i="1">
                            <a:latin typeface="Cambria Math" panose="02040503050406030204" pitchFamily="18" charset="0"/>
                          </a:rPr>
                        </m:ctrlPr>
                      </m:sSupPr>
                      <m:e>
                        <m:r>
                          <a:rPr lang="en-US" sz="1400" i="1">
                            <a:latin typeface="Cambria Math" panose="02040503050406030204" pitchFamily="18" charset="0"/>
                          </a:rPr>
                          <m:t>𝑅</m:t>
                        </m:r>
                      </m:e>
                      <m:sup>
                        <m:r>
                          <a:rPr lang="en-US" sz="1400">
                            <a:latin typeface="Cambria Math" panose="02040503050406030204" pitchFamily="18" charset="0"/>
                          </a:rPr>
                          <m:t>2</m:t>
                        </m:r>
                      </m:sup>
                    </m:sSup>
                    <m:r>
                      <a:rPr lang="en-US" sz="1400">
                        <a:latin typeface="Cambria Math" panose="02040503050406030204" pitchFamily="18" charset="0"/>
                      </a:rPr>
                      <m:t>=0.5522</m:t>
                    </m:r>
                  </m:oMath>
                </a14:m>
                <a:r>
                  <a:rPr lang="en-US" sz="1400" dirty="0">
                    <a:latin typeface="Times New Roman" panose="02020603050405020304" pitchFamily="18" charset="0"/>
                    <a:cs typeface="Times New Roman" panose="02020603050405020304" pitchFamily="18" charset="0"/>
                  </a:rPr>
                  <a:t>), whereas Decision Tree showed weaker generalization with </a:t>
                </a:r>
                <a14:m>
                  <m:oMath xmlns:m="http://schemas.openxmlformats.org/officeDocument/2006/math">
                    <m:r>
                      <m:rPr>
                        <m:nor/>
                      </m:rPr>
                      <a:rPr lang="en-US" sz="1400" i="0">
                        <a:latin typeface="Times New Roman" panose="02020603050405020304" pitchFamily="18" charset="0"/>
                        <a:cs typeface="Times New Roman" panose="02020603050405020304" pitchFamily="18" charset="0"/>
                      </a:rPr>
                      <m:t>RMSE</m:t>
                    </m:r>
                    <m:r>
                      <a:rPr lang="en-US" sz="1400">
                        <a:latin typeface="Cambria Math" panose="02040503050406030204" pitchFamily="18" charset="0"/>
                      </a:rPr>
                      <m:t>=6.9766</m:t>
                    </m:r>
                  </m:oMath>
                </a14:m>
                <a:r>
                  <a:rPr lang="en-US" sz="1400" dirty="0">
                    <a:latin typeface="Times New Roman" panose="02020603050405020304" pitchFamily="18" charset="0"/>
                    <a:cs typeface="Times New Roman" panose="02020603050405020304" pitchFamily="18" charset="0"/>
                  </a:rPr>
                  <a:t>and </a:t>
                </a:r>
                <a14:m>
                  <m:oMath xmlns:m="http://schemas.openxmlformats.org/officeDocument/2006/math">
                    <m:sSup>
                      <m:sSupPr>
                        <m:ctrlPr>
                          <a:rPr lang="en-US" sz="1400" i="1">
                            <a:latin typeface="Cambria Math" panose="02040503050406030204" pitchFamily="18" charset="0"/>
                          </a:rPr>
                        </m:ctrlPr>
                      </m:sSupPr>
                      <m:e>
                        <m:r>
                          <a:rPr lang="en-US" sz="1400" i="1">
                            <a:latin typeface="Cambria Math" panose="02040503050406030204" pitchFamily="18" charset="0"/>
                          </a:rPr>
                          <m:t>𝑅</m:t>
                        </m:r>
                      </m:e>
                      <m:sup>
                        <m:r>
                          <a:rPr lang="en-US" sz="1400">
                            <a:latin typeface="Cambria Math" panose="02040503050406030204" pitchFamily="18" charset="0"/>
                          </a:rPr>
                          <m:t>2</m:t>
                        </m:r>
                      </m:sup>
                    </m:sSup>
                    <m:r>
                      <a:rPr lang="en-US" sz="1400">
                        <a:latin typeface="Cambria Math" panose="02040503050406030204" pitchFamily="18" charset="0"/>
                      </a:rPr>
                      <m:t>=0.2569</m:t>
                    </m:r>
                  </m:oMath>
                </a14:m>
                <a:r>
                  <a:rPr lang="en-US" sz="1400" dirty="0">
                    <a:latin typeface="Times New Roman" panose="02020603050405020304" pitchFamily="18" charset="0"/>
                    <a:cs typeface="Times New Roman" panose="02020603050405020304" pitchFamily="18" charset="0"/>
                  </a:rPr>
                  <a:t>.</a:t>
                </a:r>
              </a:p>
              <a:p>
                <a:pPr>
                  <a:lnSpc>
                    <a:spcPct val="150000"/>
                  </a:lnSpc>
                </a:pPr>
                <a:endParaRPr lang="en-US" sz="1400" dirty="0">
                  <a:latin typeface="Times New Roman" panose="02020603050405020304" pitchFamily="18" charset="0"/>
                  <a:cs typeface="Times New Roman" panose="02020603050405020304" pitchFamily="18" charset="0"/>
                </a:endParaRPr>
              </a:p>
            </p:txBody>
          </p:sp>
        </mc:Choice>
        <mc:Fallback xmlns="">
          <p:sp>
            <p:nvSpPr>
              <p:cNvPr id="3" name="TextBox 2">
                <a:extLst>
                  <a:ext uri="{FF2B5EF4-FFF2-40B4-BE49-F238E27FC236}">
                    <a16:creationId xmlns:a16="http://schemas.microsoft.com/office/drawing/2014/main" id="{E08867E9-162E-93AC-7A58-BB62E69ED5DD}"/>
                  </a:ext>
                </a:extLst>
              </p:cNvPr>
              <p:cNvSpPr txBox="1">
                <a:spLocks noRot="1" noChangeAspect="1" noMove="1" noResize="1" noEditPoints="1" noAdjustHandles="1" noChangeArrowheads="1" noChangeShapeType="1" noTextEdit="1"/>
              </p:cNvSpPr>
              <p:nvPr/>
            </p:nvSpPr>
            <p:spPr>
              <a:xfrm>
                <a:off x="639098" y="1111045"/>
                <a:ext cx="10117394" cy="5928611"/>
              </a:xfrm>
              <a:prstGeom prst="rect">
                <a:avLst/>
              </a:prstGeom>
              <a:blipFill>
                <a:blip r:embed="rId3"/>
                <a:stretch>
                  <a:fillRect l="-181"/>
                </a:stretch>
              </a:blipFill>
            </p:spPr>
            <p:txBody>
              <a:bodyPr/>
              <a:lstStyle/>
              <a:p>
                <a:r>
                  <a:rPr lang="en-US">
                    <a:noFill/>
                  </a:rPr>
                  <a:t> </a:t>
                </a:r>
              </a:p>
            </p:txBody>
          </p:sp>
        </mc:Fallback>
      </mc:AlternateContent>
    </p:spTree>
    <p:extLst>
      <p:ext uri="{BB962C8B-B14F-4D97-AF65-F5344CB8AC3E}">
        <p14:creationId xmlns:p14="http://schemas.microsoft.com/office/powerpoint/2010/main" val="10764069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C8D70-253F-C3C9-8EE1-6ACB0C3389D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B0415EA-CD1A-5D73-2179-D46C8F3620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658" y="75794"/>
            <a:ext cx="1888907" cy="946761"/>
          </a:xfrm>
          <a:prstGeom prst="rect">
            <a:avLst/>
          </a:prstGeom>
          <a:noFill/>
          <a:ln>
            <a:noFill/>
          </a:ln>
        </p:spPr>
      </p:pic>
      <p:sp>
        <p:nvSpPr>
          <p:cNvPr id="2" name="TextBox 1">
            <a:extLst>
              <a:ext uri="{FF2B5EF4-FFF2-40B4-BE49-F238E27FC236}">
                <a16:creationId xmlns:a16="http://schemas.microsoft.com/office/drawing/2014/main" id="{51C43C8E-D194-35D6-E3E1-75D26A4C75E4}"/>
              </a:ext>
            </a:extLst>
          </p:cNvPr>
          <p:cNvSpPr txBox="1"/>
          <p:nvPr/>
        </p:nvSpPr>
        <p:spPr>
          <a:xfrm>
            <a:off x="2979174" y="330057"/>
            <a:ext cx="5909188" cy="1384995"/>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Comparison of multiple hybrid combinations</a:t>
            </a:r>
          </a:p>
          <a:p>
            <a:pPr algn="ctr"/>
            <a:endParaRPr lang="en-US" sz="28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541302F-21DE-19E8-3472-C5D08D5B6CAE}"/>
              </a:ext>
            </a:extLst>
          </p:cNvPr>
          <p:cNvSpPr txBox="1"/>
          <p:nvPr/>
        </p:nvSpPr>
        <p:spPr>
          <a:xfrm>
            <a:off x="757083" y="1357297"/>
            <a:ext cx="11267768" cy="5170646"/>
          </a:xfrm>
          <a:prstGeom prst="rect">
            <a:avLst/>
          </a:prstGeom>
          <a:noFill/>
        </p:spPr>
        <p:txBody>
          <a:bodyPr wrap="square" rtlCol="0">
            <a:spAutoFit/>
          </a:bodyPr>
          <a:lstStyle/>
          <a:p>
            <a:pPr>
              <a:lnSpc>
                <a:spcPct val="150000"/>
              </a:lnSpc>
            </a:pPr>
            <a:r>
              <a:rPr lang="en-US" sz="1600" b="1" dirty="0">
                <a:latin typeface="Times New Roman" panose="02020603050405020304" pitchFamily="18" charset="0"/>
                <a:cs typeface="Times New Roman" panose="02020603050405020304" pitchFamily="18" charset="0"/>
              </a:rPr>
              <a:t>Proposed Hybrid Architecture (LCG-Stack)</a:t>
            </a:r>
          </a:p>
          <a:p>
            <a:pPr lvl="0">
              <a:lnSpc>
                <a:spcPct val="150000"/>
              </a:lnSpc>
            </a:pPr>
            <a:r>
              <a:rPr lang="en-US" sz="1600" b="1" dirty="0">
                <a:latin typeface="Times New Roman" panose="02020603050405020304" pitchFamily="18" charset="0"/>
                <a:cs typeface="Times New Roman" panose="02020603050405020304" pitchFamily="18" charset="0"/>
              </a:rPr>
              <a:t>Base Learners:</a:t>
            </a:r>
            <a:r>
              <a:rPr lang="en-US" sz="1600" dirty="0">
                <a:latin typeface="Times New Roman" panose="02020603050405020304" pitchFamily="18" charset="0"/>
                <a:cs typeface="Times New Roman" panose="02020603050405020304" pitchFamily="18" charset="0"/>
              </a:rPr>
              <a:t> Combines </a:t>
            </a:r>
            <a:r>
              <a:rPr lang="en-US" sz="1600" b="1" dirty="0">
                <a:latin typeface="Times New Roman" panose="02020603050405020304" pitchFamily="18" charset="0"/>
                <a:cs typeface="Times New Roman" panose="02020603050405020304" pitchFamily="18" charset="0"/>
              </a:rPr>
              <a:t>Linear Regression (LR)</a:t>
            </a:r>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CatBoost (CB)</a:t>
            </a:r>
            <a:r>
              <a:rPr lang="en-US" sz="1600" dirty="0">
                <a:latin typeface="Times New Roman" panose="02020603050405020304" pitchFamily="18" charset="0"/>
                <a:cs typeface="Times New Roman" panose="02020603050405020304" pitchFamily="18" charset="0"/>
              </a:rPr>
              <a:t>, and </a:t>
            </a:r>
            <a:r>
              <a:rPr lang="en-US" sz="1600" b="1" dirty="0">
                <a:latin typeface="Times New Roman" panose="02020603050405020304" pitchFamily="18" charset="0"/>
                <a:cs typeface="Times New Roman" panose="02020603050405020304" pitchFamily="18" charset="0"/>
              </a:rPr>
              <a:t>Gradient Boosting (GB)</a:t>
            </a:r>
            <a:r>
              <a:rPr lang="en-US" sz="1600" dirty="0">
                <a:latin typeface="Times New Roman" panose="02020603050405020304" pitchFamily="18" charset="0"/>
                <a:cs typeface="Times New Roman" panose="02020603050405020304" pitchFamily="18" charset="0"/>
              </a:rPr>
              <a:t> to capture both linear trends and complex non-linear relationships across heterogeneous urban datasets. </a:t>
            </a:r>
          </a:p>
          <a:p>
            <a:pPr lvl="0">
              <a:lnSpc>
                <a:spcPct val="150000"/>
              </a:lnSpc>
            </a:pPr>
            <a:r>
              <a:rPr lang="en-US" sz="1600" b="1" dirty="0">
                <a:latin typeface="Times New Roman" panose="02020603050405020304" pitchFamily="18" charset="0"/>
                <a:cs typeface="Times New Roman" panose="02020603050405020304" pitchFamily="18" charset="0"/>
              </a:rPr>
              <a:t>Meta-Learner:</a:t>
            </a:r>
            <a:r>
              <a:rPr lang="en-US" sz="1600" dirty="0">
                <a:latin typeface="Times New Roman" panose="02020603050405020304" pitchFamily="18" charset="0"/>
                <a:cs typeface="Times New Roman" panose="02020603050405020304" pitchFamily="18" charset="0"/>
              </a:rPr>
              <a:t> Uses a </a:t>
            </a:r>
            <a:r>
              <a:rPr lang="en-US" sz="1600" b="1" dirty="0">
                <a:latin typeface="Times New Roman" panose="02020603050405020304" pitchFamily="18" charset="0"/>
                <a:cs typeface="Times New Roman" panose="02020603050405020304" pitchFamily="18" charset="0"/>
              </a:rPr>
              <a:t>Linear Regression</a:t>
            </a:r>
            <a:r>
              <a:rPr lang="en-US" sz="1600" dirty="0">
                <a:latin typeface="Times New Roman" panose="02020603050405020304" pitchFamily="18" charset="0"/>
                <a:cs typeface="Times New Roman" panose="02020603050405020304" pitchFamily="18" charset="0"/>
              </a:rPr>
              <a:t> meta-learner to aggregate predictions from the base models. </a:t>
            </a:r>
          </a:p>
          <a:p>
            <a:pPr lvl="0">
              <a:lnSpc>
                <a:spcPct val="150000"/>
              </a:lnSpc>
            </a:pPr>
            <a:r>
              <a:rPr lang="en-US" sz="1600" b="1" dirty="0">
                <a:latin typeface="Times New Roman" panose="02020603050405020304" pitchFamily="18" charset="0"/>
                <a:cs typeface="Times New Roman" panose="02020603050405020304" pitchFamily="18" charset="0"/>
              </a:rPr>
              <a:t>Validation Strategy:</a:t>
            </a:r>
            <a:r>
              <a:rPr lang="en-US" sz="1600" dirty="0">
                <a:latin typeface="Times New Roman" panose="02020603050405020304" pitchFamily="18" charset="0"/>
                <a:cs typeface="Times New Roman" panose="02020603050405020304" pitchFamily="18" charset="0"/>
              </a:rPr>
              <a:t> Implemented using a </a:t>
            </a:r>
            <a:r>
              <a:rPr lang="en-US" sz="1600" b="1" dirty="0">
                <a:latin typeface="Times New Roman" panose="02020603050405020304" pitchFamily="18" charset="0"/>
                <a:cs typeface="Times New Roman" panose="02020603050405020304" pitchFamily="18" charset="0"/>
              </a:rPr>
              <a:t>5-fold out-of-fold (OOF)</a:t>
            </a:r>
            <a:r>
              <a:rPr lang="en-US" sz="1600" dirty="0">
                <a:latin typeface="Times New Roman" panose="02020603050405020304" pitchFamily="18" charset="0"/>
                <a:cs typeface="Times New Roman" panose="02020603050405020304" pitchFamily="18" charset="0"/>
              </a:rPr>
              <a:t> stacking procedure to prevent data leakage and ensure robust generalization during training. </a:t>
            </a:r>
          </a:p>
          <a:p>
            <a:pPr>
              <a:lnSpc>
                <a:spcPct val="150000"/>
              </a:lnSpc>
            </a:pPr>
            <a:r>
              <a:rPr lang="en-US" sz="1600" b="1" dirty="0">
                <a:latin typeface="Times New Roman" panose="02020603050405020304" pitchFamily="18" charset="0"/>
                <a:cs typeface="Times New Roman" panose="02020603050405020304" pitchFamily="18" charset="0"/>
              </a:rPr>
              <a:t>Domain-Wise Comparative Model Configurations</a:t>
            </a:r>
          </a:p>
          <a:p>
            <a:pPr lvl="0">
              <a:lnSpc>
                <a:spcPct val="150000"/>
              </a:lnSpc>
            </a:pPr>
            <a:r>
              <a:rPr lang="en-US" sz="1600" b="1" dirty="0">
                <a:latin typeface="Times New Roman" panose="02020603050405020304" pitchFamily="18" charset="0"/>
                <a:cs typeface="Times New Roman" panose="02020603050405020304" pitchFamily="18" charset="0"/>
              </a:rPr>
              <a:t>Air Quality Dataset (Target: Pollution_Score):</a:t>
            </a:r>
            <a:r>
              <a:rPr lang="en-US" sz="1600" dirty="0">
                <a:latin typeface="Times New Roman" panose="02020603050405020304" pitchFamily="18" charset="0"/>
                <a:cs typeface="Times New Roman" panose="02020603050405020304" pitchFamily="18" charset="0"/>
              </a:rPr>
              <a:t> Evaluated baseline models (Linear Regression, Decision Tree, Random Forest) alongside the LCG-Stack configuration using out-of-fold predictions. </a:t>
            </a:r>
          </a:p>
          <a:p>
            <a:pPr lvl="0">
              <a:lnSpc>
                <a:spcPct val="150000"/>
              </a:lnSpc>
            </a:pPr>
            <a:r>
              <a:rPr lang="en-US" sz="1600" b="1" dirty="0">
                <a:latin typeface="Times New Roman" panose="02020603050405020304" pitchFamily="18" charset="0"/>
                <a:cs typeface="Times New Roman" panose="02020603050405020304" pitchFamily="18" charset="0"/>
              </a:rPr>
              <a:t>Weather Dataset (Target: Temperature °C):</a:t>
            </a:r>
            <a:r>
              <a:rPr lang="en-US" sz="1600" dirty="0">
                <a:latin typeface="Times New Roman" panose="02020603050405020304" pitchFamily="18" charset="0"/>
                <a:cs typeface="Times New Roman" panose="02020603050405020304" pitchFamily="18" charset="0"/>
              </a:rPr>
              <a:t> Evaluated baseline models alongside the LCG-Stack configuration, noting that standalone Random Forest achieved superior predictive performance. </a:t>
            </a:r>
          </a:p>
          <a:p>
            <a:pPr lvl="0">
              <a:lnSpc>
                <a:spcPct val="150000"/>
              </a:lnSpc>
            </a:pPr>
            <a:r>
              <a:rPr lang="en-US" sz="1600" b="1" dirty="0">
                <a:latin typeface="Times New Roman" panose="02020603050405020304" pitchFamily="18" charset="0"/>
                <a:cs typeface="Times New Roman" panose="02020603050405020304" pitchFamily="18" charset="0"/>
              </a:rPr>
              <a:t>Energy Consumption Dataset (Target: Energy Consumption):</a:t>
            </a:r>
            <a:r>
              <a:rPr lang="en-US" sz="1600" dirty="0">
                <a:latin typeface="Times New Roman" panose="02020603050405020304" pitchFamily="18" charset="0"/>
                <a:cs typeface="Times New Roman" panose="02020603050405020304" pitchFamily="18" charset="0"/>
              </a:rPr>
              <a:t> Evaluated baseline models alongside the LCG-Stack configuration, comparing linear and tree-based ensemble combinations. </a:t>
            </a:r>
          </a:p>
          <a:p>
            <a:endParaRPr lang="en-US" dirty="0"/>
          </a:p>
        </p:txBody>
      </p:sp>
    </p:spTree>
    <p:extLst>
      <p:ext uri="{BB962C8B-B14F-4D97-AF65-F5344CB8AC3E}">
        <p14:creationId xmlns:p14="http://schemas.microsoft.com/office/powerpoint/2010/main" val="13942883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FF33A-6A57-563A-0258-DF7F79C9370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1ED5707-5E59-A2B9-E70A-E969723011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658" y="75795"/>
            <a:ext cx="1830057" cy="917264"/>
          </a:xfrm>
          <a:prstGeom prst="rect">
            <a:avLst/>
          </a:prstGeom>
          <a:noFill/>
          <a:ln>
            <a:noFill/>
          </a:ln>
        </p:spPr>
      </p:pic>
      <p:sp>
        <p:nvSpPr>
          <p:cNvPr id="2" name="TextBox 1">
            <a:extLst>
              <a:ext uri="{FF2B5EF4-FFF2-40B4-BE49-F238E27FC236}">
                <a16:creationId xmlns:a16="http://schemas.microsoft.com/office/drawing/2014/main" id="{C432B010-60A3-0715-54D7-05B427D5CEBC}"/>
              </a:ext>
            </a:extLst>
          </p:cNvPr>
          <p:cNvSpPr txBox="1"/>
          <p:nvPr/>
        </p:nvSpPr>
        <p:spPr>
          <a:xfrm>
            <a:off x="3362632" y="75795"/>
            <a:ext cx="4984955" cy="1384995"/>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Justification for selecting the final hybrid model</a:t>
            </a:r>
          </a:p>
          <a:p>
            <a:pPr algn="ctr"/>
            <a:endParaRPr lang="en-US" sz="28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237CE6F5-8177-60B6-E1D0-336198BC1819}"/>
              </a:ext>
            </a:extLst>
          </p:cNvPr>
          <p:cNvSpPr txBox="1"/>
          <p:nvPr/>
        </p:nvSpPr>
        <p:spPr>
          <a:xfrm>
            <a:off x="806245" y="1297879"/>
            <a:ext cx="10805652" cy="5155257"/>
          </a:xfrm>
          <a:prstGeom prst="rect">
            <a:avLst/>
          </a:prstGeom>
          <a:noFill/>
        </p:spPr>
        <p:txBody>
          <a:bodyPr wrap="square" rtlCol="0">
            <a:spAutoFit/>
          </a:bodyPr>
          <a:lstStyle/>
          <a:p>
            <a:pPr>
              <a:lnSpc>
                <a:spcPct val="150000"/>
              </a:lnSpc>
            </a:pPr>
            <a:r>
              <a:rPr lang="en-US" sz="1400" b="1" dirty="0">
                <a:latin typeface="Times New Roman" panose="02020603050405020304" pitchFamily="18" charset="0"/>
                <a:cs typeface="Times New Roman" panose="02020603050405020304" pitchFamily="18" charset="0"/>
              </a:rPr>
              <a:t>1. Complementary Architectural Strengths</a:t>
            </a:r>
          </a:p>
          <a:p>
            <a:pPr lvl="0">
              <a:lnSpc>
                <a:spcPct val="150000"/>
              </a:lnSpc>
            </a:pPr>
            <a:r>
              <a:rPr lang="en-US" sz="1400" b="1" dirty="0">
                <a:latin typeface="Times New Roman" panose="02020603050405020304" pitchFamily="18" charset="0"/>
                <a:cs typeface="Times New Roman" panose="02020603050405020304" pitchFamily="18" charset="0"/>
              </a:rPr>
              <a:t>Combining Linear and Non-Linear Learners:</a:t>
            </a:r>
            <a:r>
              <a:rPr lang="en-US" sz="1400" dirty="0">
                <a:latin typeface="Times New Roman" panose="02020603050405020304" pitchFamily="18" charset="0"/>
                <a:cs typeface="Times New Roman" panose="02020603050405020304" pitchFamily="18" charset="0"/>
              </a:rPr>
              <a:t> The Out-of-Fold Linear–CatBoost–Gradient Boosting Stacking Ensemble (LCG-Stack) integrates models with diverse inductive biases. Linear Regression captures global linear trends, while CatBoost and Gradient Boosting effectively model complex, non-linear interactions inherent in urban environmental and energy data.</a:t>
            </a:r>
          </a:p>
          <a:p>
            <a:pPr>
              <a:lnSpc>
                <a:spcPct val="150000"/>
              </a:lnSpc>
            </a:pPr>
            <a:r>
              <a:rPr lang="en-US" sz="1400" b="1" dirty="0">
                <a:latin typeface="Times New Roman" panose="02020603050405020304" pitchFamily="18" charset="0"/>
                <a:cs typeface="Times New Roman" panose="02020603050405020304" pitchFamily="18" charset="0"/>
              </a:rPr>
              <a:t>2. Mitigation of Overfitting and Information Leakage</a:t>
            </a:r>
          </a:p>
          <a:p>
            <a:pPr lvl="0">
              <a:lnSpc>
                <a:spcPct val="150000"/>
              </a:lnSpc>
            </a:pPr>
            <a:r>
              <a:rPr lang="en-US" sz="1400" b="1" dirty="0">
                <a:latin typeface="Times New Roman" panose="02020603050405020304" pitchFamily="18" charset="0"/>
                <a:cs typeface="Times New Roman" panose="02020603050405020304" pitchFamily="18" charset="0"/>
              </a:rPr>
              <a:t>Out-of-Fold (OOF) Stacking Strategy:</a:t>
            </a:r>
            <a:r>
              <a:rPr lang="en-US" sz="1400" dirty="0">
                <a:latin typeface="Times New Roman" panose="02020603050405020304" pitchFamily="18" charset="0"/>
                <a:cs typeface="Times New Roman" panose="02020603050405020304" pitchFamily="18" charset="0"/>
              </a:rPr>
              <a:t> A 5-fold cross-validated OOF procedure was used to generate predictions from the base learners before feeding them into the Linear Regression meta-learner. This prevents target leakage and ensures that the meta-learner generalizes effectively to unseen test data.</a:t>
            </a:r>
          </a:p>
          <a:p>
            <a:pPr>
              <a:lnSpc>
                <a:spcPct val="150000"/>
              </a:lnSpc>
            </a:pPr>
            <a:r>
              <a:rPr lang="en-US" sz="1400" b="1" dirty="0">
                <a:latin typeface="Times New Roman" panose="02020603050405020304" pitchFamily="18" charset="0"/>
                <a:cs typeface="Times New Roman" panose="02020603050405020304" pitchFamily="18" charset="0"/>
              </a:rPr>
              <a:t>3. Multi-Domain Adaptability and Robustness</a:t>
            </a:r>
          </a:p>
          <a:p>
            <a:pPr lvl="0">
              <a:lnSpc>
                <a:spcPct val="150000"/>
              </a:lnSpc>
            </a:pPr>
            <a:r>
              <a:rPr lang="en-US" sz="1400" b="1" dirty="0">
                <a:latin typeface="Times New Roman" panose="02020603050405020304" pitchFamily="18" charset="0"/>
                <a:cs typeface="Times New Roman" panose="02020603050405020304" pitchFamily="18" charset="0"/>
              </a:rPr>
              <a:t>Unified Analytical Framework:</a:t>
            </a:r>
            <a:r>
              <a:rPr lang="en-US" sz="1400" dirty="0">
                <a:latin typeface="Times New Roman" panose="02020603050405020304" pitchFamily="18" charset="0"/>
                <a:cs typeface="Times New Roman" panose="02020603050405020304" pitchFamily="18" charset="0"/>
              </a:rPr>
              <a:t> Rather than relying on a single algorithm type, the stacking framework provides a structured architecture capable of handling heterogeneous smart-city domains (air quality, historical weather, and energy consumption) with consistent preprocessing and evaluation pipelines.</a:t>
            </a:r>
          </a:p>
          <a:p>
            <a:pPr>
              <a:lnSpc>
                <a:spcPct val="150000"/>
              </a:lnSpc>
            </a:pPr>
            <a:r>
              <a:rPr lang="en-US" sz="1400" b="1" dirty="0">
                <a:latin typeface="Times New Roman" panose="02020603050405020304" pitchFamily="18" charset="0"/>
                <a:cs typeface="Times New Roman" panose="02020603050405020304" pitchFamily="18" charset="0"/>
              </a:rPr>
              <a:t>4. Transparent Integration with Explainable AI (XAI)</a:t>
            </a:r>
          </a:p>
          <a:p>
            <a:pPr lvl="0">
              <a:lnSpc>
                <a:spcPct val="150000"/>
              </a:lnSpc>
            </a:pPr>
            <a:r>
              <a:rPr lang="en-US" sz="1400" b="1" dirty="0">
                <a:latin typeface="Times New Roman" panose="02020603050405020304" pitchFamily="18" charset="0"/>
                <a:cs typeface="Times New Roman" panose="02020603050405020304" pitchFamily="18" charset="0"/>
              </a:rPr>
              <a:t>Synergy with SHAP:</a:t>
            </a:r>
            <a:r>
              <a:rPr lang="en-US" sz="1400" dirty="0">
                <a:latin typeface="Times New Roman" panose="02020603050405020304" pitchFamily="18" charset="0"/>
                <a:cs typeface="Times New Roman" panose="02020603050405020304" pitchFamily="18" charset="0"/>
              </a:rPr>
              <a:t> The model architecture maintains compatibility with SHAP (SHapley Additive exPlanations), enabling both global feature importance rankings and instance-level explanations to interpret how base predictions are weighted and combined.</a:t>
            </a:r>
          </a:p>
          <a:p>
            <a:endParaRPr lang="en-US" sz="1400" dirty="0"/>
          </a:p>
        </p:txBody>
      </p:sp>
    </p:spTree>
    <p:extLst>
      <p:ext uri="{BB962C8B-B14F-4D97-AF65-F5344CB8AC3E}">
        <p14:creationId xmlns:p14="http://schemas.microsoft.com/office/powerpoint/2010/main" val="2863535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ECB99-2753-1FD6-D5A9-7E78CDDF729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8ECDA90-600C-273F-E92C-55896082E0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658" y="75795"/>
            <a:ext cx="1947757" cy="976258"/>
          </a:xfrm>
          <a:prstGeom prst="rect">
            <a:avLst/>
          </a:prstGeom>
          <a:noFill/>
          <a:ln>
            <a:noFill/>
          </a:ln>
        </p:spPr>
      </p:pic>
      <p:sp>
        <p:nvSpPr>
          <p:cNvPr id="2" name="TextBox 1">
            <a:extLst>
              <a:ext uri="{FF2B5EF4-FFF2-40B4-BE49-F238E27FC236}">
                <a16:creationId xmlns:a16="http://schemas.microsoft.com/office/drawing/2014/main" id="{6868AAC0-2915-657F-BBDC-42A99A929FB8}"/>
              </a:ext>
            </a:extLst>
          </p:cNvPr>
          <p:cNvSpPr txBox="1"/>
          <p:nvPr/>
        </p:nvSpPr>
        <p:spPr>
          <a:xfrm>
            <a:off x="2045110" y="1455174"/>
            <a:ext cx="8426245" cy="4404852"/>
          </a:xfrm>
          <a:prstGeom prst="rect">
            <a:avLst/>
          </a:prstGeom>
          <a:noFill/>
        </p:spPr>
        <p:txBody>
          <a:bodyPr wrap="square" rtlCol="0">
            <a:spAutoFit/>
          </a:bodyPr>
          <a:lstStyle/>
          <a:p>
            <a:endParaRPr lang="en-US" dirty="0"/>
          </a:p>
        </p:txBody>
      </p:sp>
      <p:sp>
        <p:nvSpPr>
          <p:cNvPr id="3" name="TextBox 2">
            <a:extLst>
              <a:ext uri="{FF2B5EF4-FFF2-40B4-BE49-F238E27FC236}">
                <a16:creationId xmlns:a16="http://schemas.microsoft.com/office/drawing/2014/main" id="{633662B2-25E5-FE7B-58C3-F021FFE9ED2D}"/>
              </a:ext>
            </a:extLst>
          </p:cNvPr>
          <p:cNvSpPr txBox="1"/>
          <p:nvPr/>
        </p:nvSpPr>
        <p:spPr>
          <a:xfrm>
            <a:off x="4395019" y="214378"/>
            <a:ext cx="2880852" cy="1323439"/>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Literature Review</a:t>
            </a:r>
            <a:br>
              <a:rPr lang="en-US" sz="2800" b="1" dirty="0">
                <a:latin typeface="Times New Roman" panose="02020603050405020304" pitchFamily="18" charset="0"/>
                <a:cs typeface="Times New Roman" panose="02020603050405020304" pitchFamily="18" charset="0"/>
              </a:rPr>
            </a:br>
            <a:endParaRPr lang="en-US" sz="2800" b="1" dirty="0">
              <a:latin typeface="Times New Roman" panose="02020603050405020304" pitchFamily="18" charset="0"/>
              <a:cs typeface="Times New Roman" panose="02020603050405020304" pitchFamily="18" charset="0"/>
            </a:endParaRPr>
          </a:p>
          <a:p>
            <a:endParaRPr lang="en-US" sz="28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1CD3B9F-EA06-54F5-257C-22450DA68570}"/>
                  </a:ext>
                </a:extLst>
              </p:cNvPr>
              <p:cNvSpPr txBox="1"/>
              <p:nvPr/>
            </p:nvSpPr>
            <p:spPr>
              <a:xfrm>
                <a:off x="530942" y="997974"/>
                <a:ext cx="10805652" cy="5547481"/>
              </a:xfrm>
              <a:prstGeom prst="rect">
                <a:avLst/>
              </a:prstGeom>
              <a:noFill/>
            </p:spPr>
            <p:txBody>
              <a:bodyPr wrap="square" rtlCol="0">
                <a:spAutoFit/>
              </a:bodyPr>
              <a:lstStyle/>
              <a:p>
                <a:pPr>
                  <a:lnSpc>
                    <a:spcPct val="150000"/>
                  </a:lnSpc>
                </a:pPr>
                <a:r>
                  <a:rPr lang="en-US" sz="1400" b="1" dirty="0">
                    <a:latin typeface="Times New Roman" panose="02020603050405020304" pitchFamily="18" charset="0"/>
                    <a:cs typeface="Times New Roman" panose="02020603050405020304" pitchFamily="18" charset="0"/>
                  </a:rPr>
                  <a:t>1. Air-Quality and Environmental Prediction</a:t>
                </a:r>
              </a:p>
              <a:p>
                <a:pPr lvl="0">
                  <a:lnSpc>
                    <a:spcPct val="150000"/>
                  </a:lnSpc>
                </a:pPr>
                <a:r>
                  <a:rPr lang="en-US" sz="1400" b="1" dirty="0">
                    <a:latin typeface="Times New Roman" panose="02020603050405020304" pitchFamily="18" charset="0"/>
                    <a:cs typeface="Times New Roman" panose="02020603050405020304" pitchFamily="18" charset="0"/>
                  </a:rPr>
                  <a:t>Individual Domain Focus:</a:t>
                </a:r>
                <a:r>
                  <a:rPr lang="en-US" sz="1400" dirty="0">
                    <a:latin typeface="Times New Roman" panose="02020603050405020304" pitchFamily="18" charset="0"/>
                    <a:cs typeface="Times New Roman" panose="02020603050405020304" pitchFamily="18" charset="0"/>
                  </a:rPr>
                  <a:t> Previous studies primarily address urban domains independently, using pollutant and meteorological variables to predict air-quality indices, </a:t>
                </a:r>
                <a14:m>
                  <m:oMath xmlns:m="http://schemas.openxmlformats.org/officeDocument/2006/math">
                    <m:sSub>
                      <m:sSubPr>
                        <m:ctrlPr>
                          <a:rPr lang="en-US" sz="1400" i="0">
                            <a:latin typeface="Times New Roman" panose="02020603050405020304" pitchFamily="18" charset="0"/>
                            <a:cs typeface="Times New Roman" panose="02020603050405020304" pitchFamily="18" charset="0"/>
                          </a:rPr>
                        </m:ctrlPr>
                      </m:sSubPr>
                      <m:e>
                        <m:r>
                          <m:rPr>
                            <m:nor/>
                          </m:rPr>
                          <a:rPr lang="en-US" sz="1400" i="0">
                            <a:latin typeface="Times New Roman" panose="02020603050405020304" pitchFamily="18" charset="0"/>
                            <a:cs typeface="Times New Roman" panose="02020603050405020304" pitchFamily="18" charset="0"/>
                          </a:rPr>
                          <m:t>PM</m:t>
                        </m:r>
                      </m:e>
                      <m:sub>
                        <m:r>
                          <a:rPr lang="en-US" sz="1400">
                            <a:latin typeface="Cambria Math" panose="02040503050406030204" pitchFamily="18" charset="0"/>
                          </a:rPr>
                          <m:t>10</m:t>
                        </m:r>
                      </m:sub>
                    </m:sSub>
                  </m:oMath>
                </a14:m>
                <a:r>
                  <a:rPr lang="en-US" sz="14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1400" i="0">
                            <a:latin typeface="Times New Roman" panose="02020603050405020304" pitchFamily="18" charset="0"/>
                            <a:cs typeface="Times New Roman" panose="02020603050405020304" pitchFamily="18" charset="0"/>
                          </a:rPr>
                        </m:ctrlPr>
                      </m:sSubPr>
                      <m:e>
                        <m:r>
                          <m:rPr>
                            <m:nor/>
                          </m:rPr>
                          <a:rPr lang="en-US" sz="1400" i="0">
                            <a:latin typeface="Times New Roman" panose="02020603050405020304" pitchFamily="18" charset="0"/>
                            <a:cs typeface="Times New Roman" panose="02020603050405020304" pitchFamily="18" charset="0"/>
                          </a:rPr>
                          <m:t>PM</m:t>
                        </m:r>
                      </m:e>
                      <m:sub>
                        <m:r>
                          <a:rPr lang="en-US" sz="1400">
                            <a:latin typeface="Cambria Math" panose="02040503050406030204" pitchFamily="18" charset="0"/>
                          </a:rPr>
                          <m:t>2.5</m:t>
                        </m:r>
                      </m:sub>
                    </m:sSub>
                  </m:oMath>
                </a14:m>
                <a:r>
                  <a:rPr lang="en-US" sz="1400" dirty="0">
                    <a:latin typeface="Times New Roman" panose="02020603050405020304" pitchFamily="18" charset="0"/>
                    <a:cs typeface="Times New Roman" panose="02020603050405020304" pitchFamily="18" charset="0"/>
                  </a:rPr>
                  <a:t>, and </a:t>
                </a:r>
                <a14:m>
                  <m:oMath xmlns:m="http://schemas.openxmlformats.org/officeDocument/2006/math">
                    <m:sSub>
                      <m:sSubPr>
                        <m:ctrlPr>
                          <a:rPr lang="en-US" sz="1400" i="0">
                            <a:latin typeface="Times New Roman" panose="02020603050405020304" pitchFamily="18" charset="0"/>
                            <a:cs typeface="Times New Roman" panose="02020603050405020304" pitchFamily="18" charset="0"/>
                          </a:rPr>
                        </m:ctrlPr>
                      </m:sSubPr>
                      <m:e>
                        <m:r>
                          <m:rPr>
                            <m:nor/>
                          </m:rPr>
                          <a:rPr lang="en-US" sz="1400" i="0">
                            <a:latin typeface="Times New Roman" panose="02020603050405020304" pitchFamily="18" charset="0"/>
                            <a:cs typeface="Times New Roman" panose="02020603050405020304" pitchFamily="18" charset="0"/>
                          </a:rPr>
                          <m:t>O</m:t>
                        </m:r>
                      </m:e>
                      <m:sub>
                        <m:r>
                          <a:rPr lang="en-US" sz="1400">
                            <a:latin typeface="Cambria Math" panose="02040503050406030204" pitchFamily="18" charset="0"/>
                          </a:rPr>
                          <m:t>3</m:t>
                        </m:r>
                      </m:sub>
                    </m:sSub>
                  </m:oMath>
                </a14:m>
                <a:r>
                  <a:rPr lang="en-US" sz="1400" dirty="0">
                    <a:latin typeface="Times New Roman" panose="02020603050405020304" pitchFamily="18" charset="0"/>
                    <a:cs typeface="Times New Roman" panose="02020603050405020304" pitchFamily="18" charset="0"/>
                  </a:rPr>
                  <a:t>levels. </a:t>
                </a:r>
              </a:p>
              <a:p>
                <a:pPr lvl="0">
                  <a:lnSpc>
                    <a:spcPct val="150000"/>
                  </a:lnSpc>
                </a:pPr>
                <a:r>
                  <a:rPr lang="en-US" sz="1400" b="1" dirty="0">
                    <a:latin typeface="Times New Roman" panose="02020603050405020304" pitchFamily="18" charset="0"/>
                    <a:cs typeface="Times New Roman" panose="02020603050405020304" pitchFamily="18" charset="0"/>
                  </a:rPr>
                  <a:t>Explainable AI Integration:</a:t>
                </a:r>
                <a:r>
                  <a:rPr lang="en-US" sz="1400" dirty="0">
                    <a:latin typeface="Times New Roman" panose="02020603050405020304" pitchFamily="18" charset="0"/>
                    <a:cs typeface="Times New Roman" panose="02020603050405020304" pitchFamily="18" charset="0"/>
                  </a:rPr>
                  <a:t> Recent works highlight the application of machine learning alongside Explainable AI techniques like SHAP and LIME to interpret model predictions and identify influential environmental factors. </a:t>
                </a:r>
              </a:p>
              <a:p>
                <a:pPr>
                  <a:lnSpc>
                    <a:spcPct val="150000"/>
                  </a:lnSpc>
                </a:pPr>
                <a:r>
                  <a:rPr lang="en-US" sz="1400" b="1" dirty="0">
                    <a:latin typeface="Times New Roman" panose="02020603050405020304" pitchFamily="18" charset="0"/>
                    <a:cs typeface="Times New Roman" panose="02020603050405020304" pitchFamily="18" charset="0"/>
                  </a:rPr>
                  <a:t>2. Energy-Management and Urban Forecasting</a:t>
                </a:r>
              </a:p>
              <a:p>
                <a:pPr lvl="0">
                  <a:lnSpc>
                    <a:spcPct val="150000"/>
                  </a:lnSpc>
                </a:pPr>
                <a:r>
                  <a:rPr lang="en-US" sz="1400" b="1" dirty="0">
                    <a:latin typeface="Times New Roman" panose="02020603050405020304" pitchFamily="18" charset="0"/>
                    <a:cs typeface="Times New Roman" panose="02020603050405020304" pitchFamily="18" charset="0"/>
                  </a:rPr>
                  <a:t>Resource Consumption Modeling:</a:t>
                </a:r>
                <a:r>
                  <a:rPr lang="en-US" sz="1400" dirty="0">
                    <a:latin typeface="Times New Roman" panose="02020603050405020304" pitchFamily="18" charset="0"/>
                    <a:cs typeface="Times New Roman" panose="02020603050405020304" pitchFamily="18" charset="0"/>
                  </a:rPr>
                  <a:t> Existing research applies machine learning and deep-learning architectures to estimate long-term building and electricity consumption. </a:t>
                </a:r>
              </a:p>
              <a:p>
                <a:pPr lvl="0">
                  <a:lnSpc>
                    <a:spcPct val="150000"/>
                  </a:lnSpc>
                </a:pPr>
                <a:r>
                  <a:rPr lang="en-US" sz="1400" b="1" dirty="0">
                    <a:latin typeface="Times New Roman" panose="02020603050405020304" pitchFamily="18" charset="0"/>
                    <a:cs typeface="Times New Roman" panose="02020603050405020304" pitchFamily="18" charset="0"/>
                  </a:rPr>
                  <a:t>Advanced Ensembles:</a:t>
                </a:r>
                <a:r>
                  <a:rPr lang="en-US" sz="1400" dirty="0">
                    <a:latin typeface="Times New Roman" panose="02020603050405020304" pitchFamily="18" charset="0"/>
                    <a:cs typeface="Times New Roman" panose="02020603050405020304" pitchFamily="18" charset="0"/>
                  </a:rPr>
                  <a:t> Hybrid and ensemble strategies (such as LSTM-XGBoost and selective stacking) have been explored to improve forecasting accuracy, though often restricted to isolated energy or environmental silos.</a:t>
                </a:r>
              </a:p>
              <a:p>
                <a:pPr>
                  <a:lnSpc>
                    <a:spcPct val="150000"/>
                  </a:lnSpc>
                </a:pPr>
                <a:r>
                  <a:rPr lang="en-US" sz="1400" b="1" dirty="0">
                    <a:latin typeface="Times New Roman" panose="02020603050405020304" pitchFamily="18" charset="0"/>
                    <a:cs typeface="Times New Roman" panose="02020603050405020304" pitchFamily="18" charset="0"/>
                  </a:rPr>
                  <a:t>3. Research Gap and the Need for a Unified Framework</a:t>
                </a:r>
              </a:p>
              <a:p>
                <a:pPr lvl="0">
                  <a:lnSpc>
                    <a:spcPct val="150000"/>
                  </a:lnSpc>
                </a:pPr>
                <a:r>
                  <a:rPr lang="en-US" sz="1400" b="1" dirty="0">
                    <a:latin typeface="Times New Roman" panose="02020603050405020304" pitchFamily="18" charset="0"/>
                    <a:cs typeface="Times New Roman" panose="02020603050405020304" pitchFamily="18" charset="0"/>
                  </a:rPr>
                  <a:t>Siloed Approaches:</a:t>
                </a:r>
                <a:r>
                  <a:rPr lang="en-US" sz="1400" dirty="0">
                    <a:latin typeface="Times New Roman" panose="02020603050405020304" pitchFamily="18" charset="0"/>
                    <a:cs typeface="Times New Roman" panose="02020603050405020304" pitchFamily="18" charset="0"/>
                  </a:rPr>
                  <a:t> While domain-specific models provide useful results, isolated analyses make it difficult to obtain a comprehensive view of interconnected urban environmental and resource conditions. </a:t>
                </a:r>
              </a:p>
              <a:p>
                <a:pPr lvl="0">
                  <a:lnSpc>
                    <a:spcPct val="150000"/>
                  </a:lnSpc>
                </a:pPr>
                <a:r>
                  <a:rPr lang="en-US" sz="1400" b="1" dirty="0">
                    <a:latin typeface="Times New Roman" panose="02020603050405020304" pitchFamily="18" charset="0"/>
                    <a:cs typeface="Times New Roman" panose="02020603050405020304" pitchFamily="18" charset="0"/>
                  </a:rPr>
                  <a:t>Integrated Multi-Domain Solution:</a:t>
                </a:r>
                <a:r>
                  <a:rPr lang="en-US" sz="1400" dirty="0">
                    <a:latin typeface="Times New Roman" panose="02020603050405020304" pitchFamily="18" charset="0"/>
                    <a:cs typeface="Times New Roman" panose="02020603050405020304" pitchFamily="18" charset="0"/>
                  </a:rPr>
                  <a:t> Limited work combines heterogeneous air-quality, weather, and energy datasets within a single framework while systematically comparing models, providing explainable predictions via SHAP, and deriving cross-domain insights for smart-city decision support. </a:t>
                </a:r>
              </a:p>
              <a:p>
                <a:pPr>
                  <a:lnSpc>
                    <a:spcPct val="150000"/>
                  </a:lnSpc>
                </a:pPr>
                <a:endParaRPr lang="en-US" sz="1400" dirty="0">
                  <a:latin typeface="Times New Roman" panose="02020603050405020304" pitchFamily="18" charset="0"/>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B1CD3B9F-EA06-54F5-257C-22450DA68570}"/>
                  </a:ext>
                </a:extLst>
              </p:cNvPr>
              <p:cNvSpPr txBox="1">
                <a:spLocks noRot="1" noChangeAspect="1" noMove="1" noResize="1" noEditPoints="1" noAdjustHandles="1" noChangeArrowheads="1" noChangeShapeType="1" noTextEdit="1"/>
              </p:cNvSpPr>
              <p:nvPr/>
            </p:nvSpPr>
            <p:spPr>
              <a:xfrm>
                <a:off x="530942" y="997974"/>
                <a:ext cx="10805652" cy="5547481"/>
              </a:xfrm>
              <a:prstGeom prst="rect">
                <a:avLst/>
              </a:prstGeom>
              <a:blipFill>
                <a:blip r:embed="rId3"/>
                <a:stretch>
                  <a:fillRect l="-169" r="-395"/>
                </a:stretch>
              </a:blipFill>
            </p:spPr>
            <p:txBody>
              <a:bodyPr/>
              <a:lstStyle/>
              <a:p>
                <a:r>
                  <a:rPr lang="en-US">
                    <a:noFill/>
                  </a:rPr>
                  <a:t> </a:t>
                </a:r>
              </a:p>
            </p:txBody>
          </p:sp>
        </mc:Fallback>
      </mc:AlternateContent>
    </p:spTree>
    <p:extLst>
      <p:ext uri="{BB962C8B-B14F-4D97-AF65-F5344CB8AC3E}">
        <p14:creationId xmlns:p14="http://schemas.microsoft.com/office/powerpoint/2010/main" val="28231676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9D7AF-A0CC-BE4A-F70C-76DCA730120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B08E888-3098-8008-A89E-0D1670B855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658" y="75794"/>
            <a:ext cx="1810438" cy="907431"/>
          </a:xfrm>
          <a:prstGeom prst="rect">
            <a:avLst/>
          </a:prstGeom>
          <a:noFill/>
          <a:ln>
            <a:noFill/>
          </a:ln>
        </p:spPr>
      </p:pic>
      <p:sp>
        <p:nvSpPr>
          <p:cNvPr id="2" name="TextBox 1">
            <a:extLst>
              <a:ext uri="{FF2B5EF4-FFF2-40B4-BE49-F238E27FC236}">
                <a16:creationId xmlns:a16="http://schemas.microsoft.com/office/drawing/2014/main" id="{4672BC97-D012-8962-A008-DBE51C6E7CD5}"/>
              </a:ext>
            </a:extLst>
          </p:cNvPr>
          <p:cNvSpPr txBox="1"/>
          <p:nvPr/>
        </p:nvSpPr>
        <p:spPr>
          <a:xfrm>
            <a:off x="3426542" y="75794"/>
            <a:ext cx="5166852" cy="1384995"/>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Literature-based novelty verification</a:t>
            </a:r>
          </a:p>
          <a:p>
            <a:pPr algn="ctr"/>
            <a:endParaRPr lang="en-US" sz="28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67995FF-B827-4AFF-5D81-11372F425A2B}"/>
              </a:ext>
            </a:extLst>
          </p:cNvPr>
          <p:cNvSpPr txBox="1"/>
          <p:nvPr/>
        </p:nvSpPr>
        <p:spPr>
          <a:xfrm>
            <a:off x="560439" y="983903"/>
            <a:ext cx="11120283" cy="5870646"/>
          </a:xfrm>
          <a:prstGeom prst="rect">
            <a:avLst/>
          </a:prstGeom>
          <a:noFill/>
        </p:spPr>
        <p:txBody>
          <a:bodyPr wrap="square" rtlCol="0">
            <a:spAutoFit/>
          </a:bodyPr>
          <a:lstStyle/>
          <a:p>
            <a:pPr>
              <a:lnSpc>
                <a:spcPct val="150000"/>
              </a:lnSpc>
            </a:pPr>
            <a:r>
              <a:rPr lang="en-US" sz="1400" b="1" dirty="0">
                <a:latin typeface="Times New Roman" panose="02020603050405020304" pitchFamily="18" charset="0"/>
                <a:cs typeface="Times New Roman" panose="02020603050405020304" pitchFamily="18" charset="0"/>
              </a:rPr>
              <a:t>1. Limitation of Existing Single-Domain Studies</a:t>
            </a:r>
          </a:p>
          <a:p>
            <a:pPr lvl="0">
              <a:lnSpc>
                <a:spcPct val="150000"/>
              </a:lnSpc>
            </a:pPr>
            <a:r>
              <a:rPr lang="en-US" sz="1400" b="1" dirty="0">
                <a:latin typeface="Times New Roman" panose="02020603050405020304" pitchFamily="18" charset="0"/>
                <a:cs typeface="Times New Roman" panose="02020603050405020304" pitchFamily="18" charset="0"/>
              </a:rPr>
              <a:t>Isolated Focus:</a:t>
            </a:r>
            <a:r>
              <a:rPr lang="en-US" sz="1400" dirty="0">
                <a:latin typeface="Times New Roman" panose="02020603050405020304" pitchFamily="18" charset="0"/>
                <a:cs typeface="Times New Roman" panose="02020603050405020304" pitchFamily="18" charset="0"/>
              </a:rPr>
              <a:t> Prior research (e.g., Birinci et al., 2026; Mohapatra et al., 2025; Hussien et al., 2025) focuses heavily on siloed prediction tasks, addressing individual smart-city domains such as air quality, weather analysis, or building energy consumption independently. </a:t>
            </a:r>
          </a:p>
          <a:p>
            <a:pPr lvl="0">
              <a:lnSpc>
                <a:spcPct val="150000"/>
              </a:lnSpc>
            </a:pPr>
            <a:r>
              <a:rPr lang="en-US" sz="1400" b="1" dirty="0">
                <a:latin typeface="Times New Roman" panose="02020603050405020304" pitchFamily="18" charset="0"/>
                <a:cs typeface="Times New Roman" panose="02020603050405020304" pitchFamily="18" charset="0"/>
              </a:rPr>
              <a:t>Lack of Integration:</a:t>
            </a:r>
            <a:r>
              <a:rPr lang="en-US" sz="1400" dirty="0">
                <a:latin typeface="Times New Roman" panose="02020603050405020304" pitchFamily="18" charset="0"/>
                <a:cs typeface="Times New Roman" panose="02020603050405020304" pitchFamily="18" charset="0"/>
              </a:rPr>
              <a:t> Existing approaches rarely integrate heterogeneous environmental, meteorological, and energy datasets within a single, unified analytical framework. </a:t>
            </a:r>
          </a:p>
          <a:p>
            <a:pPr>
              <a:lnSpc>
                <a:spcPct val="150000"/>
              </a:lnSpc>
            </a:pPr>
            <a:r>
              <a:rPr lang="en-US" sz="1400" b="1" dirty="0">
                <a:latin typeface="Times New Roman" panose="02020603050405020304" pitchFamily="18" charset="0"/>
                <a:cs typeface="Times New Roman" panose="02020603050405020304" pitchFamily="18" charset="0"/>
              </a:rPr>
              <a:t>2. Gap in Model Selection and Explainability</a:t>
            </a:r>
          </a:p>
          <a:p>
            <a:pPr lvl="0">
              <a:lnSpc>
                <a:spcPct val="150000"/>
              </a:lnSpc>
            </a:pPr>
            <a:r>
              <a:rPr lang="en-US" sz="1400" b="1" dirty="0">
                <a:latin typeface="Times New Roman" panose="02020603050405020304" pitchFamily="18" charset="0"/>
                <a:cs typeface="Times New Roman" panose="02020603050405020304" pitchFamily="18" charset="0"/>
              </a:rPr>
              <a:t>Performance vs. Interpretability Trade-off:</a:t>
            </a:r>
            <a:r>
              <a:rPr lang="en-US" sz="1400" dirty="0">
                <a:latin typeface="Times New Roman" panose="02020603050405020304" pitchFamily="18" charset="0"/>
                <a:cs typeface="Times New Roman" panose="02020603050405020304" pitchFamily="18" charset="0"/>
              </a:rPr>
              <a:t> While advanced ensemble and deep-learning models (e.g., CNN-LSTM, LSTM-XGBoost hybrids) have been proposed to improve predictive performance, they often lack systematic comparative evaluation, out-of-fold stacking safeguards against leakage, and comprehensive multi-domain explainability. </a:t>
            </a:r>
          </a:p>
          <a:p>
            <a:pPr lvl="0">
              <a:lnSpc>
                <a:spcPct val="150000"/>
              </a:lnSpc>
            </a:pPr>
            <a:r>
              <a:rPr lang="en-US" sz="1400" b="1" dirty="0">
                <a:latin typeface="Times New Roman" panose="02020603050405020304" pitchFamily="18" charset="0"/>
                <a:cs typeface="Times New Roman" panose="02020603050405020304" pitchFamily="18" charset="0"/>
              </a:rPr>
              <a:t>Limited Decision Support:</a:t>
            </a:r>
            <a:r>
              <a:rPr lang="en-US" sz="1400" dirty="0">
                <a:latin typeface="Times New Roman" panose="02020603050405020304" pitchFamily="18" charset="0"/>
                <a:cs typeface="Times New Roman" panose="02020603050405020304" pitchFamily="18" charset="0"/>
              </a:rPr>
              <a:t> Many studies emphasize predictive accuracy alone without providing actionable, cross-domain insights or interactive decision-support interfaces for urban planners. </a:t>
            </a:r>
          </a:p>
          <a:p>
            <a:pPr>
              <a:lnSpc>
                <a:spcPct val="150000"/>
              </a:lnSpc>
            </a:pPr>
            <a:r>
              <a:rPr lang="en-US" sz="1400" b="1" dirty="0">
                <a:latin typeface="Times New Roman" panose="02020603050405020304" pitchFamily="18" charset="0"/>
                <a:cs typeface="Times New Roman" panose="02020603050405020304" pitchFamily="18" charset="0"/>
              </a:rPr>
              <a:t>3. Our Novelty &amp; Contributions</a:t>
            </a:r>
          </a:p>
          <a:p>
            <a:pPr lvl="0">
              <a:lnSpc>
                <a:spcPct val="150000"/>
              </a:lnSpc>
            </a:pPr>
            <a:r>
              <a:rPr lang="en-US" sz="1400" b="1" dirty="0">
                <a:latin typeface="Times New Roman" panose="02020603050405020304" pitchFamily="18" charset="0"/>
                <a:cs typeface="Times New Roman" panose="02020603050405020304" pitchFamily="18" charset="0"/>
              </a:rPr>
              <a:t>Unified Multi-Domain Framework:</a:t>
            </a:r>
            <a:r>
              <a:rPr lang="en-US" sz="1400" dirty="0">
                <a:latin typeface="Times New Roman" panose="02020603050405020304" pitchFamily="18" charset="0"/>
                <a:cs typeface="Times New Roman" panose="02020603050405020304" pitchFamily="18" charset="0"/>
              </a:rPr>
              <a:t> Successfully integrates air-quality, weather, and energy-consumption data within a single end-to-end workflow. </a:t>
            </a:r>
          </a:p>
          <a:p>
            <a:pPr lvl="0">
              <a:lnSpc>
                <a:spcPct val="150000"/>
              </a:lnSpc>
            </a:pPr>
            <a:r>
              <a:rPr lang="en-US" sz="1400" b="1" dirty="0">
                <a:latin typeface="Times New Roman" panose="02020603050405020304" pitchFamily="18" charset="0"/>
                <a:cs typeface="Times New Roman" panose="02020603050405020304" pitchFamily="18" charset="0"/>
              </a:rPr>
              <a:t>Robust Hybrid Stacking:</a:t>
            </a:r>
            <a:r>
              <a:rPr lang="en-US" sz="1400" dirty="0">
                <a:latin typeface="Times New Roman" panose="02020603050405020304" pitchFamily="18" charset="0"/>
                <a:cs typeface="Times New Roman" panose="02020603050405020304" pitchFamily="18" charset="0"/>
              </a:rPr>
              <a:t> Introduces the Out-of-Fold Linear–CatBoost–Gradient Boosting Stacking Ensemble (LCG-Stack) with a Linear Regression meta-learner to balance linear and non-linear patterns.</a:t>
            </a:r>
          </a:p>
          <a:p>
            <a:pPr lvl="0">
              <a:lnSpc>
                <a:spcPct val="150000"/>
              </a:lnSpc>
            </a:pPr>
            <a:r>
              <a:rPr lang="en-US" sz="1400" b="1" dirty="0">
                <a:latin typeface="Times New Roman" panose="02020603050405020304" pitchFamily="18" charset="0"/>
                <a:cs typeface="Times New Roman" panose="02020603050405020304" pitchFamily="18" charset="0"/>
              </a:rPr>
              <a:t>Explainable AI &amp; Interactive Dashboard:</a:t>
            </a:r>
            <a:r>
              <a:rPr lang="en-US" sz="1400" dirty="0">
                <a:latin typeface="Times New Roman" panose="02020603050405020304" pitchFamily="18" charset="0"/>
                <a:cs typeface="Times New Roman" panose="02020603050405020304" pitchFamily="18" charset="0"/>
              </a:rPr>
              <a:t> Applies SHAP-based global and instance-level explanations alongside an interactive Streamlit dashboard to bridge the gap between machine-learning outputs and practical smart-city decision intelligence. </a:t>
            </a:r>
          </a:p>
          <a:p>
            <a:pPr>
              <a:lnSpc>
                <a:spcPct val="150000"/>
              </a:lnSpc>
            </a:pP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983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1DED6-5C69-0A0B-9699-1EA162E8DA5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5B79C67-B2B6-B546-B046-6E12CC68E3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658" y="75794"/>
            <a:ext cx="1810438" cy="907431"/>
          </a:xfrm>
          <a:prstGeom prst="rect">
            <a:avLst/>
          </a:prstGeom>
          <a:noFill/>
          <a:ln>
            <a:noFill/>
          </a:ln>
        </p:spPr>
      </p:pic>
      <p:sp>
        <p:nvSpPr>
          <p:cNvPr id="3" name="TextBox 2">
            <a:extLst>
              <a:ext uri="{FF2B5EF4-FFF2-40B4-BE49-F238E27FC236}">
                <a16:creationId xmlns:a16="http://schemas.microsoft.com/office/drawing/2014/main" id="{28FCAE63-7B20-A71E-92A9-2A3ADA5B606F}"/>
              </a:ext>
            </a:extLst>
          </p:cNvPr>
          <p:cNvSpPr txBox="1"/>
          <p:nvPr/>
        </p:nvSpPr>
        <p:spPr>
          <a:xfrm>
            <a:off x="1307690" y="2458064"/>
            <a:ext cx="9399639" cy="1200329"/>
          </a:xfrm>
          <a:prstGeom prst="rect">
            <a:avLst/>
          </a:prstGeom>
          <a:noFill/>
        </p:spPr>
        <p:txBody>
          <a:bodyPr wrap="square" rtlCol="0">
            <a:spAutoFit/>
          </a:bodyPr>
          <a:lstStyle/>
          <a:p>
            <a:pPr algn="ctr"/>
            <a:r>
              <a:rPr lang="en-US" sz="7200"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33747387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161</TotalTime>
  <Words>4141</Words>
  <Application>Microsoft Office PowerPoint</Application>
  <PresentationFormat>Widescreen</PresentationFormat>
  <Paragraphs>402</Paragraphs>
  <Slides>29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Calibri</vt:lpstr>
      <vt:lpstr>Calibri Light</vt:lpstr>
      <vt:lpstr>Cambria Math</vt:lpstr>
      <vt:lpstr>Times New Roman</vt:lpstr>
      <vt:lpstr>Office Theme</vt:lpstr>
      <vt:lpstr>PowerPoint Presentation</vt:lpstr>
      <vt:lpstr>PowerPoint Presentation</vt:lpstr>
      <vt:lpstr>  </vt:lpstr>
      <vt:lpstr>PowerPoint Presentation</vt:lpstr>
      <vt:lpstr>PowerPoint Presentation</vt:lpstr>
      <vt:lpstr>PowerPoint Presentation</vt:lpstr>
      <vt:lpstr>  </vt:lpstr>
      <vt:lpstr>  </vt:lpstr>
      <vt:lpstr>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Vishnu Priya Kodali</dc:creator>
  <cp:lastModifiedBy>Sharmila Pathi</cp:lastModifiedBy>
  <cp:revision>8</cp:revision>
  <dcterms:created xsi:type="dcterms:W3CDTF">2026-08-11T14:53:43Z</dcterms:created>
  <dcterms:modified xsi:type="dcterms:W3CDTF">2026-10-12T06:11:08Z</dcterms:modified>
</cp:coreProperties>
</file>